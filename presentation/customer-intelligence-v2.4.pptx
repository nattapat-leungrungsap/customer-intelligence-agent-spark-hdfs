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854e8515f54515" /><Relationship Type="http://schemas.openxmlformats.org/officeDocument/2006/relationships/extended-properties" Target="/docProps/app.xml" Id="R32cdb9d0d4c94210" /><Relationship Type="http://schemas.openxmlformats.org/officeDocument/2006/relationships/officeDocument" Target="/ppt/presentation.xml" Id="R1e03b41d51484b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0e2fb00402413e"/>
  </p:sldMasterIdLst>
  <p:notesMasterIdLst>
    <p:notesMasterId xmlns:r="http://schemas.openxmlformats.org/officeDocument/2006/relationships" r:id="Rfef5decc6c0043c5"/>
  </p:notesMasterIdLst>
  <p:sldIdLst>
    <p:sldId xmlns:r="http://schemas.openxmlformats.org/officeDocument/2006/relationships" id="256" r:id="Rfac2c881ae16424a"/>
    <p:sldId xmlns:r="http://schemas.openxmlformats.org/officeDocument/2006/relationships" id="257" r:id="R76a108b82af5409f"/>
    <p:sldId xmlns:r="http://schemas.openxmlformats.org/officeDocument/2006/relationships" id="258" r:id="R57cf85e476584f2d"/>
    <p:sldId xmlns:r="http://schemas.openxmlformats.org/officeDocument/2006/relationships" id="259" r:id="R94bf5e48ed814513"/>
    <p:sldId xmlns:r="http://schemas.openxmlformats.org/officeDocument/2006/relationships" id="260" r:id="R48919084039f4c9b"/>
    <p:sldId xmlns:r="http://schemas.openxmlformats.org/officeDocument/2006/relationships" id="261" r:id="R23da9960c8ff4577"/>
    <p:sldId xmlns:r="http://schemas.openxmlformats.org/officeDocument/2006/relationships" id="262" r:id="R52cd923d32554718"/>
    <p:sldId xmlns:r="http://schemas.openxmlformats.org/officeDocument/2006/relationships" id="263" r:id="R67456018617f4678"/>
    <p:sldId xmlns:r="http://schemas.openxmlformats.org/officeDocument/2006/relationships" id="264" r:id="R6e82a90a5d0c4a4b"/>
    <p:sldId xmlns:r="http://schemas.openxmlformats.org/officeDocument/2006/relationships" id="265" r:id="Rc6527e10f4ed45b3"/>
    <p:sldId xmlns:r="http://schemas.openxmlformats.org/officeDocument/2006/relationships" id="266" r:id="R9f995190523d4ec4"/>
    <p:sldId xmlns:r="http://schemas.openxmlformats.org/officeDocument/2006/relationships" id="267" r:id="R35b3f1f18c324cfd"/>
    <p:sldId xmlns:r="http://schemas.openxmlformats.org/officeDocument/2006/relationships" id="268" r:id="Re488f6afe8e84f8f"/>
    <p:sldId xmlns:r="http://schemas.openxmlformats.org/officeDocument/2006/relationships" id="269" r:id="R8889fab380e241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ce0b310f394610" /><Relationship Type="http://schemas.openxmlformats.org/officeDocument/2006/relationships/slideMaster" Target="/ppt/slideMasters/slideMaster1.xml" Id="Rc50e2fb00402413e" /><Relationship Type="http://schemas.openxmlformats.org/officeDocument/2006/relationships/notesMaster" Target="/ppt/notesMasters/notesMaster1.xml" Id="Rfef5decc6c0043c5" /><Relationship Type="http://schemas.openxmlformats.org/officeDocument/2006/relationships/presProps" Target="/ppt/presProps.xml" Id="R33e68c0b28f34b11" /><Relationship Type="http://schemas.openxmlformats.org/officeDocument/2006/relationships/tableStyles" Target="/ppt/tableStyles.xml" Id="Re2694d91a6454fd6" /><Relationship Type="http://schemas.openxmlformats.org/officeDocument/2006/relationships/slide" Target="/ppt/slides/slide1.xml" Id="Rfac2c881ae16424a" /><Relationship Type="http://schemas.openxmlformats.org/officeDocument/2006/relationships/slide" Target="/ppt/slides/slide2.xml" Id="R76a108b82af5409f" /><Relationship Type="http://schemas.openxmlformats.org/officeDocument/2006/relationships/slide" Target="/ppt/slides/slide3.xml" Id="R57cf85e476584f2d" /><Relationship Type="http://schemas.openxmlformats.org/officeDocument/2006/relationships/slide" Target="/ppt/slides/slide4.xml" Id="R94bf5e48ed814513" /><Relationship Type="http://schemas.openxmlformats.org/officeDocument/2006/relationships/slide" Target="/ppt/slides/slide5.xml" Id="R48919084039f4c9b" /><Relationship Type="http://schemas.openxmlformats.org/officeDocument/2006/relationships/slide" Target="/ppt/slides/slide6.xml" Id="R23da9960c8ff4577" /><Relationship Type="http://schemas.openxmlformats.org/officeDocument/2006/relationships/slide" Target="/ppt/slides/slide7.xml" Id="R52cd923d32554718" /><Relationship Type="http://schemas.openxmlformats.org/officeDocument/2006/relationships/slide" Target="/ppt/slides/slide8.xml" Id="R67456018617f4678" /><Relationship Type="http://schemas.openxmlformats.org/officeDocument/2006/relationships/slide" Target="/ppt/slides/slide9.xml" Id="R6e82a90a5d0c4a4b" /><Relationship Type="http://schemas.openxmlformats.org/officeDocument/2006/relationships/slide" Target="/ppt/slides/slide10.xml" Id="Rc6527e10f4ed45b3" /><Relationship Type="http://schemas.openxmlformats.org/officeDocument/2006/relationships/slide" Target="/ppt/slides/slide11.xml" Id="R9f995190523d4ec4" /><Relationship Type="http://schemas.openxmlformats.org/officeDocument/2006/relationships/slide" Target="/ppt/slides/slide12.xml" Id="R35b3f1f18c324cfd" /><Relationship Type="http://schemas.openxmlformats.org/officeDocument/2006/relationships/slide" Target="/ppt/slides/slide13.xml" Id="Re488f6afe8e84f8f" /><Relationship Type="http://schemas.openxmlformats.org/officeDocument/2006/relationships/slide" Target="/ppt/slides/slide14.xml" Id="R8889fab380e241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2970428ff04d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ec3e71820d4d00" /><Relationship Type="http://schemas.openxmlformats.org/officeDocument/2006/relationships/notesMaster" Target="/ppt/notesMasters/notesMaster1.xml" Id="Rbfbd86e49fd348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b28e8c27ca4fa7" /><Relationship Type="http://schemas.openxmlformats.org/officeDocument/2006/relationships/notesMaster" Target="/ppt/notesMasters/notesMaster1.xml" Id="R88869f0e75ae4e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33acd01a5a4fa7" /><Relationship Type="http://schemas.openxmlformats.org/officeDocument/2006/relationships/notesMaster" Target="/ppt/notesMasters/notesMaster1.xml" Id="Rf09e2b934ed644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c113cba9414f93" /><Relationship Type="http://schemas.openxmlformats.org/officeDocument/2006/relationships/notesMaster" Target="/ppt/notesMasters/notesMaster1.xml" Id="R4785c0d2c6f846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891aa6f1c94c57" /><Relationship Type="http://schemas.openxmlformats.org/officeDocument/2006/relationships/notesMaster" Target="/ppt/notesMasters/notesMaster1.xml" Id="R36d3b7539b5241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87629e69b641c9" /><Relationship Type="http://schemas.openxmlformats.org/officeDocument/2006/relationships/notesMaster" Target="/ppt/notesMasters/notesMaster1.xml" Id="Rc300d26ace914c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9667866d654125" /><Relationship Type="http://schemas.openxmlformats.org/officeDocument/2006/relationships/notesMaster" Target="/ppt/notesMasters/notesMaster1.xml" Id="Rb4121af14fc545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8d1596a7674ee2" /><Relationship Type="http://schemas.openxmlformats.org/officeDocument/2006/relationships/notesMaster" Target="/ppt/notesMasters/notesMaster1.xml" Id="Ra3394912d0444a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1f6e1558544114" /><Relationship Type="http://schemas.openxmlformats.org/officeDocument/2006/relationships/notesMaster" Target="/ppt/notesMasters/notesMaster1.xml" Id="R99dd9b4074fe4f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129e0303194df4" /><Relationship Type="http://schemas.openxmlformats.org/officeDocument/2006/relationships/notesMaster" Target="/ppt/notesMasters/notesMaster1.xml" Id="R067b5f8920ad47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5c11e83afd4541" /><Relationship Type="http://schemas.openxmlformats.org/officeDocument/2006/relationships/notesMaster" Target="/ppt/notesMasters/notesMaster1.xml" Id="Rf792f3d1212547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3bd0a38d1a4a63" /><Relationship Type="http://schemas.openxmlformats.org/officeDocument/2006/relationships/notesMaster" Target="/ppt/notesMasters/notesMaster1.xml" Id="R19ceb8d4e45d47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83a2a2810545e7" /><Relationship Type="http://schemas.openxmlformats.org/officeDocument/2006/relationships/notesMaster" Target="/ppt/notesMasters/notesMaster1.xml" Id="Rc93c23aaeafc49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d64b4ea6fb43de" /><Relationship Type="http://schemas.openxmlformats.org/officeDocument/2006/relationships/notesMaster" Target="/ppt/notesMasters/notesMaster1.xml" Id="R84c988ef2cd746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reports/DELIVERY_REPORT.md. Final current results are from the frozen v2.4 candidate.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reports/STATUS.md.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reports/build-c81fa72c3c174a96bf8c03195b9e6f5e.json; https://archive.ics.uci.edu/dataset/502/online+retail+ii.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compose.yaml; compose.web.yaml; jobs/web_app.py; reports/ARCHITECTURE.md.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jobs/agent.py; jobs/result_contracts.py; jobs/query_runtime.py.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jobs/web_app.py; web/; reports/web-first-integration.json.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knowledge/; jobs/retrieval.py.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jobs/agent.py; jobs/result_contracts.py; jobs/sql_guard.py.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jobs/context_budget.py; jobs/verify_iteration.py; https://www.anthropic.com/engineering/effective-context-engineering-for-ai-agents.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jobs/evaluate.py; jobs/rag_metrics.py; evaluation/quality_gates_v2.json; Citation validity is structural across traces; failed answers remain wrong in accuracy. Final v6 has zero failed/error traces..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reports/DELIVERY_REPORT.md; reports/delivery-quality-summary.json; reports/freeze-rag-v2.4.json.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reports/DELIVERY_REPORT.md; reports/iteration-regression-0fce36716fa14affb29463bc3284a808.json; reports/rag-v2.4-regression-v5-968f0bf891c445ae8ee598c68d1a93e0.json; reports/rag-v2.4-holdout-d2b7e5379bbf4781941a21125feb7039.json.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reports/STATUS.md.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scripts/start.ps1; scripts/start-web.ps1; reports/DELIVERY_PLAN.md.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39c95efbc24c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24fbc79ec44c8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48d22801d74a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e9007b7b6c43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a589acf06d475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99ff1ba8e4b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207940-D471-493F-8A94-2A16FA1653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916747-68BE-474F-948F-AB83BE20B5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F70C309-36CB-4BC4-B9E4-838FF132DA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442EEF-11AD-4C5A-916F-D18083F51E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D6E80EF-F051-47D4-8FED-4EB513CE1E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7441840-F08C-4E59-BB98-DC1CD2FB59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1B4EDE-ACC9-4F89-A5E4-997924C4AD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5CECFE7-64B2-4458-AF4E-38BBBB9B0A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E51DB8-39B3-44F4-BB05-68218F8460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87230A-DCB8-4EA7-830A-9851268240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9928f69a2a4dba" /><Relationship Type="http://schemas.openxmlformats.org/officeDocument/2006/relationships/slideLayout" Target="/ppt/slideLayouts/slideLayout1.xml" Id="R90d5551fdd394609" /><Relationship Type="http://schemas.openxmlformats.org/officeDocument/2006/relationships/slideLayout" Target="/ppt/slideLayouts/slideLayout2.xml" Id="R25cc023d2fcc41f8" /><Relationship Type="http://schemas.openxmlformats.org/officeDocument/2006/relationships/slideLayout" Target="/ppt/slideLayouts/slideLayout3.xml" Id="R09e6bfc29dfb46be" /><Relationship Type="http://schemas.openxmlformats.org/officeDocument/2006/relationships/slideLayout" Target="/ppt/slideLayouts/slideLayout4.xml" Id="R2b9afd7682204b81" /><Relationship Type="http://schemas.openxmlformats.org/officeDocument/2006/relationships/slideLayout" Target="/ppt/slideLayouts/slideLayout5.xml" Id="R1a7176e2a199414f" /><Relationship Type="http://schemas.openxmlformats.org/officeDocument/2006/relationships/slideLayout" Target="/ppt/slideLayouts/slideLayout6.xml" Id="Rcd9488dd8fb14f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d5551fdd394609"/>
    <p:sldLayoutId xmlns:r="http://schemas.openxmlformats.org/officeDocument/2006/relationships" id="2147483650" r:id="R25cc023d2fcc41f8"/>
    <p:sldLayoutId xmlns:r="http://schemas.openxmlformats.org/officeDocument/2006/relationships" id="2147483651" r:id="R09e6bfc29dfb46be"/>
    <p:sldLayoutId xmlns:r="http://schemas.openxmlformats.org/officeDocument/2006/relationships" id="2147483652" r:id="R2b9afd7682204b81"/>
    <p:sldLayoutId xmlns:r="http://schemas.openxmlformats.org/officeDocument/2006/relationships" id="2147483653" r:id="R1a7176e2a199414f"/>
    <p:sldLayoutId xmlns:r="http://schemas.openxmlformats.org/officeDocument/2006/relationships" id="2147483654" r:id="Rcd9488dd8fb14f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1646b36d68446d" /><Relationship Type="http://schemas.openxmlformats.org/officeDocument/2006/relationships/notesSlide" Target="/ppt/notesSlides/notesSlide1.xml" Id="R92492763a44e49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ae70b9e35a42c3" /><Relationship Type="http://schemas.openxmlformats.org/officeDocument/2006/relationships/notesSlide" Target="/ppt/notesSlides/notesSlide2.xml" Id="R113bc8184bab4c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f96fd594d547ef" /><Relationship Type="http://schemas.openxmlformats.org/officeDocument/2006/relationships/notesSlide" Target="/ppt/notesSlides/notesSlide3.xml" Id="R720c773d405445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9f2032dddc4b41" /><Relationship Type="http://schemas.openxmlformats.org/officeDocument/2006/relationships/notesSlide" Target="/ppt/notesSlides/notesSlide4.xml" Id="R9d8aa81e488e42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8beefc8a7d462f" /><Relationship Type="http://schemas.openxmlformats.org/officeDocument/2006/relationships/notesSlide" Target="/ppt/notesSlides/notesSlide5.xml" Id="R94faed36355a40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6f7e29eac84d98" /><Relationship Type="http://schemas.openxmlformats.org/officeDocument/2006/relationships/notesSlide" Target="/ppt/notesSlides/notesSlide6.xml" Id="Rc07e07d04fdc4c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f88d3210224a4f" /><Relationship Type="http://schemas.openxmlformats.org/officeDocument/2006/relationships/notesSlide" Target="/ppt/notesSlides/notesSlide7.xml" Id="R5fc00d38ec3e48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d925692c414f0a" /><Relationship Type="http://schemas.openxmlformats.org/officeDocument/2006/relationships/notesSlide" Target="/ppt/notesSlides/notesSlide8.xml" Id="Re80ba79c005144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6404f78d0e4a67" /><Relationship Type="http://schemas.openxmlformats.org/officeDocument/2006/relationships/notesSlide" Target="/ppt/notesSlides/notesSlide9.xml" Id="Recbeb1ff310842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a3e672f02e45c3" /><Relationship Type="http://schemas.openxmlformats.org/officeDocument/2006/relationships/notesSlide" Target="/ppt/notesSlides/notesSlide10.xml" Id="R06757b7d6efe41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07f4eb1c564c5d" /><Relationship Type="http://schemas.openxmlformats.org/officeDocument/2006/relationships/notesSlide" Target="/ppt/notesSlides/notesSlide11.xml" Id="R41245a06509743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c2ff41dc6c47fb" /><Relationship Type="http://schemas.openxmlformats.org/officeDocument/2006/relationships/notesSlide" Target="/ppt/notesSlides/notesSlide12.xml" Id="R2a4d8744944a46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09d59916074d34" /><Relationship Type="http://schemas.openxmlformats.org/officeDocument/2006/relationships/notesSlide" Target="/ppt/notesSlides/notesSlide13.xml" Id="R895b91b5b0f345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e2835da84f470e" /><Relationship Type="http://schemas.openxmlformats.org/officeDocument/2006/relationships/notesSlide" Target="/ppt/notesSlides/notesSlide14.xml" Id="R313b2794092d40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F5CAC-3E46-4D4F-B856-2278BB57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83C34"/>
                </a:solidFill>
              </a:defRPr>
            </a:defPPr>
            <a:lvl1pPr>
              <a:defRPr sz="4200" b="1">
                <a:solidFill>
                  <a:srgbClr val="183C34"/>
                </a:solidFill>
              </a:defRPr>
            </a:lvl1pPr>
            <a:lvl2pPr>
              <a:defRPr sz="4200" b="1">
                <a:solidFill>
                  <a:srgbClr val="183C34"/>
                </a:solidFill>
              </a:defRPr>
            </a:lvl2pPr>
            <a:lvl3pPr>
              <a:defRPr sz="4200" b="1">
                <a:solidFill>
                  <a:srgbClr val="183C34"/>
                </a:solidFill>
              </a:defRPr>
            </a:lvl3pPr>
            <a:lvl4pPr>
              <a:defRPr sz="4200" b="1">
                <a:solidFill>
                  <a:srgbClr val="183C34"/>
                </a:solidFill>
              </a:defRPr>
            </a:lvl4pPr>
            <a:lvl5pPr>
              <a:defRPr sz="4200" b="1">
                <a:solidFill>
                  <a:srgbClr val="183C34"/>
                </a:solidFill>
              </a:defRPr>
            </a:lvl5pPr>
            <a:lvl6pPr>
              <a:defRPr sz="4200" b="1">
                <a:solidFill>
                  <a:srgbClr val="183C34"/>
                </a:solidFill>
              </a:defRPr>
            </a:lvl6pPr>
            <a:lvl7pPr>
              <a:defRPr sz="4200" b="1">
                <a:solidFill>
                  <a:srgbClr val="183C34"/>
                </a:solidFill>
              </a:defRPr>
            </a:lvl7pPr>
            <a:lvl8pPr>
              <a:defRPr sz="4200" b="1">
                <a:solidFill>
                  <a:srgbClr val="183C34"/>
                </a:solidFill>
              </a:defRPr>
            </a:lvl8pPr>
            <a:lvl9pPr>
              <a:defRPr sz="42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83C34"/>
                </a:solidFill>
              </a:defRPr>
            </a:pPr>
            <a:r>
              <a:rPr sz="4200" b="1">
                <a:solidFill>
                  <a:srgbClr val="183C34"/>
                </a:solidFill>
              </a:rPr>
              <a:t>Customer Intelligence Agent</a:t>
            </a:r>
          </a:p>
          <a:p xmlns:a="http://schemas.openxmlformats.org/drawingml/2006/main">
            <a:pPr>
              <a:defRPr sz="4200" b="1">
                <a:solidFill>
                  <a:srgbClr val="183C34"/>
                </a:solidFill>
              </a:defRPr>
            </a:pPr>
            <a:r>
              <a:rPr sz="4200" b="1">
                <a:solidFill>
                  <a:srgbClr val="183C34"/>
                </a:solidFill>
              </a:rPr>
              <a:t>with Spark &amp; HDFS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B80BC-89CB-472D-8A9A-F5190402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42665B"/>
                </a:solidFill>
              </a:defRPr>
            </a:defPPr>
            <a:lvl1pPr>
              <a:defRPr sz="2100" b="0">
                <a:solidFill>
                  <a:srgbClr val="42665B"/>
                </a:solidFill>
              </a:defRPr>
            </a:lvl1pPr>
            <a:lvl2pPr>
              <a:defRPr sz="2100" b="0">
                <a:solidFill>
                  <a:srgbClr val="42665B"/>
                </a:solidFill>
              </a:defRPr>
            </a:lvl2pPr>
            <a:lvl3pPr>
              <a:defRPr sz="2100" b="0">
                <a:solidFill>
                  <a:srgbClr val="42665B"/>
                </a:solidFill>
              </a:defRPr>
            </a:lvl3pPr>
            <a:lvl4pPr>
              <a:defRPr sz="2100" b="0">
                <a:solidFill>
                  <a:srgbClr val="42665B"/>
                </a:solidFill>
              </a:defRPr>
            </a:lvl4pPr>
            <a:lvl5pPr>
              <a:defRPr sz="2100" b="0">
                <a:solidFill>
                  <a:srgbClr val="42665B"/>
                </a:solidFill>
              </a:defRPr>
            </a:lvl5pPr>
            <a:lvl6pPr>
              <a:defRPr sz="2100" b="0">
                <a:solidFill>
                  <a:srgbClr val="42665B"/>
                </a:solidFill>
              </a:defRPr>
            </a:lvl6pPr>
            <a:lvl7pPr>
              <a:defRPr sz="2100" b="0">
                <a:solidFill>
                  <a:srgbClr val="42665B"/>
                </a:solidFill>
              </a:defRPr>
            </a:lvl7pPr>
            <a:lvl8pPr>
              <a:defRPr sz="2100" b="0">
                <a:solidFill>
                  <a:srgbClr val="42665B"/>
                </a:solidFill>
              </a:defRPr>
            </a:lvl8pPr>
            <a:lvl9pPr>
              <a:defRPr sz="2100" b="0">
                <a:solidFill>
                  <a:srgbClr val="42665B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2665B"/>
                </a:solidFill>
              </a:defRPr>
            </a:pPr>
            <a:r>
              <a:rPr sz="2100" b="0">
                <a:solidFill>
                  <a:srgbClr val="42665B"/>
                </a:solidFill>
              </a:rPr>
              <a:t>ถามข้อมูลลูกค้าด้วยภาษาธรรมชาติ</a:t>
            </a:r>
          </a:p>
          <a:p xmlns:a="http://schemas.openxmlformats.org/drawingml/2006/main">
            <a:pPr>
              <a:defRPr sz="2100" b="0">
                <a:solidFill>
                  <a:srgbClr val="42665B"/>
                </a:solidFill>
              </a:defRPr>
            </a:pPr>
            <a:r>
              <a:rPr sz="2100" b="0">
                <a:solidFill>
                  <a:srgbClr val="42665B"/>
                </a:solidFill>
              </a:rPr>
              <a:t>RAG · SQL generation · Guarded Spark execution</a:t>
            </a:r>
          </a:p>
          <a:p xmlns:a="http://schemas.openxmlformats.org/drawingml/2006/main">
            <a:pPr>
              <a:defRPr sz="2100" b="0">
                <a:solidFill>
                  <a:srgbClr val="42665B"/>
                </a:solidFill>
              </a:defRPr>
            </a:pPr>
            <a:r>
              <a:rPr sz="2100" b="0">
                <a:solidFill>
                  <a:srgbClr val="42665B"/>
                </a:solidFill>
              </a:rPr>
              <a:t>26 ตุลาคม 2026 | v2.4</a:t>
            </a:r>
          </a:p>
        </p:txBody>
      </p:sp>
    </p:spTree>
    <p:extLst>
      <p:ext uri="{BB962C8B-B14F-4D97-AF65-F5344CB8AC3E}">
        <p14:creationId xmlns:p14="http://schemas.microsoft.com/office/powerpoint/2010/main" val="14578798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08662-7DD4-45F3-BE10-D63C95C1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โปรเจกต์ทำอะไร และช่วยเรื่องอะไร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48C40-3ACF-4691-94DC-C3FCDDBC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ผู้ใช้ถามยอดขาย คำสั่งซื้อ และกลุ่มลูกค้าเป็นภาษาธรรมชาติ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1DC06-A6AE-4914-B140-996E882B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Agent ค้นนิยามธุรกิจ แล้วสร้าง Spark SQL เพื่ออ่านข้อมูลจริง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52596-D3D3-42C0-BA76-34DC3396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แสดงผลพร้อม SQL และหลักฐาน ให้ผู้ใช้ตรวจสอบต่อได้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A904E-0319-4A3F-95AB-D698E4A6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ยังไม่ได้วัดผลว่าประหยัดเวลาหรือเพิ่มรายได้เท่าไร</a:t>
            </a:r>
          </a:p>
        </p:txBody>
      </p:sp>
    </p:spTree>
    <p:extLst>
      <p:ext uri="{BB962C8B-B14F-4D97-AF65-F5344CB8AC3E}">
        <p14:creationId xmlns:p14="http://schemas.microsoft.com/office/powerpoint/2010/main" val="16958322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E1E92-55DD-41AA-8F83-FF57E4F8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ข้อมูลจริงและตารางวิเคราะห์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C7DFE-C655-41C2-A8ED-325FA7A7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15B"/>
                </a:solidFill>
              </a:defRPr>
            </a:defPPr>
            <a:lvl1pPr>
              <a:defRPr sz="1800" b="1">
                <a:solidFill>
                  <a:srgbClr val="14715B"/>
                </a:solidFill>
              </a:defRPr>
            </a:lvl1pPr>
            <a:lvl2pPr>
              <a:defRPr sz="1800" b="1">
                <a:solidFill>
                  <a:srgbClr val="14715B"/>
                </a:solidFill>
              </a:defRPr>
            </a:lvl2pPr>
            <a:lvl3pPr>
              <a:defRPr sz="1800" b="1">
                <a:solidFill>
                  <a:srgbClr val="14715B"/>
                </a:solidFill>
              </a:defRPr>
            </a:lvl3pPr>
            <a:lvl4pPr>
              <a:defRPr sz="1800" b="1">
                <a:solidFill>
                  <a:srgbClr val="14715B"/>
                </a:solidFill>
              </a:defRPr>
            </a:lvl4pPr>
            <a:lvl5pPr>
              <a:defRPr sz="1800" b="1">
                <a:solidFill>
                  <a:srgbClr val="14715B"/>
                </a:solidFill>
              </a:defRPr>
            </a:lvl5pPr>
            <a:lvl6pPr>
              <a:defRPr sz="1800" b="1">
                <a:solidFill>
                  <a:srgbClr val="14715B"/>
                </a:solidFill>
              </a:defRPr>
            </a:lvl6pPr>
            <a:lvl7pPr>
              <a:defRPr sz="1800" b="1">
                <a:solidFill>
                  <a:srgbClr val="14715B"/>
                </a:solidFill>
              </a:defRPr>
            </a:lvl7pPr>
            <a:lvl8pPr>
              <a:defRPr sz="1800" b="1">
                <a:solidFill>
                  <a:srgbClr val="14715B"/>
                </a:solidFill>
              </a:defRPr>
            </a:lvl8pPr>
            <a:lvl9pPr>
              <a:defRPr sz="1800" b="1">
                <a:solidFill>
                  <a:srgbClr val="14715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715B"/>
                </a:solidFill>
              </a:defRPr>
            </a:pPr>
            <a:r>
              <a:rPr sz="1800" b="1">
                <a:solidFill>
                  <a:srgbClr val="14715B"/>
                </a:solidFill>
              </a:rPr>
              <a:t>ข้อมูล 2009–2011 · Snapshot 2011-12-01 · หน้าต่างลูกค้า 180 วัน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ABB3F-63A1-4253-9C62-908B4FD0F008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4000500"/>
                <a:gridCol w="3067050"/>
              </a:tblGrid>
              <a:tr h="952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ตาราง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ระดับข้อมูล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จำนวนแถว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sales_lines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รายการสินค้าเดิม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1,067,371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orders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หนึ่ง completed-sale invoice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40,077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customer_summary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identified customer / snapshot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3,450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51456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3A584-2CA0-48A8-BEA2-68757A5A38B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53350" y="228600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15B"/>
            </a:solidFill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2402C-D589-4CDC-9B45-64F775D9750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52875" y="228600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15B"/>
            </a:solidFill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9168C-4DC2-46FF-AC73-269BCD8C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Architecture และเทคโนโลยี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20DB9-906B-49B6-AD5D-4835C5C2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3333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DE6"/>
          </a:solidFill>
          <a:ln xmlns:a="http://schemas.openxmlformats.org/drawingml/2006/main" w="9525">
            <a:solidFill>
              <a:srgbClr val="14715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83C34"/>
                </a:solidFill>
              </a:defRPr>
            </a:defPPr>
            <a:lvl1pPr algn="ctr">
              <a:defRPr sz="1875">
                <a:solidFill>
                  <a:srgbClr val="183C34"/>
                </a:solidFill>
              </a:defRPr>
            </a:lvl1pPr>
            <a:lvl2pPr algn="ctr">
              <a:defRPr sz="1875">
                <a:solidFill>
                  <a:srgbClr val="183C34"/>
                </a:solidFill>
              </a:defRPr>
            </a:lvl2pPr>
            <a:lvl3pPr algn="ctr">
              <a:defRPr sz="1875">
                <a:solidFill>
                  <a:srgbClr val="183C34"/>
                </a:solidFill>
              </a:defRPr>
            </a:lvl3pPr>
            <a:lvl4pPr algn="ctr">
              <a:defRPr sz="1875">
                <a:solidFill>
                  <a:srgbClr val="183C34"/>
                </a:solidFill>
              </a:defRPr>
            </a:lvl4pPr>
            <a:lvl5pPr algn="ctr">
              <a:defRPr sz="1875">
                <a:solidFill>
                  <a:srgbClr val="183C34"/>
                </a:solidFill>
              </a:defRPr>
            </a:lvl5pPr>
            <a:lvl6pPr algn="ctr">
              <a:defRPr sz="1875">
                <a:solidFill>
                  <a:srgbClr val="183C34"/>
                </a:solidFill>
              </a:defRPr>
            </a:lvl6pPr>
            <a:lvl7pPr algn="ctr">
              <a:defRPr sz="1875">
                <a:solidFill>
                  <a:srgbClr val="183C34"/>
                </a:solidFill>
              </a:defRPr>
            </a:lvl7pPr>
            <a:lvl8pPr algn="ctr">
              <a:defRPr sz="1875">
                <a:solidFill>
                  <a:srgbClr val="183C34"/>
                </a:solidFill>
              </a:defRPr>
            </a:lvl8pPr>
            <a:lvl9pPr algn="ctr">
              <a:defRPr sz="1875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83C34"/>
                </a:solidFill>
              </a:defRPr>
            </a:pPr>
            <a:r>
              <a:rPr sz="1875">
                <a:solidFill>
                  <a:srgbClr val="183C34"/>
                </a:solidFill>
              </a:rPr>
              <a:t>Web UI</a:t>
            </a:r>
          </a:p>
          <a:p xmlns:a="http://schemas.openxmlformats.org/drawingml/2006/main">
            <a:pPr algn="ctr">
              <a:defRPr sz="1875">
                <a:solidFill>
                  <a:srgbClr val="183C34"/>
                </a:solidFill>
              </a:defRPr>
            </a:pPr>
            <a:r>
              <a:rPr sz="1875">
                <a:solidFill>
                  <a:srgbClr val="183C34"/>
                </a:solidFill>
              </a:rPr>
              <a:t>คำถามและตารางผลลัพธ์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A228A-6BAA-4F16-9BF5-A8DF50C2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66875"/>
            <a:ext cx="3333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DE6"/>
          </a:solidFill>
          <a:ln xmlns:a="http://schemas.openxmlformats.org/drawingml/2006/main" w="9525">
            <a:solidFill>
              <a:srgbClr val="14715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83C34"/>
                </a:solidFill>
              </a:defRPr>
            </a:defPPr>
            <a:lvl1pPr algn="ctr">
              <a:defRPr sz="1875">
                <a:solidFill>
                  <a:srgbClr val="183C34"/>
                </a:solidFill>
              </a:defRPr>
            </a:lvl1pPr>
            <a:lvl2pPr algn="ctr">
              <a:defRPr sz="1875">
                <a:solidFill>
                  <a:srgbClr val="183C34"/>
                </a:solidFill>
              </a:defRPr>
            </a:lvl2pPr>
            <a:lvl3pPr algn="ctr">
              <a:defRPr sz="1875">
                <a:solidFill>
                  <a:srgbClr val="183C34"/>
                </a:solidFill>
              </a:defRPr>
            </a:lvl3pPr>
            <a:lvl4pPr algn="ctr">
              <a:defRPr sz="1875">
                <a:solidFill>
                  <a:srgbClr val="183C34"/>
                </a:solidFill>
              </a:defRPr>
            </a:lvl4pPr>
            <a:lvl5pPr algn="ctr">
              <a:defRPr sz="1875">
                <a:solidFill>
                  <a:srgbClr val="183C34"/>
                </a:solidFill>
              </a:defRPr>
            </a:lvl5pPr>
            <a:lvl6pPr algn="ctr">
              <a:defRPr sz="1875">
                <a:solidFill>
                  <a:srgbClr val="183C34"/>
                </a:solidFill>
              </a:defRPr>
            </a:lvl6pPr>
            <a:lvl7pPr algn="ctr">
              <a:defRPr sz="1875">
                <a:solidFill>
                  <a:srgbClr val="183C34"/>
                </a:solidFill>
              </a:defRPr>
            </a:lvl7pPr>
            <a:lvl8pPr algn="ctr">
              <a:defRPr sz="1875">
                <a:solidFill>
                  <a:srgbClr val="183C34"/>
                </a:solidFill>
              </a:defRPr>
            </a:lvl8pPr>
            <a:lvl9pPr algn="ctr">
              <a:defRPr sz="1875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83C34"/>
                </a:solidFill>
              </a:defRPr>
            </a:pPr>
            <a:r>
              <a:rPr sz="1875">
                <a:solidFill>
                  <a:srgbClr val="183C34"/>
                </a:solidFill>
              </a:rPr>
              <a:t>Python Agent Harness</a:t>
            </a:r>
          </a:p>
          <a:p xmlns:a="http://schemas.openxmlformats.org/drawingml/2006/main">
            <a:pPr algn="ctr">
              <a:defRPr sz="1875">
                <a:solidFill>
                  <a:srgbClr val="183C34"/>
                </a:solidFill>
              </a:defRPr>
            </a:pPr>
            <a:r>
              <a:rPr sz="1875">
                <a:solidFill>
                  <a:srgbClr val="183C34"/>
                </a:solidFill>
              </a:rPr>
              <a:t>RAG · guards · repair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59832-0751-426A-B65D-117D12C9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666875"/>
            <a:ext cx="3333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DE6"/>
          </a:solidFill>
          <a:ln xmlns:a="http://schemas.openxmlformats.org/drawingml/2006/main" w="9525">
            <a:solidFill>
              <a:srgbClr val="14715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83C34"/>
                </a:solidFill>
              </a:defRPr>
            </a:defPPr>
            <a:lvl1pPr algn="ctr">
              <a:defRPr sz="1875">
                <a:solidFill>
                  <a:srgbClr val="183C34"/>
                </a:solidFill>
              </a:defRPr>
            </a:lvl1pPr>
            <a:lvl2pPr algn="ctr">
              <a:defRPr sz="1875">
                <a:solidFill>
                  <a:srgbClr val="183C34"/>
                </a:solidFill>
              </a:defRPr>
            </a:lvl2pPr>
            <a:lvl3pPr algn="ctr">
              <a:defRPr sz="1875">
                <a:solidFill>
                  <a:srgbClr val="183C34"/>
                </a:solidFill>
              </a:defRPr>
            </a:lvl3pPr>
            <a:lvl4pPr algn="ctr">
              <a:defRPr sz="1875">
                <a:solidFill>
                  <a:srgbClr val="183C34"/>
                </a:solidFill>
              </a:defRPr>
            </a:lvl4pPr>
            <a:lvl5pPr algn="ctr">
              <a:defRPr sz="1875">
                <a:solidFill>
                  <a:srgbClr val="183C34"/>
                </a:solidFill>
              </a:defRPr>
            </a:lvl5pPr>
            <a:lvl6pPr algn="ctr">
              <a:defRPr sz="1875">
                <a:solidFill>
                  <a:srgbClr val="183C34"/>
                </a:solidFill>
              </a:defRPr>
            </a:lvl6pPr>
            <a:lvl7pPr algn="ctr">
              <a:defRPr sz="1875">
                <a:solidFill>
                  <a:srgbClr val="183C34"/>
                </a:solidFill>
              </a:defRPr>
            </a:lvl7pPr>
            <a:lvl8pPr algn="ctr">
              <a:defRPr sz="1875">
                <a:solidFill>
                  <a:srgbClr val="183C34"/>
                </a:solidFill>
              </a:defRPr>
            </a:lvl8pPr>
            <a:lvl9pPr algn="ctr">
              <a:defRPr sz="1875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83C34"/>
                </a:solidFill>
              </a:defRPr>
            </a:pPr>
            <a:r>
              <a:rPr sz="1875">
                <a:solidFill>
                  <a:srgbClr val="183C34"/>
                </a:solidFill>
              </a:rPr>
              <a:t>Ollama · Qwen3.5 9B</a:t>
            </a:r>
          </a:p>
          <a:p xmlns:a="http://schemas.openxmlformats.org/drawingml/2006/main">
            <a:pPr algn="ctr">
              <a:defRPr sz="1875">
                <a:solidFill>
                  <a:srgbClr val="183C34"/>
                </a:solidFill>
              </a:defRPr>
            </a:pPr>
            <a:r>
              <a:rPr sz="1875">
                <a:solidFill>
                  <a:srgbClr val="183C34"/>
                </a:solidFill>
              </a:rPr>
              <a:t>สร้าง SQL /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D8E65-4C90-4F3C-81C7-4195CB2F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83C34"/>
                </a:solidFill>
              </a:defRPr>
            </a:defPPr>
            <a:lvl1pPr>
              <a:defRPr sz="2325" b="1">
                <a:solidFill>
                  <a:srgbClr val="183C34"/>
                </a:solidFill>
              </a:defRPr>
            </a:lvl1pPr>
            <a:lvl2pPr>
              <a:defRPr sz="2325" b="1">
                <a:solidFill>
                  <a:srgbClr val="183C34"/>
                </a:solidFill>
              </a:defRPr>
            </a:lvl2pPr>
            <a:lvl3pPr>
              <a:defRPr sz="2325" b="1">
                <a:solidFill>
                  <a:srgbClr val="183C34"/>
                </a:solidFill>
              </a:defRPr>
            </a:lvl3pPr>
            <a:lvl4pPr>
              <a:defRPr sz="2325" b="1">
                <a:solidFill>
                  <a:srgbClr val="183C34"/>
                </a:solidFill>
              </a:defRPr>
            </a:lvl4pPr>
            <a:lvl5pPr>
              <a:defRPr sz="2325" b="1">
                <a:solidFill>
                  <a:srgbClr val="183C34"/>
                </a:solidFill>
              </a:defRPr>
            </a:lvl5pPr>
            <a:lvl6pPr>
              <a:defRPr sz="2325" b="1">
                <a:solidFill>
                  <a:srgbClr val="183C34"/>
                </a:solidFill>
              </a:defRPr>
            </a:lvl6pPr>
            <a:lvl7pPr>
              <a:defRPr sz="2325" b="1">
                <a:solidFill>
                  <a:srgbClr val="183C34"/>
                </a:solidFill>
              </a:defRPr>
            </a:lvl7pPr>
            <a:lvl8pPr>
              <a:defRPr sz="2325" b="1">
                <a:solidFill>
                  <a:srgbClr val="183C34"/>
                </a:solidFill>
              </a:defRPr>
            </a:lvl8pPr>
            <a:lvl9pPr>
              <a:defRPr sz="2325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83C34"/>
                </a:solidFill>
              </a:defRPr>
            </a:pPr>
            <a:r>
              <a:rPr sz="2325" b="1">
                <a:solidFill>
                  <a:srgbClr val="183C34"/>
                </a:solidFill>
              </a:rPr>
              <a:t>Spark 4.1.3  →  Master + Workers 2 ตัว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F3006-23FC-43EB-991F-FDEAFDE1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83C34"/>
                </a:solidFill>
              </a:defRPr>
            </a:defPPr>
            <a:lvl1pPr>
              <a:defRPr sz="2325" b="1">
                <a:solidFill>
                  <a:srgbClr val="183C34"/>
                </a:solidFill>
              </a:defRPr>
            </a:lvl1pPr>
            <a:lvl2pPr>
              <a:defRPr sz="2325" b="1">
                <a:solidFill>
                  <a:srgbClr val="183C34"/>
                </a:solidFill>
              </a:defRPr>
            </a:lvl2pPr>
            <a:lvl3pPr>
              <a:defRPr sz="2325" b="1">
                <a:solidFill>
                  <a:srgbClr val="183C34"/>
                </a:solidFill>
              </a:defRPr>
            </a:lvl3pPr>
            <a:lvl4pPr>
              <a:defRPr sz="2325" b="1">
                <a:solidFill>
                  <a:srgbClr val="183C34"/>
                </a:solidFill>
              </a:defRPr>
            </a:lvl4pPr>
            <a:lvl5pPr>
              <a:defRPr sz="2325" b="1">
                <a:solidFill>
                  <a:srgbClr val="183C34"/>
                </a:solidFill>
              </a:defRPr>
            </a:lvl5pPr>
            <a:lvl6pPr>
              <a:defRPr sz="2325" b="1">
                <a:solidFill>
                  <a:srgbClr val="183C34"/>
                </a:solidFill>
              </a:defRPr>
            </a:lvl6pPr>
            <a:lvl7pPr>
              <a:defRPr sz="2325" b="1">
                <a:solidFill>
                  <a:srgbClr val="183C34"/>
                </a:solidFill>
              </a:defRPr>
            </a:lvl7pPr>
            <a:lvl8pPr>
              <a:defRPr sz="2325" b="1">
                <a:solidFill>
                  <a:srgbClr val="183C34"/>
                </a:solidFill>
              </a:defRPr>
            </a:lvl8pPr>
            <a:lvl9pPr>
              <a:defRPr sz="2325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83C34"/>
                </a:solidFill>
              </a:defRPr>
            </a:pPr>
            <a:r>
              <a:rPr sz="2325" b="1">
                <a:solidFill>
                  <a:srgbClr val="183C34"/>
                </a:solidFill>
              </a:rPr>
              <a:t>HDFS / Hadoop 3.4.1  →  NameNode + DataNodes 2 ตัว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A6EB3-9532-4745-97F8-788B67DA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D63"/>
                </a:solidFill>
              </a:defRPr>
            </a:defPPr>
            <a:lvl1pPr>
              <a:defRPr sz="2025" b="0">
                <a:solidFill>
                  <a:srgbClr val="526D63"/>
                </a:solidFill>
              </a:defRPr>
            </a:lvl1pPr>
            <a:lvl2pPr>
              <a:defRPr sz="2025" b="0">
                <a:solidFill>
                  <a:srgbClr val="526D63"/>
                </a:solidFill>
              </a:defRPr>
            </a:lvl2pPr>
            <a:lvl3pPr>
              <a:defRPr sz="2025" b="0">
                <a:solidFill>
                  <a:srgbClr val="526D63"/>
                </a:solidFill>
              </a:defRPr>
            </a:lvl3pPr>
            <a:lvl4pPr>
              <a:defRPr sz="2025" b="0">
                <a:solidFill>
                  <a:srgbClr val="526D63"/>
                </a:solidFill>
              </a:defRPr>
            </a:lvl4pPr>
            <a:lvl5pPr>
              <a:defRPr sz="2025" b="0">
                <a:solidFill>
                  <a:srgbClr val="526D63"/>
                </a:solidFill>
              </a:defRPr>
            </a:lvl5pPr>
            <a:lvl6pPr>
              <a:defRPr sz="2025" b="0">
                <a:solidFill>
                  <a:srgbClr val="526D63"/>
                </a:solidFill>
              </a:defRPr>
            </a:lvl6pPr>
            <a:lvl7pPr>
              <a:defRPr sz="2025" b="0">
                <a:solidFill>
                  <a:srgbClr val="526D63"/>
                </a:solidFill>
              </a:defRPr>
            </a:lvl7pPr>
            <a:lvl8pPr>
              <a:defRPr sz="2025" b="0">
                <a:solidFill>
                  <a:srgbClr val="526D63"/>
                </a:solidFill>
              </a:defRPr>
            </a:lvl8pPr>
            <a:lvl9pPr>
              <a:defRPr sz="2025" b="0">
                <a:solidFill>
                  <a:srgbClr val="526D63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D63"/>
                </a:solidFill>
              </a:defRPr>
            </a:pPr>
            <a:r>
              <a:rPr sz="2025" b="0">
                <a:solidFill>
                  <a:srgbClr val="526D63"/>
                </a:solidFill>
              </a:rPr>
              <a:t>Docker บนเครื่องเดียว · HDFS replication = 2</a:t>
            </a:r>
          </a:p>
          <a:p xmlns:a="http://schemas.openxmlformats.org/drawingml/2006/main">
            <a:pPr>
              <a:defRPr sz="2025" b="0">
                <a:solidFill>
                  <a:srgbClr val="526D63"/>
                </a:solidFill>
              </a:defRPr>
            </a:pPr>
            <a:r>
              <a:rPr sz="2025" b="0">
                <a:solidFill>
                  <a:srgbClr val="526D63"/>
                </a:solidFill>
              </a:rPr>
              <a:t>Custom Python harness; ไม่ได้ใช้ LangGraph หรือ OPA</a:t>
            </a:r>
          </a:p>
        </p:txBody>
      </p:sp>
    </p:spTree>
    <p:extLst>
      <p:ext uri="{BB962C8B-B14F-4D97-AF65-F5344CB8AC3E}">
        <p14:creationId xmlns:p14="http://schemas.microsoft.com/office/powerpoint/2010/main" val="12493786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9F3F6-AFFD-4B26-8D7C-2F4708BB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Workflow และ Agent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87E0A-06E3-4F3A-8277-F21CC19B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1  คำถาม → RAG → ตรวจข้อมูลและ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92A2F-54BE-4947-AC6E-7C4CB64A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2  สร้าง SQL → citations → AST / population contract →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0E75A-BDF1-4D09-924B-9AD3EC6E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3  Spark รัน SQL → ตรวจผลบางเงื่อนไข → คืนตารางและ 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FC727-4484-4826-A715-7CAF4FA9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4  ถ้าถูกปฏิเสธหรือผิดพลาด → ให้แก้ รวมไม่เกิน 3 รอบ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8788C-AA48-4251-AC7F-6DF1DA56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15B"/>
                </a:solidFill>
              </a:defRPr>
            </a:defPPr>
            <a:lvl1pPr>
              <a:defRPr sz="1800" b="1">
                <a:solidFill>
                  <a:srgbClr val="14715B"/>
                </a:solidFill>
              </a:defRPr>
            </a:lvl1pPr>
            <a:lvl2pPr>
              <a:defRPr sz="1800" b="1">
                <a:solidFill>
                  <a:srgbClr val="14715B"/>
                </a:solidFill>
              </a:defRPr>
            </a:lvl2pPr>
            <a:lvl3pPr>
              <a:defRPr sz="1800" b="1">
                <a:solidFill>
                  <a:srgbClr val="14715B"/>
                </a:solidFill>
              </a:defRPr>
            </a:lvl3pPr>
            <a:lvl4pPr>
              <a:defRPr sz="1800" b="1">
                <a:solidFill>
                  <a:srgbClr val="14715B"/>
                </a:solidFill>
              </a:defRPr>
            </a:lvl4pPr>
            <a:lvl5pPr>
              <a:defRPr sz="1800" b="1">
                <a:solidFill>
                  <a:srgbClr val="14715B"/>
                </a:solidFill>
              </a:defRPr>
            </a:lvl5pPr>
            <a:lvl6pPr>
              <a:defRPr sz="1800" b="1">
                <a:solidFill>
                  <a:srgbClr val="14715B"/>
                </a:solidFill>
              </a:defRPr>
            </a:lvl6pPr>
            <a:lvl7pPr>
              <a:defRPr sz="1800" b="1">
                <a:solidFill>
                  <a:srgbClr val="14715B"/>
                </a:solidFill>
              </a:defRPr>
            </a:lvl7pPr>
            <a:lvl8pPr>
              <a:defRPr sz="1800" b="1">
                <a:solidFill>
                  <a:srgbClr val="14715B"/>
                </a:solidFill>
              </a:defRPr>
            </a:lvl8pPr>
            <a:lvl9pPr>
              <a:defRPr sz="1800" b="1">
                <a:solidFill>
                  <a:srgbClr val="14715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715B"/>
                </a:solidFill>
              </a:defRPr>
            </a:pPr>
            <a:r>
              <a:rPr sz="1800" b="1">
                <a:solidFill>
                  <a:srgbClr val="14715B"/>
                </a:solidFill>
              </a:rPr>
              <a:t>ข้อมูลไม่พอ: ถามกลับ   |   ครบงบแก้: failed   |   RAG ค้นครั้งเดียว</a:t>
            </a:r>
          </a:p>
        </p:txBody>
      </p:sp>
    </p:spTree>
    <p:extLst>
      <p:ext uri="{BB962C8B-B14F-4D97-AF65-F5344CB8AC3E}">
        <p14:creationId xmlns:p14="http://schemas.microsoft.com/office/powerpoint/2010/main" val="3162699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20B62-7279-4C2D-BD21-7CF74B0A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Web application ที่เรียกใช้งานจริง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19B9E-F5BC-428B-9D3C-FAA43F97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เปิด localhost:8090 → ระบุคำถามและช่วงเวลา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4B4BE-8E0C-4AC4-849F-13993AAA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มีสถานะกำลังประมวลผล / ถามกลับ / ผิดพลาด / ตารางผลลัพธ์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47B15-078A-4650-BD4A-848FD332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เปิดดู SQL หลักฐาน การแก้ไข และ trace 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37A92-D7A7-4F87-A468-FF7524A4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ทดสอบจริง: จำนวน invoice ต.ค. 2011 = 2,040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786A0-BA50-4527-959E-D149DE58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15B"/>
                </a:solidFill>
              </a:defRPr>
            </a:defPPr>
            <a:lvl1pPr>
              <a:defRPr sz="1800" b="1">
                <a:solidFill>
                  <a:srgbClr val="14715B"/>
                </a:solidFill>
              </a:defRPr>
            </a:lvl1pPr>
            <a:lvl2pPr>
              <a:defRPr sz="1800" b="1">
                <a:solidFill>
                  <a:srgbClr val="14715B"/>
                </a:solidFill>
              </a:defRPr>
            </a:lvl2pPr>
            <a:lvl3pPr>
              <a:defRPr sz="1800" b="1">
                <a:solidFill>
                  <a:srgbClr val="14715B"/>
                </a:solidFill>
              </a:defRPr>
            </a:lvl3pPr>
            <a:lvl4pPr>
              <a:defRPr sz="1800" b="1">
                <a:solidFill>
                  <a:srgbClr val="14715B"/>
                </a:solidFill>
              </a:defRPr>
            </a:lvl4pPr>
            <a:lvl5pPr>
              <a:defRPr sz="1800" b="1">
                <a:solidFill>
                  <a:srgbClr val="14715B"/>
                </a:solidFill>
              </a:defRPr>
            </a:lvl5pPr>
            <a:lvl6pPr>
              <a:defRPr sz="1800" b="1">
                <a:solidFill>
                  <a:srgbClr val="14715B"/>
                </a:solidFill>
              </a:defRPr>
            </a:lvl6pPr>
            <a:lvl7pPr>
              <a:defRPr sz="1800" b="1">
                <a:solidFill>
                  <a:srgbClr val="14715B"/>
                </a:solidFill>
              </a:defRPr>
            </a:lvl7pPr>
            <a:lvl8pPr>
              <a:defRPr sz="1800" b="1">
                <a:solidFill>
                  <a:srgbClr val="14715B"/>
                </a:solidFill>
              </a:defRPr>
            </a:lvl8pPr>
            <a:lvl9pPr>
              <a:defRPr sz="1800" b="1">
                <a:solidFill>
                  <a:srgbClr val="14715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715B"/>
                </a:solidFill>
              </a:defRPr>
            </a:pPr>
            <a:r>
              <a:rPr sz="1800" b="1">
                <a:solidFill>
                  <a:srgbClr val="14715B"/>
                </a:solidFill>
              </a:rPr>
              <a:t>แต่ละคำถามแยก context · รับทีละคำถาม · เป็น local application</a:t>
            </a:r>
          </a:p>
        </p:txBody>
      </p:sp>
    </p:spTree>
    <p:extLst>
      <p:ext uri="{BB962C8B-B14F-4D97-AF65-F5344CB8AC3E}">
        <p14:creationId xmlns:p14="http://schemas.microsoft.com/office/powerpoint/2010/main" val="4845282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923D2-8D45-4239-B590-961AD912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Harness: Knowledge และความหมายข้อมูล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1CC3B-461C-4360-8366-E1D550A048B0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4000500"/>
                <a:gridCol w="3067050"/>
              </a:tblGrid>
              <a:tr h="952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หัวข้อ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สิ่งที่มี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ข้อจำกัด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Data Dictionary / KM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schema, grain, metric, policy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Corpus ขนาดเล็ก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RAG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BM25 + ไทย/อังกฤษ + dependencies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ต้องวัดกับคำถามเพิ่ม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Ontology / mapping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คำธุรกิจเชื่อม metric/schema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ยังไม่มี formal ontology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0207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00583-4AAD-44E1-B2B6-22A81EDD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Harness: Contracts, Policy และการแก้ไข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548FE-C7AD-4D26-BF0B-E5841468C909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4000500"/>
                <a:gridCol w="3067050"/>
              </a:tblGrid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หัวข้อ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สิ่งที่มี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ข้อจำกัด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Pre-tool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citations, AST, population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ไม่ครอบคลุมทุกความหมาย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Post-tool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NULL ID / fraction / row cap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ไม่ใช่ semantic grading เต็มรูปแบบ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Policy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Python rules + SQL guard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ยังไม่มี OPA / role-based access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Self-correction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แก้ตาม error สูงสุด 3 รอบ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review ใช้โมเดลเดิม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6160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BAD48-F146-4C4D-A607-A3AE56ED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Context engineering และ context rot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FFF8C-49F3-4860-BD58-EFAB39DC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เลือกหลักฐานตามคำถาม พร้อม schema และ policy ที่จำเป็น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14AF3-08F6-4528-9D58-169D74C5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ใช้เฉพาะสถานะแก้ล่าสุด ไม่สะสมประวัติทุก attempt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7CF60-87CA-477C-A862-424915A9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เพิ่มงบ input แบบประมาณ + บันทึก prompt_eval_count จาก Ollama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624F1-2A3C-4F20-86AF-597FD7FA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ทดสอบเบื้องต้น: ข้อความรบกวน 0 / 400 / 1,200 ตัวอักษร + oversize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787BE-F579-4B41-BEB6-1FF9EB52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15B"/>
                </a:solidFill>
              </a:defRPr>
            </a:defPPr>
            <a:lvl1pPr>
              <a:defRPr sz="1800" b="1">
                <a:solidFill>
                  <a:srgbClr val="14715B"/>
                </a:solidFill>
              </a:defRPr>
            </a:lvl1pPr>
            <a:lvl2pPr>
              <a:defRPr sz="1800" b="1">
                <a:solidFill>
                  <a:srgbClr val="14715B"/>
                </a:solidFill>
              </a:defRPr>
            </a:lvl2pPr>
            <a:lvl3pPr>
              <a:defRPr sz="1800" b="1">
                <a:solidFill>
                  <a:srgbClr val="14715B"/>
                </a:solidFill>
              </a:defRPr>
            </a:lvl3pPr>
            <a:lvl4pPr>
              <a:defRPr sz="1800" b="1">
                <a:solidFill>
                  <a:srgbClr val="14715B"/>
                </a:solidFill>
              </a:defRPr>
            </a:lvl4pPr>
            <a:lvl5pPr>
              <a:defRPr sz="1800" b="1">
                <a:solidFill>
                  <a:srgbClr val="14715B"/>
                </a:solidFill>
              </a:defRPr>
            </a:lvl5pPr>
            <a:lvl6pPr>
              <a:defRPr sz="1800" b="1">
                <a:solidFill>
                  <a:srgbClr val="14715B"/>
                </a:solidFill>
              </a:defRPr>
            </a:lvl6pPr>
            <a:lvl7pPr>
              <a:defRPr sz="1800" b="1">
                <a:solidFill>
                  <a:srgbClr val="14715B"/>
                </a:solidFill>
              </a:defRPr>
            </a:lvl7pPr>
            <a:lvl8pPr>
              <a:defRPr sz="1800" b="1">
                <a:solidFill>
                  <a:srgbClr val="14715B"/>
                </a:solidFill>
              </a:defRPr>
            </a:lvl8pPr>
            <a:lvl9pPr>
              <a:defRPr sz="1800" b="1">
                <a:solidFill>
                  <a:srgbClr val="14715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715B"/>
                </a:solidFill>
              </a:defRPr>
            </a:pPr>
            <a:r>
              <a:rPr sz="1800" b="1">
                <a:solidFill>
                  <a:srgbClr val="14715B"/>
                </a:solidFill>
              </a:rPr>
              <a:t>มีการจัดการ context แต่ยังพิสูจน์ไม่ได้ว่าแก้ context rot ทั่วไป</a:t>
            </a:r>
          </a:p>
        </p:txBody>
      </p:sp>
    </p:spTree>
    <p:extLst>
      <p:ext uri="{BB962C8B-B14F-4D97-AF65-F5344CB8AC3E}">
        <p14:creationId xmlns:p14="http://schemas.microsoft.com/office/powerpoint/2010/main" val="21058024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070C8-0E36-4B4A-B861-AEB7CA8C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การวัดผล: วัดอะไรและทำไม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1A363-7A19-444B-AE08-A1E625C7CDF9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4000500"/>
                <a:gridCol w="3067050"/>
              </a:tblGrid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มิติ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ตัววัด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จุดประสงค์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Retrieval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Recall@6, MRR@6, nDCG@6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หลักฐานครบ / ลำดับดี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คำตอบ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Spark rows เทียบ gold SQL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ผลลัพธ์ถูกต้อง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Grounding / policy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citations / clarification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ID จริง / ถามกลับถูก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ประสิทธิภาพ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p95 / calls / tokens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ต้นทุนและเวลารอ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3958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4A6F1-E917-4976-ACC5-758B4A9C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ผล frozen v2.4: ผ่านเกณฑ์บนชุดใหม่ 20 ข้อ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04D4A-F0F4-49EB-9AA7-8E563711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15B"/>
                </a:solidFill>
              </a:defRPr>
            </a:defPPr>
            <a:lvl1pPr>
              <a:defRPr sz="1800" b="1">
                <a:solidFill>
                  <a:srgbClr val="14715B"/>
                </a:solidFill>
              </a:defRPr>
            </a:lvl1pPr>
            <a:lvl2pPr>
              <a:defRPr sz="1800" b="1">
                <a:solidFill>
                  <a:srgbClr val="14715B"/>
                </a:solidFill>
              </a:defRPr>
            </a:lvl2pPr>
            <a:lvl3pPr>
              <a:defRPr sz="1800" b="1">
                <a:solidFill>
                  <a:srgbClr val="14715B"/>
                </a:solidFill>
              </a:defRPr>
            </a:lvl3pPr>
            <a:lvl4pPr>
              <a:defRPr sz="1800" b="1">
                <a:solidFill>
                  <a:srgbClr val="14715B"/>
                </a:solidFill>
              </a:defRPr>
            </a:lvl4pPr>
            <a:lvl5pPr>
              <a:defRPr sz="1800" b="1">
                <a:solidFill>
                  <a:srgbClr val="14715B"/>
                </a:solidFill>
              </a:defRPr>
            </a:lvl5pPr>
            <a:lvl6pPr>
              <a:defRPr sz="1800" b="1">
                <a:solidFill>
                  <a:srgbClr val="14715B"/>
                </a:solidFill>
              </a:defRPr>
            </a:lvl6pPr>
            <a:lvl7pPr>
              <a:defRPr sz="1800" b="1">
                <a:solidFill>
                  <a:srgbClr val="14715B"/>
                </a:solidFill>
              </a:defRPr>
            </a:lvl7pPr>
            <a:lvl8pPr>
              <a:defRPr sz="1800" b="1">
                <a:solidFill>
                  <a:srgbClr val="14715B"/>
                </a:solidFill>
              </a:defRPr>
            </a:lvl8pPr>
            <a:lvl9pPr>
              <a:defRPr sz="1800" b="1">
                <a:solidFill>
                  <a:srgbClr val="14715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715B"/>
                </a:solidFill>
              </a:defRPr>
            </a:pPr>
            <a:r>
              <a:rPr sz="1800" b="1">
                <a:solidFill>
                  <a:srgbClr val="14715B"/>
                </a:solidFill>
              </a:rPr>
              <a:t>17 SQL + 3 clarification · ชุดเล็กที่ผู้พัฒนาสร้างในกลุ่มงานที่รองรับ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2F731-CAB7-45EB-AEE7-4454BFDA7D05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4000500"/>
                <a:gridCol w="3067050"/>
              </a:tblGrid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ตัววัด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ผลจริง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เกณฑ์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Recall / MRR / nDCG @6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100% / 0.892 / 0.893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95% / 0.85 / 0.80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ผล SQL และ clarification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20 / 20 ถูก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≥90%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Clarification / citation validity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100% / 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100% / 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p95 retrieval / warm query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16.69 ms / 5.43 s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≤50 ms / ≤20 s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5128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CB4AE-F81B-4D91-9296-8FCFEA05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ผลทดสอบ และรอบที่ไม่ผ่าน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1D026-872B-40F4-B949-005AF150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15B"/>
                </a:solidFill>
              </a:defRPr>
            </a:defPPr>
            <a:lvl1pPr>
              <a:defRPr sz="1800" b="1">
                <a:solidFill>
                  <a:srgbClr val="14715B"/>
                </a:solidFill>
              </a:defRPr>
            </a:lvl1pPr>
            <a:lvl2pPr>
              <a:defRPr sz="1800" b="1">
                <a:solidFill>
                  <a:srgbClr val="14715B"/>
                </a:solidFill>
              </a:defRPr>
            </a:lvl2pPr>
            <a:lvl3pPr>
              <a:defRPr sz="1800" b="1">
                <a:solidFill>
                  <a:srgbClr val="14715B"/>
                </a:solidFill>
              </a:defRPr>
            </a:lvl3pPr>
            <a:lvl4pPr>
              <a:defRPr sz="1800" b="1">
                <a:solidFill>
                  <a:srgbClr val="14715B"/>
                </a:solidFill>
              </a:defRPr>
            </a:lvl4pPr>
            <a:lvl5pPr>
              <a:defRPr sz="1800" b="1">
                <a:solidFill>
                  <a:srgbClr val="14715B"/>
                </a:solidFill>
              </a:defRPr>
            </a:lvl5pPr>
            <a:lvl6pPr>
              <a:defRPr sz="1800" b="1">
                <a:solidFill>
                  <a:srgbClr val="14715B"/>
                </a:solidFill>
              </a:defRPr>
            </a:lvl6pPr>
            <a:lvl7pPr>
              <a:defRPr sz="1800" b="1">
                <a:solidFill>
                  <a:srgbClr val="14715B"/>
                </a:solidFill>
              </a:defRPr>
            </a:lvl7pPr>
            <a:lvl8pPr>
              <a:defRPr sz="1800" b="1">
                <a:solidFill>
                  <a:srgbClr val="14715B"/>
                </a:solidFill>
              </a:defRPr>
            </a:lvl8pPr>
            <a:lvl9pPr>
              <a:defRPr sz="1800" b="1">
                <a:solidFill>
                  <a:srgbClr val="14715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715B"/>
                </a:solidFill>
              </a:defRPr>
            </a:pPr>
            <a:r>
              <a:rPr sz="1800" b="1">
                <a:solidFill>
                  <a:srgbClr val="14715B"/>
                </a:solidFill>
              </a:rPr>
              <a:t>ไม่ลดเกณฑ์ · รอบก่อนเผย retrieval และ reviewer failures ที่นำมาแก้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17F47-C178-4052-B24A-84206663637D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4000500"/>
                <a:gridCol w="3067050"/>
              </a:tblGrid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ชุดทดสอบที่รันจริง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ผล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การตีความ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Unit tests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25 ผ่าน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HTTP + guards + contracts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Exposed regression v5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20 / 20 ถูก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ใช้พัฒนา ไม่ใช่ชุดใหม่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Fresh combinations v6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20 / 20 ถูก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freeze ก่อนรัน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ก่อนแก้: v4 และ v5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18 / 20 แต่ละชุด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ไม่ผ่านทุก gate; เก็บผลไว้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6925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700BE-953F-4305-8D62-D94403FF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ข้อจำกัดและงานที่ยังต้องวัด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504F8-9320-4703-94BB-3C41829F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รันสำเร็จและ citation ถูก ไม่รับประกันความหมายถูกทุกครั้ง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FF608-B868-47C6-9312-09D06F2A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Context budget เป็น heuristic; ยังไม่มี exact tokenizer preflight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2F5F4-CA04-4FB2-A1A0-CA90BD1B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Corpus / benchmark เล็กและผู้พัฒนาสร้างเอง ต้องมี fresh cases เพิ่ม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D55D0-8659-4C3B-9748-34F03755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เครื่องเดียว ไม่มี authentication; cancellation เป็น best effort</a:t>
            </a:r>
          </a:p>
        </p:txBody>
      </p:sp>
    </p:spTree>
    <p:extLst>
      <p:ext uri="{BB962C8B-B14F-4D97-AF65-F5344CB8AC3E}">
        <p14:creationId xmlns:p14="http://schemas.microsoft.com/office/powerpoint/2010/main" val="20478613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30E5C-ACC7-47E9-A692-20CB62E1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การส่งมอบและการรันซ้ำ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9BE6B-B731-4BDD-B3FF-A73E6626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Source + Docker setup + data acquisition + evaluation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3D209-291A-41EF-B56F-9D43CAF0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เริ่ม cluster → build data → เปิด web UI → ถามและตรวจ trace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F2C12-7D90-4E36-BC22-93AEF49C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GitHub: customer-intelligence-agent-spark-hdfs (Public ที่ร้องขอ)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205E6-F702-453C-8D15-FDE6D50E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ก่อนส่ง: fresh evaluation, clean checkout, ตรวจสไลด์และซ้อม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E2DD7-BE7B-4660-B0FF-8D016F17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15B"/>
                </a:solidFill>
              </a:defRPr>
            </a:defPPr>
            <a:lvl1pPr>
              <a:defRPr sz="1800" b="1">
                <a:solidFill>
                  <a:srgbClr val="14715B"/>
                </a:solidFill>
              </a:defRPr>
            </a:lvl1pPr>
            <a:lvl2pPr>
              <a:defRPr sz="1800" b="1">
                <a:solidFill>
                  <a:srgbClr val="14715B"/>
                </a:solidFill>
              </a:defRPr>
            </a:lvl2pPr>
            <a:lvl3pPr>
              <a:defRPr sz="1800" b="1">
                <a:solidFill>
                  <a:srgbClr val="14715B"/>
                </a:solidFill>
              </a:defRPr>
            </a:lvl3pPr>
            <a:lvl4pPr>
              <a:defRPr sz="1800" b="1">
                <a:solidFill>
                  <a:srgbClr val="14715B"/>
                </a:solidFill>
              </a:defRPr>
            </a:lvl4pPr>
            <a:lvl5pPr>
              <a:defRPr sz="1800" b="1">
                <a:solidFill>
                  <a:srgbClr val="14715B"/>
                </a:solidFill>
              </a:defRPr>
            </a:lvl5pPr>
            <a:lvl6pPr>
              <a:defRPr sz="1800" b="1">
                <a:solidFill>
                  <a:srgbClr val="14715B"/>
                </a:solidFill>
              </a:defRPr>
            </a:lvl6pPr>
            <a:lvl7pPr>
              <a:defRPr sz="1800" b="1">
                <a:solidFill>
                  <a:srgbClr val="14715B"/>
                </a:solidFill>
              </a:defRPr>
            </a:lvl7pPr>
            <a:lvl8pPr>
              <a:defRPr sz="1800" b="1">
                <a:solidFill>
                  <a:srgbClr val="14715B"/>
                </a:solidFill>
              </a:defRPr>
            </a:lvl8pPr>
            <a:lvl9pPr>
              <a:defRPr sz="1800" b="1">
                <a:solidFill>
                  <a:srgbClr val="14715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715B"/>
                </a:solidFill>
              </a:defRPr>
            </a:pPr>
            <a:r>
              <a:rPr sz="1800" b="1">
                <a:solidFill>
                  <a:srgbClr val="14715B"/>
                </a:solidFill>
              </a:rPr>
              <a:t>กำหนดส่ง 9 พฤศจิกายน 2026 · GitHub ยังรอลงชื่อเข้าใช้</a:t>
            </a:r>
          </a:p>
        </p:txBody>
      </p:sp>
    </p:spTree>
    <p:extLst>
      <p:ext uri="{BB962C8B-B14F-4D97-AF65-F5344CB8AC3E}">
        <p14:creationId xmlns:p14="http://schemas.microsoft.com/office/powerpoint/2010/main" val="9044409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2026-10-26T07:07:37.1280000Z</dcterms:created>
  <dcterms:modified xsi:type="dcterms:W3CDTF">2026-10-26T07:07:37.1280000Z</dcterms:modified>
</coreProperties>
</file>