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57b08581684d5b" /><Relationship Type="http://schemas.openxmlformats.org/officeDocument/2006/relationships/extended-properties" Target="/docProps/app.xml" Id="Re8d4ddd82f734298" /><Relationship Type="http://schemas.openxmlformats.org/officeDocument/2006/relationships/officeDocument" Target="/ppt/presentation.xml" Id="Rd2ab3edea48d49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04b25e81ef4cd3"/>
  </p:sldMasterIdLst>
  <p:notesMasterIdLst>
    <p:notesMasterId xmlns:r="http://schemas.openxmlformats.org/officeDocument/2006/relationships" r:id="Rdaf4af6bae9c4c94"/>
  </p:notesMasterIdLst>
  <p:sldIdLst>
    <p:sldId xmlns:r="http://schemas.openxmlformats.org/officeDocument/2006/relationships" id="256" r:id="Rb3e272e562014983"/>
    <p:sldId xmlns:r="http://schemas.openxmlformats.org/officeDocument/2006/relationships" id="257" r:id="R459950385c9840e5"/>
    <p:sldId xmlns:r="http://schemas.openxmlformats.org/officeDocument/2006/relationships" id="258" r:id="Rcb7ebca02150495f"/>
    <p:sldId xmlns:r="http://schemas.openxmlformats.org/officeDocument/2006/relationships" id="259" r:id="Re73fdc74c08c4b74"/>
    <p:sldId xmlns:r="http://schemas.openxmlformats.org/officeDocument/2006/relationships" id="260" r:id="R4d3ca8f511954449"/>
    <p:sldId xmlns:r="http://schemas.openxmlformats.org/officeDocument/2006/relationships" id="261" r:id="R956bcc8e74e54750"/>
    <p:sldId xmlns:r="http://schemas.openxmlformats.org/officeDocument/2006/relationships" id="262" r:id="R135136d3fc734fc9"/>
    <p:sldId xmlns:r="http://schemas.openxmlformats.org/officeDocument/2006/relationships" id="263" r:id="R86d44e22d3ec491c"/>
    <p:sldId xmlns:r="http://schemas.openxmlformats.org/officeDocument/2006/relationships" id="264" r:id="R3b3c50e36d614580"/>
    <p:sldId xmlns:r="http://schemas.openxmlformats.org/officeDocument/2006/relationships" id="265" r:id="Rb902be5f027e49bd"/>
    <p:sldId xmlns:r="http://schemas.openxmlformats.org/officeDocument/2006/relationships" id="266" r:id="R86eb2caae9eb4139"/>
    <p:sldId xmlns:r="http://schemas.openxmlformats.org/officeDocument/2006/relationships" id="267" r:id="R221827bc39f64770"/>
    <p:sldId xmlns:r="http://schemas.openxmlformats.org/officeDocument/2006/relationships" id="268" r:id="Rcdcf8611417247db"/>
    <p:sldId xmlns:r="http://schemas.openxmlformats.org/officeDocument/2006/relationships" id="269" r:id="Re2557aae4fc44a5d"/>
    <p:sldId xmlns:r="http://schemas.openxmlformats.org/officeDocument/2006/relationships" id="270" r:id="R469b141d304649f0"/>
    <p:sldId xmlns:r="http://schemas.openxmlformats.org/officeDocument/2006/relationships" id="271" r:id="R09eb1683ea6942ee"/>
    <p:sldId xmlns:r="http://schemas.openxmlformats.org/officeDocument/2006/relationships" id="272" r:id="R42296feceea24668"/>
    <p:sldId xmlns:r="http://schemas.openxmlformats.org/officeDocument/2006/relationships" id="273" r:id="Rbbf302f0d02b4bf0"/>
    <p:sldId xmlns:r="http://schemas.openxmlformats.org/officeDocument/2006/relationships" id="274" r:id="R6816ed3928f747d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ef61cfa2b34b57" /><Relationship Type="http://schemas.openxmlformats.org/officeDocument/2006/relationships/slideMaster" Target="/ppt/slideMasters/slideMaster1.xml" Id="R7d04b25e81ef4cd3" /><Relationship Type="http://schemas.openxmlformats.org/officeDocument/2006/relationships/notesMaster" Target="/ppt/notesMasters/notesMaster1.xml" Id="Rdaf4af6bae9c4c94" /><Relationship Type="http://schemas.openxmlformats.org/officeDocument/2006/relationships/presProps" Target="/ppt/presProps.xml" Id="R361331c1de4b4999" /><Relationship Type="http://schemas.openxmlformats.org/officeDocument/2006/relationships/tableStyles" Target="/ppt/tableStyles.xml" Id="Rbe528d752a374bbe" /><Relationship Type="http://schemas.openxmlformats.org/officeDocument/2006/relationships/slide" Target="/ppt/slides/slide1.xml" Id="Rb3e272e562014983" /><Relationship Type="http://schemas.openxmlformats.org/officeDocument/2006/relationships/slide" Target="/ppt/slides/slide2.xml" Id="R459950385c9840e5" /><Relationship Type="http://schemas.openxmlformats.org/officeDocument/2006/relationships/slide" Target="/ppt/slides/slide3.xml" Id="Rcb7ebca02150495f" /><Relationship Type="http://schemas.openxmlformats.org/officeDocument/2006/relationships/slide" Target="/ppt/slides/slide4.xml" Id="Re73fdc74c08c4b74" /><Relationship Type="http://schemas.openxmlformats.org/officeDocument/2006/relationships/slide" Target="/ppt/slides/slide5.xml" Id="R4d3ca8f511954449" /><Relationship Type="http://schemas.openxmlformats.org/officeDocument/2006/relationships/slide" Target="/ppt/slides/slide6.xml" Id="R956bcc8e74e54750" /><Relationship Type="http://schemas.openxmlformats.org/officeDocument/2006/relationships/slide" Target="/ppt/slides/slide7.xml" Id="R135136d3fc734fc9" /><Relationship Type="http://schemas.openxmlformats.org/officeDocument/2006/relationships/slide" Target="/ppt/slides/slide8.xml" Id="R86d44e22d3ec491c" /><Relationship Type="http://schemas.openxmlformats.org/officeDocument/2006/relationships/slide" Target="/ppt/slides/slide9.xml" Id="R3b3c50e36d614580" /><Relationship Type="http://schemas.openxmlformats.org/officeDocument/2006/relationships/slide" Target="/ppt/slides/slide10.xml" Id="Rb902be5f027e49bd" /><Relationship Type="http://schemas.openxmlformats.org/officeDocument/2006/relationships/slide" Target="/ppt/slides/slide11.xml" Id="R86eb2caae9eb4139" /><Relationship Type="http://schemas.openxmlformats.org/officeDocument/2006/relationships/slide" Target="/ppt/slides/slide12.xml" Id="R221827bc39f64770" /><Relationship Type="http://schemas.openxmlformats.org/officeDocument/2006/relationships/slide" Target="/ppt/slides/slide13.xml" Id="Rcdcf8611417247db" /><Relationship Type="http://schemas.openxmlformats.org/officeDocument/2006/relationships/slide" Target="/ppt/slides/slide14.xml" Id="Re2557aae4fc44a5d" /><Relationship Type="http://schemas.openxmlformats.org/officeDocument/2006/relationships/slide" Target="/ppt/slides/slide15.xml" Id="R469b141d304649f0" /><Relationship Type="http://schemas.openxmlformats.org/officeDocument/2006/relationships/slide" Target="/ppt/slides/slide16.xml" Id="R09eb1683ea6942ee" /><Relationship Type="http://schemas.openxmlformats.org/officeDocument/2006/relationships/slide" Target="/ppt/slides/slide17.xml" Id="R42296feceea24668" /><Relationship Type="http://schemas.openxmlformats.org/officeDocument/2006/relationships/slide" Target="/ppt/slides/slide18.xml" Id="Rbbf302f0d02b4bf0" /><Relationship Type="http://schemas.openxmlformats.org/officeDocument/2006/relationships/slide" Target="/ppt/slides/slide19.xml" Id="R6816ed3928f747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8cd3aa419c4f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8d5792014b4aeb" /><Relationship Type="http://schemas.openxmlformats.org/officeDocument/2006/relationships/notesMaster" Target="/ppt/notesMasters/notesMaster1.xml" Id="Rbbbe6c9f39d14d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91ed5629e24cd0" /><Relationship Type="http://schemas.openxmlformats.org/officeDocument/2006/relationships/notesMaster" Target="/ppt/notesMasters/notesMaster1.xml" Id="Rae325b91dc2444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b9e519665341ed" /><Relationship Type="http://schemas.openxmlformats.org/officeDocument/2006/relationships/notesMaster" Target="/ppt/notesMasters/notesMaster1.xml" Id="R6a1ed4f0fe0649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d898c57b514b54" /><Relationship Type="http://schemas.openxmlformats.org/officeDocument/2006/relationships/notesMaster" Target="/ppt/notesMasters/notesMaster1.xml" Id="R9672b0df9dfe49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6a1049181d4aeb" /><Relationship Type="http://schemas.openxmlformats.org/officeDocument/2006/relationships/notesMaster" Target="/ppt/notesMasters/notesMaster1.xml" Id="R2315dc45277741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8f2712f7834dff" /><Relationship Type="http://schemas.openxmlformats.org/officeDocument/2006/relationships/notesMaster" Target="/ppt/notesMasters/notesMaster1.xml" Id="Re62f234819b248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197da47ab7f4a5a" /><Relationship Type="http://schemas.openxmlformats.org/officeDocument/2006/relationships/notesMaster" Target="/ppt/notesMasters/notesMaster1.xml" Id="R807dae4b9dc04e9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8e84ca8d1f34285" /><Relationship Type="http://schemas.openxmlformats.org/officeDocument/2006/relationships/notesMaster" Target="/ppt/notesMasters/notesMaster1.xml" Id="R3756969eca3d47e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d47187ca5c645e4" /><Relationship Type="http://schemas.openxmlformats.org/officeDocument/2006/relationships/notesMaster" Target="/ppt/notesMasters/notesMaster1.xml" Id="R5181debad38c4a5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ce1ff4ca2b34570" /><Relationship Type="http://schemas.openxmlformats.org/officeDocument/2006/relationships/notesMaster" Target="/ppt/notesMasters/notesMaster1.xml" Id="Rce793f31e4514d7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b1407dd5c76481f" /><Relationship Type="http://schemas.openxmlformats.org/officeDocument/2006/relationships/notesMaster" Target="/ppt/notesMasters/notesMaster1.xml" Id="Re35bd2bf0a864cf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27f2cd9d20e4e53" /><Relationship Type="http://schemas.openxmlformats.org/officeDocument/2006/relationships/notesMaster" Target="/ppt/notesMasters/notesMaster1.xml" Id="Race8ce3ada1b457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bc36d230ab64048" /><Relationship Type="http://schemas.openxmlformats.org/officeDocument/2006/relationships/notesMaster" Target="/ppt/notesMasters/notesMaster1.xml" Id="R57c002ce3c28455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a1b829032544edb" /><Relationship Type="http://schemas.openxmlformats.org/officeDocument/2006/relationships/notesMaster" Target="/ppt/notesMasters/notesMaster1.xml" Id="R0b871c6f6987470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09e5b52e9d44c05" /><Relationship Type="http://schemas.openxmlformats.org/officeDocument/2006/relationships/notesMaster" Target="/ppt/notesMasters/notesMaster1.xml" Id="R954b969efc1945e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8404411069c4563" /><Relationship Type="http://schemas.openxmlformats.org/officeDocument/2006/relationships/notesMaster" Target="/ppt/notesMasters/notesMaster1.xml" Id="Rda7a97aba543448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6be66a2f82648da" /><Relationship Type="http://schemas.openxmlformats.org/officeDocument/2006/relationships/notesMaster" Target="/ppt/notesMasters/notesMaster1.xml" Id="R3c7657d369d74bb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d55e37574fd48d0" /><Relationship Type="http://schemas.openxmlformats.org/officeDocument/2006/relationships/notesMaster" Target="/ppt/notesMasters/notesMaster1.xml" Id="R4b385dfea73d4d3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20858630bf14f7b" /><Relationship Type="http://schemas.openxmlformats.org/officeDocument/2006/relationships/notesMaster" Target="/ppt/notesMasters/notesMaster1.xml" Id="Rf6992c26801b4e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Project-specific editable diagrams. Sources: README.md; reports/DELIVERY_REPORT.md; reports/CONTEXT_REPORT.md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Project-specific editable diagrams. Sources: README.md; reports/DELIVERY_REPORT.md; reports/CONTEXT_REPORT.md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Project-specific editable diagrams. Sources: README.md; reports/DELIVERY_REPORT.md; reports/CONTEXT_REPORT.md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Project-specific editable diagrams. Sources: README.md; reports/DELIVERY_REPORT.md; reports/CONTEXT_REPORT.md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Project-specific editable diagrams. Sources: README.md; reports/DELIVERY_REPORT.md; reports/CONTEXT_REPORT.md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Project-specific editable diagrams. Sources: README.md; reports/DELIVERY_REPORT.md; reports/CONTEXT_REPORT.md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Project-specific editable diagrams. Sources: README.md; reports/DELIVERY_REPORT.md; reports/CONTEXT_REPORT.md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ontology/customer-intelligence.ttl; ontology/shapes.ttl; policies/analytics.rego; jobs/semantic_contracts.py; jobs/result_contracts.py; jobs/evaluate_acceptance.py; reports/GOVERNANCE_REPORT.md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Project-specific editable diagrams. Sources: README.md; reports/DELIVERY_REPORT.md; reports/CONTEXT_REPORT.md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ontology/customer-intelligence.ttl; ontology/shapes.ttl; policies/analytics.rego; jobs/semantic_contracts.py; jobs/result_contracts.py; jobs/evaluate_acceptance.py; reports/GOVERNANCE_REPORT.md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Project-specific editable diagrams. Sources: README.md; reports/DELIVERY_REPORT.md; reports/CONTEXT_REPORT.md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reports/governance-web-verification.json. Actual current HTTP + ontology + OPA pre/post + Qwen + Spark/HDFS verification passed. This slide is an editable workflow diagram, not a screenshot.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ontology/customer-intelligence.ttl; ontology/shapes.ttl; policies/analytics.rego; jobs/semantic_contracts.py; jobs/result_contracts.py; jobs/evaluate_acceptance.py; reports/GOVERNANCE_REPORT.md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reports/GOVERNANCE_REPORT.md; reports/acceptance-376b19a376714e218c6197ab5c9b27c4.json; reports/governance-unit-tests.txt; reports/governance-opa-integration.txt. Developer-authored combinations, not an external benchmark. All context conditions use RAG. Timing excludes Spark startup; gold queries execute before candidates.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ontology/customer-intelligence.ttl; ontology/shapes.ttl; policies/analytics.rego; jobs/semantic_contracts.py; jobs/result_contracts.py; jobs/evaluate_acceptance.py; reports/GOVERNANCE_REPORT.md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reports/GOVERNANCE_REPORT.md; reports/acceptance-376b19a376714e218c6197ab5c9b27c4.json; reports/governance-unit-tests.txt; reports/governance-opa-integration.txt. Developer-authored combinations, not an external benchmark. All context conditions use RAG. Timing excludes Spark startup; gold queries execute before candidates.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reports/GOVERNANCE_REPORT.md; reports/acceptance-376b19a376714e218c6197ab5c9b27c4.json; reports/governance-unit-tests.txt; reports/governance-opa-integration.txt. Developer-authored combinations, not an external benchmark. All context conditions use RAG. Timing excludes Spark startup; gold queries execute before candidates.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ontology/customer-intelligence.ttl; ontology/shapes.ttl; policies/analytics.rego; jobs/semantic_contracts.py; jobs/result_contracts.py; jobs/evaluate_acceptance.py; reports/GOVERNANCE_REPORT.md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Project-specific editable diagrams. Sources: README.md; reports/DELIVERY_REPORT.md; reports/CONTEXT_REPORT.md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1f364a809c405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5f5c3d08674b7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69e442291549d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eee09d8bc24a7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72b2b368c0490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2ab7ab61104f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207940-D471-493F-8A94-2A16FA1653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A916747-68BE-474F-948F-AB83BE20B5A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F70C309-36CB-4BC4-B9E4-838FF132DA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F442EEF-11AD-4C5A-916F-D18083F51E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D6E80EF-F051-47D4-8FED-4EB513CE1E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7441840-F08C-4E59-BB98-DC1CD2FB59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81B4EDE-ACC9-4F89-A5E4-997924C4AD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5CECFE7-64B2-4458-AF4E-38BBBB9B0A4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E51DB8-39B3-44F4-BB05-68218F8460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787230A-DCB8-4EA7-830A-9851268240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8db2c9758447c1" /><Relationship Type="http://schemas.openxmlformats.org/officeDocument/2006/relationships/slideLayout" Target="/ppt/slideLayouts/slideLayout1.xml" Id="R5928c7a83f6f4c0d" /><Relationship Type="http://schemas.openxmlformats.org/officeDocument/2006/relationships/slideLayout" Target="/ppt/slideLayouts/slideLayout2.xml" Id="R9a0ba8044d884954" /><Relationship Type="http://schemas.openxmlformats.org/officeDocument/2006/relationships/slideLayout" Target="/ppt/slideLayouts/slideLayout3.xml" Id="R911eaa12d1f94e15" /><Relationship Type="http://schemas.openxmlformats.org/officeDocument/2006/relationships/slideLayout" Target="/ppt/slideLayouts/slideLayout4.xml" Id="Rd068c1af375d42ec" /><Relationship Type="http://schemas.openxmlformats.org/officeDocument/2006/relationships/slideLayout" Target="/ppt/slideLayouts/slideLayout5.xml" Id="Rba2e0663e26d45a7" /><Relationship Type="http://schemas.openxmlformats.org/officeDocument/2006/relationships/slideLayout" Target="/ppt/slideLayouts/slideLayout6.xml" Id="R8745a4291e9540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28c7a83f6f4c0d"/>
    <p:sldLayoutId xmlns:r="http://schemas.openxmlformats.org/officeDocument/2006/relationships" id="2147483650" r:id="R9a0ba8044d884954"/>
    <p:sldLayoutId xmlns:r="http://schemas.openxmlformats.org/officeDocument/2006/relationships" id="2147483651" r:id="R911eaa12d1f94e15"/>
    <p:sldLayoutId xmlns:r="http://schemas.openxmlformats.org/officeDocument/2006/relationships" id="2147483652" r:id="Rd068c1af375d42ec"/>
    <p:sldLayoutId xmlns:r="http://schemas.openxmlformats.org/officeDocument/2006/relationships" id="2147483653" r:id="Rba2e0663e26d45a7"/>
    <p:sldLayoutId xmlns:r="http://schemas.openxmlformats.org/officeDocument/2006/relationships" id="2147483654" r:id="R8745a4291e9540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7dfa3b0e2d44b4" /><Relationship Type="http://schemas.openxmlformats.org/officeDocument/2006/relationships/notesSlide" Target="/ppt/notesSlides/notesSlide1.xml" Id="Rebdd18c6bbf049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193bb7c7fd46e7" /><Relationship Type="http://schemas.openxmlformats.org/officeDocument/2006/relationships/notesSlide" Target="/ppt/notesSlides/notesSlide2.xml" Id="R143adc50753d4a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81cbcccdee4c91" /><Relationship Type="http://schemas.openxmlformats.org/officeDocument/2006/relationships/notesSlide" Target="/ppt/notesSlides/notesSlide3.xml" Id="Rae58a784714b4b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d6cbf924d64fe6" /><Relationship Type="http://schemas.openxmlformats.org/officeDocument/2006/relationships/notesSlide" Target="/ppt/notesSlides/notesSlide4.xml" Id="Rb82cc4d2f1bc42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946b250e9e433f" /><Relationship Type="http://schemas.openxmlformats.org/officeDocument/2006/relationships/notesSlide" Target="/ppt/notesSlides/notesSlide5.xml" Id="Rf574ca1f29ec4d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aef0e164984fca" /><Relationship Type="http://schemas.openxmlformats.org/officeDocument/2006/relationships/notesSlide" Target="/ppt/notesSlides/notesSlide6.xml" Id="Rd22eb02bfc544e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135f1ee6fa4f83" /><Relationship Type="http://schemas.openxmlformats.org/officeDocument/2006/relationships/notesSlide" Target="/ppt/notesSlides/notesSlide7.xml" Id="R9347aaebb01a4f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517c21395d4402" /><Relationship Type="http://schemas.openxmlformats.org/officeDocument/2006/relationships/notesSlide" Target="/ppt/notesSlides/notesSlide8.xml" Id="R1a06eb273727478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b3f0f7bab243d8" /><Relationship Type="http://schemas.openxmlformats.org/officeDocument/2006/relationships/notesSlide" Target="/ppt/notesSlides/notesSlide9.xml" Id="R1bf5439dc33d4de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129fb9972a4a4f" /><Relationship Type="http://schemas.openxmlformats.org/officeDocument/2006/relationships/notesSlide" Target="/ppt/notesSlides/notesSlide10.xml" Id="Recd0f8525fb146a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89e11e4e344643" /><Relationship Type="http://schemas.openxmlformats.org/officeDocument/2006/relationships/notesSlide" Target="/ppt/notesSlides/notesSlide11.xml" Id="R55a5ade897f04f4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5a16a35ccc4afa" /><Relationship Type="http://schemas.openxmlformats.org/officeDocument/2006/relationships/notesSlide" Target="/ppt/notesSlides/notesSlide12.xml" Id="Rce7358934c04489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65bc1a9d7c4ba8" /><Relationship Type="http://schemas.openxmlformats.org/officeDocument/2006/relationships/notesSlide" Target="/ppt/notesSlides/notesSlide13.xml" Id="Rdf95be6c5213497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d0274f8cb240ce" /><Relationship Type="http://schemas.openxmlformats.org/officeDocument/2006/relationships/notesSlide" Target="/ppt/notesSlides/notesSlide14.xml" Id="R6c0b3a07ea5749a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64874eacd249bf" /><Relationship Type="http://schemas.openxmlformats.org/officeDocument/2006/relationships/notesSlide" Target="/ppt/notesSlides/notesSlide15.xml" Id="R70ce098622d84fb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fcebccc0af4d9d" /><Relationship Type="http://schemas.openxmlformats.org/officeDocument/2006/relationships/notesSlide" Target="/ppt/notesSlides/notesSlide16.xml" Id="R32cde762a7974f8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9b4355930c4aeb" /><Relationship Type="http://schemas.openxmlformats.org/officeDocument/2006/relationships/notesSlide" Target="/ppt/notesSlides/notesSlide17.xml" Id="Rbe8b928b799c4e5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d8af7b2b0a4164" /><Relationship Type="http://schemas.openxmlformats.org/officeDocument/2006/relationships/notesSlide" Target="/ppt/notesSlides/notesSlide18.xml" Id="Rd3a54eee25f4438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3de103eb1a4f97" /><Relationship Type="http://schemas.openxmlformats.org/officeDocument/2006/relationships/notesSlide" Target="/ppt/notesSlides/notesSlide19.xml" Id="R5d0c75e6d1c440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48EB0B-A853-4DDA-9EA4-749D2424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Customer Intelligence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287C82-D824-48B9-9043-7B7FF980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4D6577"/>
                </a:solidFill>
              </a:defRPr>
            </a:defPPr>
            <a:lvl1pPr>
              <a:defRPr sz="1800" b="0">
                <a:solidFill>
                  <a:srgbClr val="4D6577"/>
                </a:solidFill>
              </a:defRPr>
            </a:lvl1pPr>
            <a:lvl2pPr>
              <a:defRPr sz="1800" b="0">
                <a:solidFill>
                  <a:srgbClr val="4D6577"/>
                </a:solidFill>
              </a:defRPr>
            </a:lvl2pPr>
            <a:lvl3pPr>
              <a:defRPr sz="1800" b="0">
                <a:solidFill>
                  <a:srgbClr val="4D6577"/>
                </a:solidFill>
              </a:defRPr>
            </a:lvl3pPr>
            <a:lvl4pPr>
              <a:defRPr sz="1800" b="0">
                <a:solidFill>
                  <a:srgbClr val="4D6577"/>
                </a:solidFill>
              </a:defRPr>
            </a:lvl4pPr>
            <a:lvl5pPr>
              <a:defRPr sz="1800" b="0">
                <a:solidFill>
                  <a:srgbClr val="4D6577"/>
                </a:solidFill>
              </a:defRPr>
            </a:lvl5pPr>
            <a:lvl6pPr>
              <a:defRPr sz="1800" b="0">
                <a:solidFill>
                  <a:srgbClr val="4D6577"/>
                </a:solidFill>
              </a:defRPr>
            </a:lvl6pPr>
            <a:lvl7pPr>
              <a:defRPr sz="1800" b="0">
                <a:solidFill>
                  <a:srgbClr val="4D6577"/>
                </a:solidFill>
              </a:defRPr>
            </a:lvl7pPr>
            <a:lvl8pPr>
              <a:defRPr sz="1800" b="0">
                <a:solidFill>
                  <a:srgbClr val="4D6577"/>
                </a:solidFill>
              </a:defRPr>
            </a:lvl8pPr>
            <a:lvl9pPr>
              <a:defRPr sz="18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577"/>
                </a:solidFill>
              </a:defRPr>
            </a:pPr>
            <a:r>
              <a:rPr sz="1800" b="0">
                <a:solidFill>
                  <a:srgbClr val="4D6577"/>
                </a:solidFill>
              </a:rPr>
              <a:t>ถามข้อมูลยอดขายและลูกค้าด้วยภาษาธรรมชาติ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6E7937-5BB4-4DF6-8892-6EC65D50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D6577"/>
                </a:solidFill>
              </a:defRPr>
            </a:defPPr>
            <a:lvl1pPr>
              <a:defRPr sz="1500" b="0">
                <a:solidFill>
                  <a:srgbClr val="4D6577"/>
                </a:solidFill>
              </a:defRPr>
            </a:lvl1pPr>
            <a:lvl2pPr>
              <a:defRPr sz="1500" b="0">
                <a:solidFill>
                  <a:srgbClr val="4D6577"/>
                </a:solidFill>
              </a:defRPr>
            </a:lvl2pPr>
            <a:lvl3pPr>
              <a:defRPr sz="1500" b="0">
                <a:solidFill>
                  <a:srgbClr val="4D6577"/>
                </a:solidFill>
              </a:defRPr>
            </a:lvl3pPr>
            <a:lvl4pPr>
              <a:defRPr sz="1500" b="0">
                <a:solidFill>
                  <a:srgbClr val="4D6577"/>
                </a:solidFill>
              </a:defRPr>
            </a:lvl4pPr>
            <a:lvl5pPr>
              <a:defRPr sz="1500" b="0">
                <a:solidFill>
                  <a:srgbClr val="4D6577"/>
                </a:solidFill>
              </a:defRPr>
            </a:lvl5pPr>
            <a:lvl6pPr>
              <a:defRPr sz="1500" b="0">
                <a:solidFill>
                  <a:srgbClr val="4D6577"/>
                </a:solidFill>
              </a:defRPr>
            </a:lvl6pPr>
            <a:lvl7pPr>
              <a:defRPr sz="1500" b="0">
                <a:solidFill>
                  <a:srgbClr val="4D6577"/>
                </a:solidFill>
              </a:defRPr>
            </a:lvl7pPr>
            <a:lvl8pPr>
              <a:defRPr sz="1500" b="0">
                <a:solidFill>
                  <a:srgbClr val="4D6577"/>
                </a:solidFill>
              </a:defRPr>
            </a:lvl8pPr>
            <a:lvl9pPr>
              <a:defRPr sz="15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577"/>
                </a:solidFill>
              </a:defRPr>
            </a:pPr>
            <a:r>
              <a:rPr sz="1500" b="0">
                <a:solidFill>
                  <a:srgbClr val="4D6577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785CDA-BF7F-476F-AB48-BACC13C7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3357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4350" b="1">
                <a:solidFill>
                  <a:srgbClr val="102B46"/>
                </a:solidFill>
              </a:defRPr>
            </a:defPPr>
            <a:lvl1pPr>
              <a:defRPr sz="4350" b="1">
                <a:solidFill>
                  <a:srgbClr val="102B46"/>
                </a:solidFill>
              </a:defRPr>
            </a:lvl1pPr>
            <a:lvl2pPr>
              <a:defRPr sz="4350" b="1">
                <a:solidFill>
                  <a:srgbClr val="102B46"/>
                </a:solidFill>
              </a:defRPr>
            </a:lvl2pPr>
            <a:lvl3pPr>
              <a:defRPr sz="4350" b="1">
                <a:solidFill>
                  <a:srgbClr val="102B46"/>
                </a:solidFill>
              </a:defRPr>
            </a:lvl3pPr>
            <a:lvl4pPr>
              <a:defRPr sz="4350" b="1">
                <a:solidFill>
                  <a:srgbClr val="102B46"/>
                </a:solidFill>
              </a:defRPr>
            </a:lvl4pPr>
            <a:lvl5pPr>
              <a:defRPr sz="4350" b="1">
                <a:solidFill>
                  <a:srgbClr val="102B46"/>
                </a:solidFill>
              </a:defRPr>
            </a:lvl5pPr>
            <a:lvl6pPr>
              <a:defRPr sz="4350" b="1">
                <a:solidFill>
                  <a:srgbClr val="102B46"/>
                </a:solidFill>
              </a:defRPr>
            </a:lvl6pPr>
            <a:lvl7pPr>
              <a:defRPr sz="4350" b="1">
                <a:solidFill>
                  <a:srgbClr val="102B46"/>
                </a:solidFill>
              </a:defRPr>
            </a:lvl7pPr>
            <a:lvl8pPr>
              <a:defRPr sz="4350" b="1">
                <a:solidFill>
                  <a:srgbClr val="102B46"/>
                </a:solidFill>
              </a:defRPr>
            </a:lvl8pPr>
            <a:lvl9pPr>
              <a:defRPr sz="43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102B46"/>
                </a:solidFill>
              </a:defRPr>
            </a:pPr>
            <a:r>
              <a:rPr sz="4350" b="1">
                <a:solidFill>
                  <a:srgbClr val="102B46"/>
                </a:solidFill>
              </a:rPr>
              <a:t>Spark + HDFS + RAG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C0F5C6-F011-4812-A03D-8B34D5C5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24225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คำถามธุรกิจ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FC840E-1D23-4F01-A1F4-2D0BBAC7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33800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8969CA-8E41-4B16-AB10-5684940E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24225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ค้นนิยามธุรกิจ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สร้างคำสั่งค้นข้อมูล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8B4F5F-9C71-4916-888A-BED72E03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733800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05D813-01D7-477A-99EF-415353DE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24225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ผลจากข้อมูลจริง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A2E0C8-A2C6-4A45-8D4A-4AF65C81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816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4D6577"/>
                </a:solidFill>
              </a:defRPr>
            </a:defPPr>
            <a:lvl1pPr>
              <a:defRPr sz="1725" b="0">
                <a:solidFill>
                  <a:srgbClr val="4D6577"/>
                </a:solidFill>
              </a:defRPr>
            </a:lvl1pPr>
            <a:lvl2pPr>
              <a:defRPr sz="1725" b="0">
                <a:solidFill>
                  <a:srgbClr val="4D6577"/>
                </a:solidFill>
              </a:defRPr>
            </a:lvl2pPr>
            <a:lvl3pPr>
              <a:defRPr sz="1725" b="0">
                <a:solidFill>
                  <a:srgbClr val="4D6577"/>
                </a:solidFill>
              </a:defRPr>
            </a:lvl3pPr>
            <a:lvl4pPr>
              <a:defRPr sz="1725" b="0">
                <a:solidFill>
                  <a:srgbClr val="4D6577"/>
                </a:solidFill>
              </a:defRPr>
            </a:lvl4pPr>
            <a:lvl5pPr>
              <a:defRPr sz="1725" b="0">
                <a:solidFill>
                  <a:srgbClr val="4D6577"/>
                </a:solidFill>
              </a:defRPr>
            </a:lvl5pPr>
            <a:lvl6pPr>
              <a:defRPr sz="1725" b="0">
                <a:solidFill>
                  <a:srgbClr val="4D6577"/>
                </a:solidFill>
              </a:defRPr>
            </a:lvl6pPr>
            <a:lvl7pPr>
              <a:defRPr sz="1725" b="0">
                <a:solidFill>
                  <a:srgbClr val="4D6577"/>
                </a:solidFill>
              </a:defRPr>
            </a:lvl7pPr>
            <a:lvl8pPr>
              <a:defRPr sz="1725" b="0">
                <a:solidFill>
                  <a:srgbClr val="4D6577"/>
                </a:solidFill>
              </a:defRPr>
            </a:lvl8pPr>
            <a:lvl9pPr>
              <a:defRPr sz="17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SQL = คำสั่งค้นและคำนวณข้อมูล • หลักฐาน = นิยามธุรกิจและคำอธิบายตารางที่ค้นพบ</a:t>
            </a:r>
          </a:p>
        </p:txBody>
      </p:sp>
    </p:spTree>
    <p:extLst>
      <p:ext uri="{BB962C8B-B14F-4D97-AF65-F5344CB8AC3E}">
        <p14:creationId xmlns:p14="http://schemas.microsoft.com/office/powerpoint/2010/main" val="8959527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40EE62-B046-4395-87FE-D595C1DB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จากคำถามธุรกิจสู่คำตอบที่ตรวจสอบได้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9C704F-99C6-4A4D-8B76-83886631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4D6577"/>
                </a:solidFill>
              </a:defRPr>
            </a:defPPr>
            <a:lvl1pPr>
              <a:defRPr sz="1800" b="0">
                <a:solidFill>
                  <a:srgbClr val="4D6577"/>
                </a:solidFill>
              </a:defRPr>
            </a:lvl1pPr>
            <a:lvl2pPr>
              <a:defRPr sz="1800" b="0">
                <a:solidFill>
                  <a:srgbClr val="4D6577"/>
                </a:solidFill>
              </a:defRPr>
            </a:lvl2pPr>
            <a:lvl3pPr>
              <a:defRPr sz="1800" b="0">
                <a:solidFill>
                  <a:srgbClr val="4D6577"/>
                </a:solidFill>
              </a:defRPr>
            </a:lvl3pPr>
            <a:lvl4pPr>
              <a:defRPr sz="1800" b="0">
                <a:solidFill>
                  <a:srgbClr val="4D6577"/>
                </a:solidFill>
              </a:defRPr>
            </a:lvl4pPr>
            <a:lvl5pPr>
              <a:defRPr sz="1800" b="0">
                <a:solidFill>
                  <a:srgbClr val="4D6577"/>
                </a:solidFill>
              </a:defRPr>
            </a:lvl5pPr>
            <a:lvl6pPr>
              <a:defRPr sz="1800" b="0">
                <a:solidFill>
                  <a:srgbClr val="4D6577"/>
                </a:solidFill>
              </a:defRPr>
            </a:lvl6pPr>
            <a:lvl7pPr>
              <a:defRPr sz="1800" b="0">
                <a:solidFill>
                  <a:srgbClr val="4D6577"/>
                </a:solidFill>
              </a:defRPr>
            </a:lvl7pPr>
            <a:lvl8pPr>
              <a:defRPr sz="1800" b="0">
                <a:solidFill>
                  <a:srgbClr val="4D6577"/>
                </a:solidFill>
              </a:defRPr>
            </a:lvl8pPr>
            <a:lvl9pPr>
              <a:defRPr sz="18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577"/>
                </a:solidFill>
              </a:defRPr>
            </a:pPr>
            <a:r>
              <a:rPr sz="1800" b="0">
                <a:solidFill>
                  <a:srgbClr val="4D6577"/>
                </a:solidFill>
              </a:rPr>
              <a:t>ผู้ใช้ไม่ต้องเริ่มจากการเขียน SQL เอง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2EF75B-95B6-43D7-932A-D7371E28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D6577"/>
                </a:solidFill>
              </a:defRPr>
            </a:defPPr>
            <a:lvl1pPr>
              <a:defRPr sz="1500" b="0">
                <a:solidFill>
                  <a:srgbClr val="4D6577"/>
                </a:solidFill>
              </a:defRPr>
            </a:lvl1pPr>
            <a:lvl2pPr>
              <a:defRPr sz="1500" b="0">
                <a:solidFill>
                  <a:srgbClr val="4D6577"/>
                </a:solidFill>
              </a:defRPr>
            </a:lvl2pPr>
            <a:lvl3pPr>
              <a:defRPr sz="1500" b="0">
                <a:solidFill>
                  <a:srgbClr val="4D6577"/>
                </a:solidFill>
              </a:defRPr>
            </a:lvl3pPr>
            <a:lvl4pPr>
              <a:defRPr sz="1500" b="0">
                <a:solidFill>
                  <a:srgbClr val="4D6577"/>
                </a:solidFill>
              </a:defRPr>
            </a:lvl4pPr>
            <a:lvl5pPr>
              <a:defRPr sz="1500" b="0">
                <a:solidFill>
                  <a:srgbClr val="4D6577"/>
                </a:solidFill>
              </a:defRPr>
            </a:lvl5pPr>
            <a:lvl6pPr>
              <a:defRPr sz="1500" b="0">
                <a:solidFill>
                  <a:srgbClr val="4D6577"/>
                </a:solidFill>
              </a:defRPr>
            </a:lvl6pPr>
            <a:lvl7pPr>
              <a:defRPr sz="1500" b="0">
                <a:solidFill>
                  <a:srgbClr val="4D6577"/>
                </a:solidFill>
              </a:defRPr>
            </a:lvl7pPr>
            <a:lvl8pPr>
              <a:defRPr sz="1500" b="0">
                <a:solidFill>
                  <a:srgbClr val="4D6577"/>
                </a:solidFill>
              </a:defRPr>
            </a:lvl8pPr>
            <a:lvl9pPr>
              <a:defRPr sz="15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577"/>
                </a:solidFill>
              </a:defRPr>
            </a:pPr>
            <a:r>
              <a:rPr sz="1500" b="0">
                <a:solidFill>
                  <a:srgbClr val="4D6577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D746E8-578B-4AFC-86C8-8E4E60B9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95475"/>
            <a:ext cx="3238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>
                <a:solidFill>
                  <a:srgbClr val="102B46"/>
                </a:solidFill>
              </a:defRPr>
            </a:defPPr>
            <a:lvl1pPr algn="ctr">
              <a:defRPr sz="2175">
                <a:solidFill>
                  <a:srgbClr val="102B46"/>
                </a:solidFill>
              </a:defRPr>
            </a:lvl1pPr>
            <a:lvl2pPr algn="ctr">
              <a:defRPr sz="2175">
                <a:solidFill>
                  <a:srgbClr val="102B46"/>
                </a:solidFill>
              </a:defRPr>
            </a:lvl2pPr>
            <a:lvl3pPr algn="ctr">
              <a:defRPr sz="2175">
                <a:solidFill>
                  <a:srgbClr val="102B46"/>
                </a:solidFill>
              </a:defRPr>
            </a:lvl3pPr>
            <a:lvl4pPr algn="ctr">
              <a:defRPr sz="2175">
                <a:solidFill>
                  <a:srgbClr val="102B46"/>
                </a:solidFill>
              </a:defRPr>
            </a:lvl4pPr>
            <a:lvl5pPr algn="ctr">
              <a:defRPr sz="2175">
                <a:solidFill>
                  <a:srgbClr val="102B46"/>
                </a:solidFill>
              </a:defRPr>
            </a:lvl5pPr>
            <a:lvl6pPr algn="ctr">
              <a:defRPr sz="2175">
                <a:solidFill>
                  <a:srgbClr val="102B46"/>
                </a:solidFill>
              </a:defRPr>
            </a:lvl6pPr>
            <a:lvl7pPr algn="ctr">
              <a:defRPr sz="2175">
                <a:solidFill>
                  <a:srgbClr val="102B46"/>
                </a:solidFill>
              </a:defRPr>
            </a:lvl7pPr>
            <a:lvl8pPr algn="ctr">
              <a:defRPr sz="2175">
                <a:solidFill>
                  <a:srgbClr val="102B46"/>
                </a:solidFill>
              </a:defRPr>
            </a:lvl8pPr>
            <a:lvl9pPr algn="ctr">
              <a:defRPr sz="21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ผู้ใช้ถาม</a:t>
            </a:r>
          </a:p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“เดือน ต.ค. 2011</a:t>
            </a:r>
          </a:p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มี invoice กี่ใบ?”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C4AFD3-26B4-41C1-B12E-37A7AE47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00350"/>
            <a:ext cx="4286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16E12A-E976-4DE6-8347-02E01EE9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895475"/>
            <a:ext cx="2952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>
                <a:solidFill>
                  <a:srgbClr val="102B46"/>
                </a:solidFill>
              </a:defRPr>
            </a:defPPr>
            <a:lvl1pPr algn="ctr">
              <a:defRPr sz="2175">
                <a:solidFill>
                  <a:srgbClr val="102B46"/>
                </a:solidFill>
              </a:defRPr>
            </a:lvl1pPr>
            <a:lvl2pPr algn="ctr">
              <a:defRPr sz="2175">
                <a:solidFill>
                  <a:srgbClr val="102B46"/>
                </a:solidFill>
              </a:defRPr>
            </a:lvl2pPr>
            <a:lvl3pPr algn="ctr">
              <a:defRPr sz="2175">
                <a:solidFill>
                  <a:srgbClr val="102B46"/>
                </a:solidFill>
              </a:defRPr>
            </a:lvl3pPr>
            <a:lvl4pPr algn="ctr">
              <a:defRPr sz="2175">
                <a:solidFill>
                  <a:srgbClr val="102B46"/>
                </a:solidFill>
              </a:defRPr>
            </a:lvl4pPr>
            <a:lvl5pPr algn="ctr">
              <a:defRPr sz="2175">
                <a:solidFill>
                  <a:srgbClr val="102B46"/>
                </a:solidFill>
              </a:defRPr>
            </a:lvl5pPr>
            <a:lvl6pPr algn="ctr">
              <a:defRPr sz="2175">
                <a:solidFill>
                  <a:srgbClr val="102B46"/>
                </a:solidFill>
              </a:defRPr>
            </a:lvl6pPr>
            <a:lvl7pPr algn="ctr">
              <a:defRPr sz="2175">
                <a:solidFill>
                  <a:srgbClr val="102B46"/>
                </a:solidFill>
              </a:defRPr>
            </a:lvl7pPr>
            <a:lvl8pPr algn="ctr">
              <a:defRPr sz="2175">
                <a:solidFill>
                  <a:srgbClr val="102B46"/>
                </a:solidFill>
              </a:defRPr>
            </a:lvl8pPr>
            <a:lvl9pPr algn="ctr">
              <a:defRPr sz="21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Agent</a:t>
            </a:r>
          </a:p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ค้นนิยาม invoice</a:t>
            </a:r>
          </a:p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สร้างและตรวจ SQL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21534F-A4B1-409F-8535-595206A9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800350"/>
            <a:ext cx="4286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EAC980-BC66-4EAD-82FC-239C50CE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95475"/>
            <a:ext cx="3238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>
                <a:solidFill>
                  <a:srgbClr val="102B46"/>
                </a:solidFill>
              </a:defRPr>
            </a:defPPr>
            <a:lvl1pPr algn="ctr">
              <a:defRPr sz="2100">
                <a:solidFill>
                  <a:srgbClr val="102B46"/>
                </a:solidFill>
              </a:defRPr>
            </a:lvl1pPr>
            <a:lvl2pPr algn="ctr">
              <a:defRPr sz="2100">
                <a:solidFill>
                  <a:srgbClr val="102B46"/>
                </a:solidFill>
              </a:defRPr>
            </a:lvl2pPr>
            <a:lvl3pPr algn="ctr">
              <a:defRPr sz="2100">
                <a:solidFill>
                  <a:srgbClr val="102B46"/>
                </a:solidFill>
              </a:defRPr>
            </a:lvl3pPr>
            <a:lvl4pPr algn="ctr">
              <a:defRPr sz="2100">
                <a:solidFill>
                  <a:srgbClr val="102B46"/>
                </a:solidFill>
              </a:defRPr>
            </a:lvl4pPr>
            <a:lvl5pPr algn="ctr">
              <a:defRPr sz="2100">
                <a:solidFill>
                  <a:srgbClr val="102B46"/>
                </a:solidFill>
              </a:defRPr>
            </a:lvl5pPr>
            <a:lvl6pPr algn="ctr">
              <a:defRPr sz="2100">
                <a:solidFill>
                  <a:srgbClr val="102B46"/>
                </a:solidFill>
              </a:defRPr>
            </a:lvl6pPr>
            <a:lvl7pPr algn="ctr">
              <a:defRPr sz="2100">
                <a:solidFill>
                  <a:srgbClr val="102B46"/>
                </a:solidFill>
              </a:defRPr>
            </a:lvl7pPr>
            <a:lvl8pPr algn="ctr">
              <a:defRPr sz="2100">
                <a:solidFill>
                  <a:srgbClr val="102B46"/>
                </a:solidFill>
              </a:defRPr>
            </a:lvl8pPr>
            <a:lvl9pPr algn="ctr">
              <a:defRPr sz="21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Web application</a:t>
            </a:r>
          </a:p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ตารางผลลัพธ์</a:t>
            </a:r>
          </a:p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SQL + evidence + trace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683C5A-8331-42AD-A554-9D31C052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816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4D6577"/>
                </a:solidFill>
              </a:defRPr>
            </a:defPPr>
            <a:lvl1pPr>
              <a:defRPr sz="1725" b="0">
                <a:solidFill>
                  <a:srgbClr val="4D6577"/>
                </a:solidFill>
              </a:defRPr>
            </a:lvl1pPr>
            <a:lvl2pPr>
              <a:defRPr sz="1725" b="0">
                <a:solidFill>
                  <a:srgbClr val="4D6577"/>
                </a:solidFill>
              </a:defRPr>
            </a:lvl2pPr>
            <a:lvl3pPr>
              <a:defRPr sz="1725" b="0">
                <a:solidFill>
                  <a:srgbClr val="4D6577"/>
                </a:solidFill>
              </a:defRPr>
            </a:lvl3pPr>
            <a:lvl4pPr>
              <a:defRPr sz="1725" b="0">
                <a:solidFill>
                  <a:srgbClr val="4D6577"/>
                </a:solidFill>
              </a:defRPr>
            </a:lvl4pPr>
            <a:lvl5pPr>
              <a:defRPr sz="1725" b="0">
                <a:solidFill>
                  <a:srgbClr val="4D6577"/>
                </a:solidFill>
              </a:defRPr>
            </a:lvl5pPr>
            <a:lvl6pPr>
              <a:defRPr sz="1725" b="0">
                <a:solidFill>
                  <a:srgbClr val="4D6577"/>
                </a:solidFill>
              </a:defRPr>
            </a:lvl6pPr>
            <a:lvl7pPr>
              <a:defRPr sz="1725" b="0">
                <a:solidFill>
                  <a:srgbClr val="4D6577"/>
                </a:solidFill>
              </a:defRPr>
            </a:lvl7pPr>
            <a:lvl8pPr>
              <a:defRPr sz="1725" b="0">
                <a:solidFill>
                  <a:srgbClr val="4D6577"/>
                </a:solidFill>
              </a:defRPr>
            </a:lvl8pPr>
            <a:lvl9pPr>
              <a:defRPr sz="17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รองรับคำถามในนิยามข้อมูลที่เตรียมไว้ ยังไม่ได้วัดผลด้านเวลาทำงานของผู้ใช้หรือรายได้</a:t>
            </a:r>
          </a:p>
        </p:txBody>
      </p:sp>
    </p:spTree>
    <p:extLst>
      <p:ext uri="{BB962C8B-B14F-4D97-AF65-F5344CB8AC3E}">
        <p14:creationId xmlns:p14="http://schemas.microsoft.com/office/powerpoint/2010/main" val="3131944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F7D736-6A3B-4076-9F3D-73F8EFAE7952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1643063" y="2828925"/>
            <a:ext cx="3238500" cy="666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37C68"/>
            </a:solidFill>
            <a:tailEnd type="arrow" w="med" len="med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EEBF97-7F2B-4764-868D-73D272F71940}"/>
              </a:ext>
            </a:extLst>
          </p:cNvPr>
          <p:cNvCxnSpPr>
            <a:stCxn xmlns:a="http://schemas.openxmlformats.org/drawingml/2006/main" id="1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8334375" y="4438650"/>
            <a:ext cx="500063" cy="3619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C1D412-D1DB-4EFF-A1CE-384625BA1AF4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6238875" y="2314575"/>
            <a:ext cx="2095500" cy="1181100"/>
          </a:xfrm>
          <a:prstGeom xmlns:a="http://schemas.openxmlformats.org/drawingml/2006/main" prst="bentConnector4">
            <a:avLst>
              <a:gd name="adj1" fmla="val 10909"/>
              <a:gd name="adj2" fmla="val 80645"/>
            </a:avLst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50F1CD-F38B-4B49-9F22-93D2F6D460DC}"/>
              </a:ext>
            </a:extLst>
          </p:cNvPr>
          <p:cNvCxnSpPr>
            <a:stCxn xmlns:a="http://schemas.openxmlformats.org/drawingml/2006/main" id="14" idx="0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V="1">
            <a:off x="4881563" y="2828925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69A945-DAE4-43F3-AF6C-9D0D8AFBF19B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238875" y="23145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91A621-AFC9-4E6E-A786-89AFC0E3F1F1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762250" y="23145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97F065-129F-470A-B0CE-FECA00DB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Architecture: เส้นทางคำถามและเส้นทางข้อมูล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3388F3-10CC-4086-83C2-08948133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4D6577"/>
                </a:solidFill>
              </a:defRPr>
            </a:defPPr>
            <a:lvl1pPr>
              <a:defRPr sz="1800" b="0">
                <a:solidFill>
                  <a:srgbClr val="4D6577"/>
                </a:solidFill>
              </a:defRPr>
            </a:lvl1pPr>
            <a:lvl2pPr>
              <a:defRPr sz="1800" b="0">
                <a:solidFill>
                  <a:srgbClr val="4D6577"/>
                </a:solidFill>
              </a:defRPr>
            </a:lvl2pPr>
            <a:lvl3pPr>
              <a:defRPr sz="1800" b="0">
                <a:solidFill>
                  <a:srgbClr val="4D6577"/>
                </a:solidFill>
              </a:defRPr>
            </a:lvl3pPr>
            <a:lvl4pPr>
              <a:defRPr sz="1800" b="0">
                <a:solidFill>
                  <a:srgbClr val="4D6577"/>
                </a:solidFill>
              </a:defRPr>
            </a:lvl4pPr>
            <a:lvl5pPr>
              <a:defRPr sz="1800" b="0">
                <a:solidFill>
                  <a:srgbClr val="4D6577"/>
                </a:solidFill>
              </a:defRPr>
            </a:lvl5pPr>
            <a:lvl6pPr>
              <a:defRPr sz="1800" b="0">
                <a:solidFill>
                  <a:srgbClr val="4D6577"/>
                </a:solidFill>
              </a:defRPr>
            </a:lvl6pPr>
            <a:lvl7pPr>
              <a:defRPr sz="1800" b="0">
                <a:solidFill>
                  <a:srgbClr val="4D6577"/>
                </a:solidFill>
              </a:defRPr>
            </a:lvl7pPr>
            <a:lvl8pPr>
              <a:defRPr sz="1800" b="0">
                <a:solidFill>
                  <a:srgbClr val="4D6577"/>
                </a:solidFill>
              </a:defRPr>
            </a:lvl8pPr>
            <a:lvl9pPr>
              <a:defRPr sz="18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577"/>
                </a:solidFill>
              </a:defRPr>
            </a:pPr>
            <a:r>
              <a:rPr sz="1800" b="0">
                <a:solidFill>
                  <a:srgbClr val="4D6577"/>
                </a:solidFill>
              </a:rPr>
              <a:t>Custom Python single-agent harness เชื่อมโมเดลกับ Spark SQL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521A8D-9625-4699-8B00-8CF1DADE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D6577"/>
                </a:solidFill>
              </a:defRPr>
            </a:defPPr>
            <a:lvl1pPr>
              <a:defRPr sz="1500" b="0">
                <a:solidFill>
                  <a:srgbClr val="4D6577"/>
                </a:solidFill>
              </a:defRPr>
            </a:lvl1pPr>
            <a:lvl2pPr>
              <a:defRPr sz="1500" b="0">
                <a:solidFill>
                  <a:srgbClr val="4D6577"/>
                </a:solidFill>
              </a:defRPr>
            </a:lvl2pPr>
            <a:lvl3pPr>
              <a:defRPr sz="1500" b="0">
                <a:solidFill>
                  <a:srgbClr val="4D6577"/>
                </a:solidFill>
              </a:defRPr>
            </a:lvl3pPr>
            <a:lvl4pPr>
              <a:defRPr sz="1500" b="0">
                <a:solidFill>
                  <a:srgbClr val="4D6577"/>
                </a:solidFill>
              </a:defRPr>
            </a:lvl4pPr>
            <a:lvl5pPr>
              <a:defRPr sz="1500" b="0">
                <a:solidFill>
                  <a:srgbClr val="4D6577"/>
                </a:solidFill>
              </a:defRPr>
            </a:lvl5pPr>
            <a:lvl6pPr>
              <a:defRPr sz="1500" b="0">
                <a:solidFill>
                  <a:srgbClr val="4D6577"/>
                </a:solidFill>
              </a:defRPr>
            </a:lvl6pPr>
            <a:lvl7pPr>
              <a:defRPr sz="1500" b="0">
                <a:solidFill>
                  <a:srgbClr val="4D6577"/>
                </a:solidFill>
              </a:defRPr>
            </a:lvl7pPr>
            <a:lvl8pPr>
              <a:defRPr sz="1500" b="0">
                <a:solidFill>
                  <a:srgbClr val="4D6577"/>
                </a:solidFill>
              </a:defRPr>
            </a:lvl8pPr>
            <a:lvl9pPr>
              <a:defRPr sz="15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577"/>
                </a:solidFill>
              </a:defRPr>
            </a:pPr>
            <a:r>
              <a:rPr sz="1500" b="0">
                <a:solidFill>
                  <a:srgbClr val="4D6577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810CE4-7F93-483A-9325-4951916E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0225"/>
            <a:ext cx="2238375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Web UI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Python HTTP + JS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601914-A10F-42AE-B070-B41A79EF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0225"/>
            <a:ext cx="2714625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Agent harness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RAG / policy / repair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DFAFAE-38DA-42FF-A2A8-D9EB826F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800225"/>
            <a:ext cx="2476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Ollama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Qwen 9B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6A2C58-B960-4922-A3F3-EFC3560E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95675"/>
            <a:ext cx="2714625" cy="942975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knowledge/*.md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นิยาม / schema / policy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52DB4B-7901-4CE4-A47F-9E5FC223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495675"/>
            <a:ext cx="2476500" cy="942975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Spark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Master + 2 workers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3EF79B-2B4B-418E-BBEC-13E61141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800600"/>
            <a:ext cx="3476625" cy="771525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HDFS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NameNode + 2 DataNodes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F9994A-C36D-42FF-BE0E-ACDB747B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400425"/>
            <a:ext cx="2000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SQL หลังตรวจ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8D2408-2D2E-4225-B9BF-7626C265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816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4D6577"/>
                </a:solidFill>
              </a:defRPr>
            </a:defPPr>
            <a:lvl1pPr>
              <a:defRPr sz="1725" b="0">
                <a:solidFill>
                  <a:srgbClr val="4D6577"/>
                </a:solidFill>
              </a:defRPr>
            </a:lvl1pPr>
            <a:lvl2pPr>
              <a:defRPr sz="1725" b="0">
                <a:solidFill>
                  <a:srgbClr val="4D6577"/>
                </a:solidFill>
              </a:defRPr>
            </a:lvl2pPr>
            <a:lvl3pPr>
              <a:defRPr sz="1725" b="0">
                <a:solidFill>
                  <a:srgbClr val="4D6577"/>
                </a:solidFill>
              </a:defRPr>
            </a:lvl3pPr>
            <a:lvl4pPr>
              <a:defRPr sz="1725" b="0">
                <a:solidFill>
                  <a:srgbClr val="4D6577"/>
                </a:solidFill>
              </a:defRPr>
            </a:lvl4pPr>
            <a:lvl5pPr>
              <a:defRPr sz="1725" b="0">
                <a:solidFill>
                  <a:srgbClr val="4D6577"/>
                </a:solidFill>
              </a:defRPr>
            </a:lvl5pPr>
            <a:lvl6pPr>
              <a:defRPr sz="1725" b="0">
                <a:solidFill>
                  <a:srgbClr val="4D6577"/>
                </a:solidFill>
              </a:defRPr>
            </a:lvl6pPr>
            <a:lvl7pPr>
              <a:defRPr sz="1725" b="0">
                <a:solidFill>
                  <a:srgbClr val="4D6577"/>
                </a:solidFill>
              </a:defRPr>
            </a:lvl7pPr>
            <a:lvl8pPr>
              <a:defRPr sz="1725" b="0">
                <a:solidFill>
                  <a:srgbClr val="4D6577"/>
                </a:solidFill>
              </a:defRPr>
            </a:lvl8pPr>
            <a:lvl9pPr>
              <a:defRPr sz="17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Docker บนเครื่องเดียว • HDFS replication 2 • การเชื่อม tool เป็น Python โดยตรง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7892B1-EC9C-44C7-A6FF-C30297C9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95675"/>
            <a:ext cx="2238375" cy="942975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02B46"/>
                </a:solidFill>
              </a:defRPr>
            </a:defPPr>
            <a:lvl1pPr algn="ctr">
              <a:defRPr sz="1800">
                <a:solidFill>
                  <a:srgbClr val="102B46"/>
                </a:solidFill>
              </a:defRPr>
            </a:lvl1pPr>
            <a:lvl2pPr algn="ctr">
              <a:defRPr sz="1800">
                <a:solidFill>
                  <a:srgbClr val="102B46"/>
                </a:solidFill>
              </a:defRPr>
            </a:lvl2pPr>
            <a:lvl3pPr algn="ctr">
              <a:defRPr sz="1800">
                <a:solidFill>
                  <a:srgbClr val="102B46"/>
                </a:solidFill>
              </a:defRPr>
            </a:lvl3pPr>
            <a:lvl4pPr algn="ctr">
              <a:defRPr sz="1800">
                <a:solidFill>
                  <a:srgbClr val="102B46"/>
                </a:solidFill>
              </a:defRPr>
            </a:lvl4pPr>
            <a:lvl5pPr algn="ctr">
              <a:defRPr sz="1800">
                <a:solidFill>
                  <a:srgbClr val="102B46"/>
                </a:solidFill>
              </a:defRPr>
            </a:lvl5pPr>
            <a:lvl6pPr algn="ctr">
              <a:defRPr sz="1800">
                <a:solidFill>
                  <a:srgbClr val="102B46"/>
                </a:solidFill>
              </a:defRPr>
            </a:lvl6pPr>
            <a:lvl7pPr algn="ctr">
              <a:defRPr sz="1800">
                <a:solidFill>
                  <a:srgbClr val="102B46"/>
                </a:solidFill>
              </a:defRPr>
            </a:lvl7pPr>
            <a:lvl8pPr algn="ctr">
              <a:defRPr sz="1800">
                <a:solidFill>
                  <a:srgbClr val="102B46"/>
                </a:solidFill>
              </a:defRPr>
            </a:lvl8pPr>
            <a:lvl9pPr algn="ctr">
              <a:defRPr sz="18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02B46"/>
                </a:solidFill>
              </a:defRPr>
            </a:pPr>
            <a:r>
              <a:rPr sz="1800">
                <a:solidFill>
                  <a:srgbClr val="102B46"/>
                </a:solidFill>
              </a:rPr>
              <a:t>OPA/Rego</a:t>
            </a:r>
          </a:p>
          <a:p xmlns:a="http://schemas.openxmlformats.org/drawingml/2006/main">
            <a:pPr algn="ctr">
              <a:defRPr sz="1800">
                <a:solidFill>
                  <a:srgbClr val="102B46"/>
                </a:solidFill>
              </a:defRPr>
            </a:pPr>
            <a:r>
              <a:rPr sz="1800">
                <a:solidFill>
                  <a:srgbClr val="102B46"/>
                </a:solidFill>
              </a:rPr>
              <a:t>กฎอนุญาตใช้ Spark</a:t>
            </a:r>
          </a:p>
        </p:txBody>
      </p:sp>
    </p:spTree>
    <p:extLst>
      <p:ext uri="{BB962C8B-B14F-4D97-AF65-F5344CB8AC3E}">
        <p14:creationId xmlns:p14="http://schemas.microsoft.com/office/powerpoint/2010/main" val="2535785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23FC8F-544B-4C54-A49E-545C430947AD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9772650" y="2886075"/>
            <a:ext cx="180975" cy="685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7FA290-1DF8-415D-A545-095081FA784D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6096000" y="2886075"/>
            <a:ext cx="3676650" cy="685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0C7730-A1BA-4046-9D44-ED40DF8457A5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2238375" y="2886075"/>
            <a:ext cx="7534275" cy="685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929DCA-4FB9-40DB-BCDA-10036F10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Data pipeline: ข้อมูลดิบกลายเป็นตารางวิเคราะห์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5185DC-42ED-4642-8BE5-F6068784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4D6577"/>
                </a:solidFill>
              </a:defRPr>
            </a:defPPr>
            <a:lvl1pPr>
              <a:defRPr sz="1800" b="0">
                <a:solidFill>
                  <a:srgbClr val="4D6577"/>
                </a:solidFill>
              </a:defRPr>
            </a:lvl1pPr>
            <a:lvl2pPr>
              <a:defRPr sz="1800" b="0">
                <a:solidFill>
                  <a:srgbClr val="4D6577"/>
                </a:solidFill>
              </a:defRPr>
            </a:lvl2pPr>
            <a:lvl3pPr>
              <a:defRPr sz="1800" b="0">
                <a:solidFill>
                  <a:srgbClr val="4D6577"/>
                </a:solidFill>
              </a:defRPr>
            </a:lvl3pPr>
            <a:lvl4pPr>
              <a:defRPr sz="1800" b="0">
                <a:solidFill>
                  <a:srgbClr val="4D6577"/>
                </a:solidFill>
              </a:defRPr>
            </a:lvl4pPr>
            <a:lvl5pPr>
              <a:defRPr sz="1800" b="0">
                <a:solidFill>
                  <a:srgbClr val="4D6577"/>
                </a:solidFill>
              </a:defRPr>
            </a:lvl5pPr>
            <a:lvl6pPr>
              <a:defRPr sz="1800" b="0">
                <a:solidFill>
                  <a:srgbClr val="4D6577"/>
                </a:solidFill>
              </a:defRPr>
            </a:lvl6pPr>
            <a:lvl7pPr>
              <a:defRPr sz="1800" b="0">
                <a:solidFill>
                  <a:srgbClr val="4D6577"/>
                </a:solidFill>
              </a:defRPr>
            </a:lvl7pPr>
            <a:lvl8pPr>
              <a:defRPr sz="1800" b="0">
                <a:solidFill>
                  <a:srgbClr val="4D6577"/>
                </a:solidFill>
              </a:defRPr>
            </a:lvl8pPr>
            <a:lvl9pPr>
              <a:defRPr sz="18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577"/>
                </a:solidFill>
              </a:defRPr>
            </a:pPr>
            <a:r>
              <a:rPr sz="1800" b="0">
                <a:solidFill>
                  <a:srgbClr val="4D6577"/>
                </a:solidFill>
              </a:rPr>
              <a:t>UCI Online Retail II ข้อมูลธุรกรรมปี 2009–2011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86794D-B947-4BE6-9CC3-B823F42B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D6577"/>
                </a:solidFill>
              </a:defRPr>
            </a:defPPr>
            <a:lvl1pPr>
              <a:defRPr sz="1500" b="0">
                <a:solidFill>
                  <a:srgbClr val="4D6577"/>
                </a:solidFill>
              </a:defRPr>
            </a:lvl1pPr>
            <a:lvl2pPr>
              <a:defRPr sz="1500" b="0">
                <a:solidFill>
                  <a:srgbClr val="4D6577"/>
                </a:solidFill>
              </a:defRPr>
            </a:lvl2pPr>
            <a:lvl3pPr>
              <a:defRPr sz="1500" b="0">
                <a:solidFill>
                  <a:srgbClr val="4D6577"/>
                </a:solidFill>
              </a:defRPr>
            </a:lvl3pPr>
            <a:lvl4pPr>
              <a:defRPr sz="1500" b="0">
                <a:solidFill>
                  <a:srgbClr val="4D6577"/>
                </a:solidFill>
              </a:defRPr>
            </a:lvl4pPr>
            <a:lvl5pPr>
              <a:defRPr sz="1500" b="0">
                <a:solidFill>
                  <a:srgbClr val="4D6577"/>
                </a:solidFill>
              </a:defRPr>
            </a:lvl5pPr>
            <a:lvl6pPr>
              <a:defRPr sz="1500" b="0">
                <a:solidFill>
                  <a:srgbClr val="4D6577"/>
                </a:solidFill>
              </a:defRPr>
            </a:lvl6pPr>
            <a:lvl7pPr>
              <a:defRPr sz="1500" b="0">
                <a:solidFill>
                  <a:srgbClr val="4D6577"/>
                </a:solidFill>
              </a:defRPr>
            </a:lvl7pPr>
            <a:lvl8pPr>
              <a:defRPr sz="1500" b="0">
                <a:solidFill>
                  <a:srgbClr val="4D6577"/>
                </a:solidFill>
              </a:defRPr>
            </a:lvl8pPr>
            <a:lvl9pPr>
              <a:defRPr sz="15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577"/>
                </a:solidFill>
              </a:defRPr>
            </a:pPr>
            <a:r>
              <a:rPr sz="1500" b="0">
                <a:solidFill>
                  <a:srgbClr val="4D6577"/>
                </a:solidFill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B8EB70-6822-4D0C-BCFF-25CFFDE1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19275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ไฟล์ต้นทาง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1,067,371 แถว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35B430-A723-4AA1-9D68-029AE587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228850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1A3F43-1BB1-4D89-853D-5C3F6D76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19275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Spark ETL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แยกประเภทธุรกรรม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D71A65-DE38-4A0C-B56D-6F6EE04D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228850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C4518E-F8E8-4C12-AEB2-2A8FAB09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19275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Parquet บน HDFS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จัดเก็บเป็นชุดข้อมูล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8BFE5D-B655-4F3D-AE04-503D5F8A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71875"/>
            <a:ext cx="3333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sales_lines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1,067,371 แถว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หนึ่งรายการสินค้าเดิม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B14FAA-9E24-4471-8981-F8FC54B7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71875"/>
            <a:ext cx="3333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orders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40,077 แถว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หนึ่ง completed-sale invoice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8AE07C-DE2B-4A13-BFA4-40F0F169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71875"/>
            <a:ext cx="3333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customer_summary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3,450 แถว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หนึ่งลูกค้าที่ระบุ 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DE7ED7-305A-4200-8483-786A2E24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816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4D6577"/>
                </a:solidFill>
              </a:defRPr>
            </a:defPPr>
            <a:lvl1pPr>
              <a:defRPr sz="1725" b="0">
                <a:solidFill>
                  <a:srgbClr val="4D6577"/>
                </a:solidFill>
              </a:defRPr>
            </a:lvl1pPr>
            <a:lvl2pPr>
              <a:defRPr sz="1725" b="0">
                <a:solidFill>
                  <a:srgbClr val="4D6577"/>
                </a:solidFill>
              </a:defRPr>
            </a:lvl2pPr>
            <a:lvl3pPr>
              <a:defRPr sz="1725" b="0">
                <a:solidFill>
                  <a:srgbClr val="4D6577"/>
                </a:solidFill>
              </a:defRPr>
            </a:lvl3pPr>
            <a:lvl4pPr>
              <a:defRPr sz="1725" b="0">
                <a:solidFill>
                  <a:srgbClr val="4D6577"/>
                </a:solidFill>
              </a:defRPr>
            </a:lvl4pPr>
            <a:lvl5pPr>
              <a:defRPr sz="1725" b="0">
                <a:solidFill>
                  <a:srgbClr val="4D6577"/>
                </a:solidFill>
              </a:defRPr>
            </a:lvl5pPr>
            <a:lvl6pPr>
              <a:defRPr sz="1725" b="0">
                <a:solidFill>
                  <a:srgbClr val="4D6577"/>
                </a:solidFill>
              </a:defRPr>
            </a:lvl6pPr>
            <a:lvl7pPr>
              <a:defRPr sz="1725" b="0">
                <a:solidFill>
                  <a:srgbClr val="4D6577"/>
                </a:solidFill>
              </a:defRPr>
            </a:lvl7pPr>
            <a:lvl8pPr>
              <a:defRPr sz="1725" b="0">
                <a:solidFill>
                  <a:srgbClr val="4D6577"/>
                </a:solidFill>
              </a:defRPr>
            </a:lvl8pPr>
            <a:lvl9pPr>
              <a:defRPr sz="17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Grain = หนึ่งแถวแทนอะไร เช่น 1 invoice หรือ 1 รายการสินค้า</a:t>
            </a:r>
          </a:p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ตารางลูกค้าสรุปย้อนหลัง 180 วัน ณ 2011-12-01</a:t>
            </a:r>
          </a:p>
        </p:txBody>
      </p:sp>
    </p:spTree>
    <p:extLst>
      <p:ext uri="{BB962C8B-B14F-4D97-AF65-F5344CB8AC3E}">
        <p14:creationId xmlns:p14="http://schemas.microsoft.com/office/powerpoint/2010/main" val="6407402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F5ECA3-99E4-42DB-B905-B5BF23CD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4 ชั้นที่ประกอบเป็น Agent ของโปรเจกต์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6AFDA1-B3B7-4242-A0FE-0DC5C19D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4D6577"/>
                </a:solidFill>
              </a:defRPr>
            </a:defPPr>
            <a:lvl1pPr>
              <a:defRPr sz="1800" b="0">
                <a:solidFill>
                  <a:srgbClr val="4D6577"/>
                </a:solidFill>
              </a:defRPr>
            </a:lvl1pPr>
            <a:lvl2pPr>
              <a:defRPr sz="1800" b="0">
                <a:solidFill>
                  <a:srgbClr val="4D6577"/>
                </a:solidFill>
              </a:defRPr>
            </a:lvl2pPr>
            <a:lvl3pPr>
              <a:defRPr sz="1800" b="0">
                <a:solidFill>
                  <a:srgbClr val="4D6577"/>
                </a:solidFill>
              </a:defRPr>
            </a:lvl3pPr>
            <a:lvl4pPr>
              <a:defRPr sz="1800" b="0">
                <a:solidFill>
                  <a:srgbClr val="4D6577"/>
                </a:solidFill>
              </a:defRPr>
            </a:lvl4pPr>
            <a:lvl5pPr>
              <a:defRPr sz="1800" b="0">
                <a:solidFill>
                  <a:srgbClr val="4D6577"/>
                </a:solidFill>
              </a:defRPr>
            </a:lvl5pPr>
            <a:lvl6pPr>
              <a:defRPr sz="1800" b="0">
                <a:solidFill>
                  <a:srgbClr val="4D6577"/>
                </a:solidFill>
              </a:defRPr>
            </a:lvl6pPr>
            <a:lvl7pPr>
              <a:defRPr sz="1800" b="0">
                <a:solidFill>
                  <a:srgbClr val="4D6577"/>
                </a:solidFill>
              </a:defRPr>
            </a:lvl7pPr>
            <a:lvl8pPr>
              <a:defRPr sz="1800" b="0">
                <a:solidFill>
                  <a:srgbClr val="4D6577"/>
                </a:solidFill>
              </a:defRPr>
            </a:lvl8pPr>
            <a:lvl9pPr>
              <a:defRPr sz="18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577"/>
                </a:solidFill>
              </a:defRPr>
            </a:pPr>
            <a:r>
              <a:rPr sz="1800" b="0">
                <a:solidFill>
                  <a:srgbClr val="4D6577"/>
                </a:solidFill>
              </a:rPr>
              <a:t>แต่ละชั้นเพิ่มสิ่งที่ต้องควบคุมรอบโมเดล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1022A2-0F36-4C12-AC77-D74F1DD5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D6577"/>
                </a:solidFill>
              </a:defRPr>
            </a:defPPr>
            <a:lvl1pPr>
              <a:defRPr sz="1500" b="0">
                <a:solidFill>
                  <a:srgbClr val="4D6577"/>
                </a:solidFill>
              </a:defRPr>
            </a:lvl1pPr>
            <a:lvl2pPr>
              <a:defRPr sz="1500" b="0">
                <a:solidFill>
                  <a:srgbClr val="4D6577"/>
                </a:solidFill>
              </a:defRPr>
            </a:lvl2pPr>
            <a:lvl3pPr>
              <a:defRPr sz="1500" b="0">
                <a:solidFill>
                  <a:srgbClr val="4D6577"/>
                </a:solidFill>
              </a:defRPr>
            </a:lvl3pPr>
            <a:lvl4pPr>
              <a:defRPr sz="1500" b="0">
                <a:solidFill>
                  <a:srgbClr val="4D6577"/>
                </a:solidFill>
              </a:defRPr>
            </a:lvl4pPr>
            <a:lvl5pPr>
              <a:defRPr sz="1500" b="0">
                <a:solidFill>
                  <a:srgbClr val="4D6577"/>
                </a:solidFill>
              </a:defRPr>
            </a:lvl5pPr>
            <a:lvl6pPr>
              <a:defRPr sz="1500" b="0">
                <a:solidFill>
                  <a:srgbClr val="4D6577"/>
                </a:solidFill>
              </a:defRPr>
            </a:lvl6pPr>
            <a:lvl7pPr>
              <a:defRPr sz="1500" b="0">
                <a:solidFill>
                  <a:srgbClr val="4D6577"/>
                </a:solidFill>
              </a:defRPr>
            </a:lvl7pPr>
            <a:lvl8pPr>
              <a:defRPr sz="1500" b="0">
                <a:solidFill>
                  <a:srgbClr val="4D6577"/>
                </a:solidFill>
              </a:defRPr>
            </a:lvl8pPr>
            <a:lvl9pPr>
              <a:defRPr sz="15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577"/>
                </a:solidFill>
              </a:defRPr>
            </a:pPr>
            <a:r>
              <a:rPr sz="1500" b="0">
                <a:solidFill>
                  <a:srgbClr val="4D6577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47ED35-2689-45D5-9D24-2A85788D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5334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>
                <a:solidFill>
                  <a:srgbClr val="102B46"/>
                </a:solidFill>
              </a:defRPr>
            </a:defPPr>
            <a:lvl1pPr algn="ctr">
              <a:defRPr sz="2100">
                <a:solidFill>
                  <a:srgbClr val="102B46"/>
                </a:solidFill>
              </a:defRPr>
            </a:lvl1pPr>
            <a:lvl2pPr algn="ctr">
              <a:defRPr sz="2100">
                <a:solidFill>
                  <a:srgbClr val="102B46"/>
                </a:solidFill>
              </a:defRPr>
            </a:lvl2pPr>
            <a:lvl3pPr algn="ctr">
              <a:defRPr sz="2100">
                <a:solidFill>
                  <a:srgbClr val="102B46"/>
                </a:solidFill>
              </a:defRPr>
            </a:lvl3pPr>
            <a:lvl4pPr algn="ctr">
              <a:defRPr sz="2100">
                <a:solidFill>
                  <a:srgbClr val="102B46"/>
                </a:solidFill>
              </a:defRPr>
            </a:lvl4pPr>
            <a:lvl5pPr algn="ctr">
              <a:defRPr sz="2100">
                <a:solidFill>
                  <a:srgbClr val="102B46"/>
                </a:solidFill>
              </a:defRPr>
            </a:lvl5pPr>
            <a:lvl6pPr algn="ctr">
              <a:defRPr sz="2100">
                <a:solidFill>
                  <a:srgbClr val="102B46"/>
                </a:solidFill>
              </a:defRPr>
            </a:lvl6pPr>
            <a:lvl7pPr algn="ctr">
              <a:defRPr sz="2100">
                <a:solidFill>
                  <a:srgbClr val="102B46"/>
                </a:solidFill>
              </a:defRPr>
            </a:lvl7pPr>
            <a:lvl8pPr algn="ctr">
              <a:defRPr sz="2100">
                <a:solidFill>
                  <a:srgbClr val="102B46"/>
                </a:solidFill>
              </a:defRPr>
            </a:lvl8pPr>
            <a:lvl9pPr algn="ctr">
              <a:defRPr sz="21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1  Prompt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B20ABE-3AC4-45D7-B85A-8B5C2DCA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02B46"/>
                </a:solidFill>
              </a:defRPr>
            </a:defPPr>
            <a:lvl1pPr>
              <a:defRPr sz="1950" b="0">
                <a:solidFill>
                  <a:srgbClr val="102B46"/>
                </a:solidFill>
              </a:defRPr>
            </a:lvl1pPr>
            <a:lvl2pPr>
              <a:defRPr sz="1950" b="0">
                <a:solidFill>
                  <a:srgbClr val="102B46"/>
                </a:solidFill>
              </a:defRPr>
            </a:lvl2pPr>
            <a:lvl3pPr>
              <a:defRPr sz="1950" b="0">
                <a:solidFill>
                  <a:srgbClr val="102B46"/>
                </a:solidFill>
              </a:defRPr>
            </a:lvl3pPr>
            <a:lvl4pPr>
              <a:defRPr sz="1950" b="0">
                <a:solidFill>
                  <a:srgbClr val="102B46"/>
                </a:solidFill>
              </a:defRPr>
            </a:lvl4pPr>
            <a:lvl5pPr>
              <a:defRPr sz="1950" b="0">
                <a:solidFill>
                  <a:srgbClr val="102B46"/>
                </a:solidFill>
              </a:defRPr>
            </a:lvl5pPr>
            <a:lvl6pPr>
              <a:defRPr sz="1950" b="0">
                <a:solidFill>
                  <a:srgbClr val="102B46"/>
                </a:solidFill>
              </a:defRPr>
            </a:lvl6pPr>
            <a:lvl7pPr>
              <a:defRPr sz="1950" b="0">
                <a:solidFill>
                  <a:srgbClr val="102B46"/>
                </a:solidFill>
              </a:defRPr>
            </a:lvl7pPr>
            <a:lvl8pPr>
              <a:defRPr sz="1950" b="0">
                <a:solidFill>
                  <a:srgbClr val="102B46"/>
                </a:solidFill>
              </a:defRPr>
            </a:lvl8pPr>
            <a:lvl9pPr>
              <a:defRPr sz="195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บทบาท + กติกา + รูปแบบ JSON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กำหนดสิ่งที่โมเดลต้องสร้าง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1CE248-CD47-49F7-8A76-D6BC197E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5334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>
                <a:solidFill>
                  <a:srgbClr val="102B46"/>
                </a:solidFill>
              </a:defRPr>
            </a:defPPr>
            <a:lvl1pPr algn="ctr">
              <a:defRPr sz="2100">
                <a:solidFill>
                  <a:srgbClr val="102B46"/>
                </a:solidFill>
              </a:defRPr>
            </a:lvl1pPr>
            <a:lvl2pPr algn="ctr">
              <a:defRPr sz="2100">
                <a:solidFill>
                  <a:srgbClr val="102B46"/>
                </a:solidFill>
              </a:defRPr>
            </a:lvl2pPr>
            <a:lvl3pPr algn="ctr">
              <a:defRPr sz="2100">
                <a:solidFill>
                  <a:srgbClr val="102B46"/>
                </a:solidFill>
              </a:defRPr>
            </a:lvl3pPr>
            <a:lvl4pPr algn="ctr">
              <a:defRPr sz="2100">
                <a:solidFill>
                  <a:srgbClr val="102B46"/>
                </a:solidFill>
              </a:defRPr>
            </a:lvl4pPr>
            <a:lvl5pPr algn="ctr">
              <a:defRPr sz="2100">
                <a:solidFill>
                  <a:srgbClr val="102B46"/>
                </a:solidFill>
              </a:defRPr>
            </a:lvl5pPr>
            <a:lvl6pPr algn="ctr">
              <a:defRPr sz="2100">
                <a:solidFill>
                  <a:srgbClr val="102B46"/>
                </a:solidFill>
              </a:defRPr>
            </a:lvl6pPr>
            <a:lvl7pPr algn="ctr">
              <a:defRPr sz="2100">
                <a:solidFill>
                  <a:srgbClr val="102B46"/>
                </a:solidFill>
              </a:defRPr>
            </a:lvl7pPr>
            <a:lvl8pPr algn="ctr">
              <a:defRPr sz="2100">
                <a:solidFill>
                  <a:srgbClr val="102B46"/>
                </a:solidFill>
              </a:defRPr>
            </a:lvl8pPr>
            <a:lvl9pPr algn="ctr">
              <a:defRPr sz="21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2 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95EAE7-4B4C-4D1B-95C4-59493810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8125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02B46"/>
                </a:solidFill>
              </a:defRPr>
            </a:defPPr>
            <a:lvl1pPr>
              <a:defRPr sz="1950" b="0">
                <a:solidFill>
                  <a:srgbClr val="102B46"/>
                </a:solidFill>
              </a:defRPr>
            </a:lvl1pPr>
            <a:lvl2pPr>
              <a:defRPr sz="1950" b="0">
                <a:solidFill>
                  <a:srgbClr val="102B46"/>
                </a:solidFill>
              </a:defRPr>
            </a:lvl2pPr>
            <a:lvl3pPr>
              <a:defRPr sz="1950" b="0">
                <a:solidFill>
                  <a:srgbClr val="102B46"/>
                </a:solidFill>
              </a:defRPr>
            </a:lvl3pPr>
            <a:lvl4pPr>
              <a:defRPr sz="1950" b="0">
                <a:solidFill>
                  <a:srgbClr val="102B46"/>
                </a:solidFill>
              </a:defRPr>
            </a:lvl4pPr>
            <a:lvl5pPr>
              <a:defRPr sz="1950" b="0">
                <a:solidFill>
                  <a:srgbClr val="102B46"/>
                </a:solidFill>
              </a:defRPr>
            </a:lvl5pPr>
            <a:lvl6pPr>
              <a:defRPr sz="1950" b="0">
                <a:solidFill>
                  <a:srgbClr val="102B46"/>
                </a:solidFill>
              </a:defRPr>
            </a:lvl6pPr>
            <a:lvl7pPr>
              <a:defRPr sz="1950" b="0">
                <a:solidFill>
                  <a:srgbClr val="102B46"/>
                </a:solidFill>
              </a:defRPr>
            </a:lvl7pPr>
            <a:lvl8pPr>
              <a:defRPr sz="1950" b="0">
                <a:solidFill>
                  <a:srgbClr val="102B46"/>
                </a:solidFill>
              </a:defRPr>
            </a:lvl8pPr>
            <a:lvl9pPr>
              <a:defRPr sz="195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คำถาม + RAG evidence + สถานะล่าสุด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เลือกสิ่งที่โมเดลเห็นในแต่ละรอบ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D2034A-D3F5-4E88-A4FA-5A866A14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9975"/>
            <a:ext cx="5334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>
                <a:solidFill>
                  <a:srgbClr val="102B46"/>
                </a:solidFill>
              </a:defRPr>
            </a:defPPr>
            <a:lvl1pPr algn="ctr">
              <a:defRPr sz="2100">
                <a:solidFill>
                  <a:srgbClr val="102B46"/>
                </a:solidFill>
              </a:defRPr>
            </a:lvl1pPr>
            <a:lvl2pPr algn="ctr">
              <a:defRPr sz="2100">
                <a:solidFill>
                  <a:srgbClr val="102B46"/>
                </a:solidFill>
              </a:defRPr>
            </a:lvl2pPr>
            <a:lvl3pPr algn="ctr">
              <a:defRPr sz="2100">
                <a:solidFill>
                  <a:srgbClr val="102B46"/>
                </a:solidFill>
              </a:defRPr>
            </a:lvl3pPr>
            <a:lvl4pPr algn="ctr">
              <a:defRPr sz="2100">
                <a:solidFill>
                  <a:srgbClr val="102B46"/>
                </a:solidFill>
              </a:defRPr>
            </a:lvl4pPr>
            <a:lvl5pPr algn="ctr">
              <a:defRPr sz="2100">
                <a:solidFill>
                  <a:srgbClr val="102B46"/>
                </a:solidFill>
              </a:defRPr>
            </a:lvl5pPr>
            <a:lvl6pPr algn="ctr">
              <a:defRPr sz="2100">
                <a:solidFill>
                  <a:srgbClr val="102B46"/>
                </a:solidFill>
              </a:defRPr>
            </a:lvl6pPr>
            <a:lvl7pPr algn="ctr">
              <a:defRPr sz="2100">
                <a:solidFill>
                  <a:srgbClr val="102B46"/>
                </a:solidFill>
              </a:defRPr>
            </a:lvl7pPr>
            <a:lvl8pPr algn="ctr">
              <a:defRPr sz="2100">
                <a:solidFill>
                  <a:srgbClr val="102B46"/>
                </a:solidFill>
              </a:defRPr>
            </a:lvl8pPr>
            <a:lvl9pPr algn="ctr">
              <a:defRPr sz="21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3  Harness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146EE6-4F04-4912-A82D-F01B034B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02B46"/>
                </a:solidFill>
              </a:defRPr>
            </a:defPPr>
            <a:lvl1pPr>
              <a:defRPr sz="1950" b="0">
                <a:solidFill>
                  <a:srgbClr val="102B46"/>
                </a:solidFill>
              </a:defRPr>
            </a:lvl1pPr>
            <a:lvl2pPr>
              <a:defRPr sz="1950" b="0">
                <a:solidFill>
                  <a:srgbClr val="102B46"/>
                </a:solidFill>
              </a:defRPr>
            </a:lvl2pPr>
            <a:lvl3pPr>
              <a:defRPr sz="1950" b="0">
                <a:solidFill>
                  <a:srgbClr val="102B46"/>
                </a:solidFill>
              </a:defRPr>
            </a:lvl3pPr>
            <a:lvl4pPr>
              <a:defRPr sz="1950" b="0">
                <a:solidFill>
                  <a:srgbClr val="102B46"/>
                </a:solidFill>
              </a:defRPr>
            </a:lvl4pPr>
            <a:lvl5pPr>
              <a:defRPr sz="1950" b="0">
                <a:solidFill>
                  <a:srgbClr val="102B46"/>
                </a:solidFill>
              </a:defRPr>
            </a:lvl5pPr>
            <a:lvl6pPr>
              <a:defRPr sz="1950" b="0">
                <a:solidFill>
                  <a:srgbClr val="102B46"/>
                </a:solidFill>
              </a:defRPr>
            </a:lvl6pPr>
            <a:lvl7pPr>
              <a:defRPr sz="1950" b="0">
                <a:solidFill>
                  <a:srgbClr val="102B46"/>
                </a:solidFill>
              </a:defRPr>
            </a:lvl7pPr>
            <a:lvl8pPr>
              <a:defRPr sz="1950" b="0">
                <a:solidFill>
                  <a:srgbClr val="102B46"/>
                </a:solidFill>
              </a:defRPr>
            </a:lvl8pPr>
            <a:lvl9pPr>
              <a:defRPr sz="195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OPA + SQL guards + Spark tool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ตรวจผลลัพธ์และบันทึก trace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B4F04D-7663-43C8-993E-6F32A61C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09975"/>
            <a:ext cx="5334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>
                <a:solidFill>
                  <a:srgbClr val="102B46"/>
                </a:solidFill>
              </a:defRPr>
            </a:defPPr>
            <a:lvl1pPr algn="ctr">
              <a:defRPr sz="2100">
                <a:solidFill>
                  <a:srgbClr val="102B46"/>
                </a:solidFill>
              </a:defRPr>
            </a:lvl1pPr>
            <a:lvl2pPr algn="ctr">
              <a:defRPr sz="2100">
                <a:solidFill>
                  <a:srgbClr val="102B46"/>
                </a:solidFill>
              </a:defRPr>
            </a:lvl2pPr>
            <a:lvl3pPr algn="ctr">
              <a:defRPr sz="2100">
                <a:solidFill>
                  <a:srgbClr val="102B46"/>
                </a:solidFill>
              </a:defRPr>
            </a:lvl3pPr>
            <a:lvl4pPr algn="ctr">
              <a:defRPr sz="2100">
                <a:solidFill>
                  <a:srgbClr val="102B46"/>
                </a:solidFill>
              </a:defRPr>
            </a:lvl4pPr>
            <a:lvl5pPr algn="ctr">
              <a:defRPr sz="2100">
                <a:solidFill>
                  <a:srgbClr val="102B46"/>
                </a:solidFill>
              </a:defRPr>
            </a:lvl5pPr>
            <a:lvl6pPr algn="ctr">
              <a:defRPr sz="2100">
                <a:solidFill>
                  <a:srgbClr val="102B46"/>
                </a:solidFill>
              </a:defRPr>
            </a:lvl6pPr>
            <a:lvl7pPr algn="ctr">
              <a:defRPr sz="2100">
                <a:solidFill>
                  <a:srgbClr val="102B46"/>
                </a:solidFill>
              </a:defRPr>
            </a:lvl7pPr>
            <a:lvl8pPr algn="ctr">
              <a:defRPr sz="2100">
                <a:solidFill>
                  <a:srgbClr val="102B46"/>
                </a:solidFill>
              </a:defRPr>
            </a:lvl8pPr>
            <a:lvl9pPr algn="ctr">
              <a:defRPr sz="21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4  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23FA0D-B50E-4680-9003-A678C617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291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02B46"/>
                </a:solidFill>
              </a:defRPr>
            </a:defPPr>
            <a:lvl1pPr>
              <a:defRPr sz="1950" b="0">
                <a:solidFill>
                  <a:srgbClr val="102B46"/>
                </a:solidFill>
              </a:defRPr>
            </a:lvl1pPr>
            <a:lvl2pPr>
              <a:defRPr sz="1950" b="0">
                <a:solidFill>
                  <a:srgbClr val="102B46"/>
                </a:solidFill>
              </a:defRPr>
            </a:lvl2pPr>
            <a:lvl3pPr>
              <a:defRPr sz="1950" b="0">
                <a:solidFill>
                  <a:srgbClr val="102B46"/>
                </a:solidFill>
              </a:defRPr>
            </a:lvl3pPr>
            <a:lvl4pPr>
              <a:defRPr sz="1950" b="0">
                <a:solidFill>
                  <a:srgbClr val="102B46"/>
                </a:solidFill>
              </a:defRPr>
            </a:lvl4pPr>
            <a:lvl5pPr>
              <a:defRPr sz="1950" b="0">
                <a:solidFill>
                  <a:srgbClr val="102B46"/>
                </a:solidFill>
              </a:defRPr>
            </a:lvl5pPr>
            <a:lvl6pPr>
              <a:defRPr sz="1950" b="0">
                <a:solidFill>
                  <a:srgbClr val="102B46"/>
                </a:solidFill>
              </a:defRPr>
            </a:lvl6pPr>
            <a:lvl7pPr>
              <a:defRPr sz="1950" b="0">
                <a:solidFill>
                  <a:srgbClr val="102B46"/>
                </a:solidFill>
              </a:defRPr>
            </a:lvl7pPr>
            <a:lvl8pPr>
              <a:defRPr sz="1950" b="0">
                <a:solidFill>
                  <a:srgbClr val="102B46"/>
                </a:solidFill>
              </a:defRPr>
            </a:lvl8pPr>
            <a:lvl9pPr>
              <a:defRPr sz="195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ผ่าน / แก้ใหม่ / ถามกลับ / หยุด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กำหนดการจบงาน สูงสุด 3 attempts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17FC41-D81E-48FF-AB8E-989C72D6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816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4D6577"/>
                </a:solidFill>
              </a:defRPr>
            </a:defPPr>
            <a:lvl1pPr>
              <a:defRPr sz="1725" b="0">
                <a:solidFill>
                  <a:srgbClr val="4D6577"/>
                </a:solidFill>
              </a:defRPr>
            </a:lvl1pPr>
            <a:lvl2pPr>
              <a:defRPr sz="1725" b="0">
                <a:solidFill>
                  <a:srgbClr val="4D6577"/>
                </a:solidFill>
              </a:defRPr>
            </a:lvl2pPr>
            <a:lvl3pPr>
              <a:defRPr sz="1725" b="0">
                <a:solidFill>
                  <a:srgbClr val="4D6577"/>
                </a:solidFill>
              </a:defRPr>
            </a:lvl3pPr>
            <a:lvl4pPr>
              <a:defRPr sz="1725" b="0">
                <a:solidFill>
                  <a:srgbClr val="4D6577"/>
                </a:solidFill>
              </a:defRPr>
            </a:lvl4pPr>
            <a:lvl5pPr>
              <a:defRPr sz="1725" b="0">
                <a:solidFill>
                  <a:srgbClr val="4D6577"/>
                </a:solidFill>
              </a:defRPr>
            </a:lvl5pPr>
            <a:lvl6pPr>
              <a:defRPr sz="1725" b="0">
                <a:solidFill>
                  <a:srgbClr val="4D6577"/>
                </a:solidFill>
              </a:defRPr>
            </a:lvl6pPr>
            <a:lvl7pPr>
              <a:defRPr sz="1725" b="0">
                <a:solidFill>
                  <a:srgbClr val="4D6577"/>
                </a:solidFill>
              </a:defRPr>
            </a:lvl7pPr>
            <a:lvl8pPr>
              <a:defRPr sz="1725" b="0">
                <a:solidFill>
                  <a:srgbClr val="4D6577"/>
                </a:solidFill>
              </a:defRPr>
            </a:lvl8pPr>
            <a:lvl9pPr>
              <a:defRPr sz="17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แต่ละชั้นเชื่อมกันใน custom Python harness ของโปรเจกต์</a:t>
            </a:r>
          </a:p>
        </p:txBody>
      </p:sp>
    </p:spTree>
    <p:extLst>
      <p:ext uri="{BB962C8B-B14F-4D97-AF65-F5344CB8AC3E}">
        <p14:creationId xmlns:p14="http://schemas.microsoft.com/office/powerpoint/2010/main" val="4061881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97B874-50C9-4070-93B7-C20B43AA616E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6096000" y="2876550"/>
            <a:ext cx="3676650" cy="6096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103C71-B26E-4877-A7FD-71ECBA7F35AD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6000750" y="2876550"/>
            <a:ext cx="95250" cy="6096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24B997-5AB4-419F-AB98-53F6E63D3EA3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2228850" y="2876550"/>
            <a:ext cx="3867150" cy="6096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3F6AA2-48C3-4DA8-A8EA-84F9C648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Prompt: จากข้อกำหนดสู่ SQL ที่มีโครงสร้าง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623545-1C23-4BF6-8944-6E9F4149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4D6577"/>
                </a:solidFill>
              </a:defRPr>
            </a:defPPr>
            <a:lvl1pPr>
              <a:defRPr sz="1800" b="0">
                <a:solidFill>
                  <a:srgbClr val="4D6577"/>
                </a:solidFill>
              </a:defRPr>
            </a:lvl1pPr>
            <a:lvl2pPr>
              <a:defRPr sz="1800" b="0">
                <a:solidFill>
                  <a:srgbClr val="4D6577"/>
                </a:solidFill>
              </a:defRPr>
            </a:lvl2pPr>
            <a:lvl3pPr>
              <a:defRPr sz="1800" b="0">
                <a:solidFill>
                  <a:srgbClr val="4D6577"/>
                </a:solidFill>
              </a:defRPr>
            </a:lvl3pPr>
            <a:lvl4pPr>
              <a:defRPr sz="1800" b="0">
                <a:solidFill>
                  <a:srgbClr val="4D6577"/>
                </a:solidFill>
              </a:defRPr>
            </a:lvl4pPr>
            <a:lvl5pPr>
              <a:defRPr sz="1800" b="0">
                <a:solidFill>
                  <a:srgbClr val="4D6577"/>
                </a:solidFill>
              </a:defRPr>
            </a:lvl5pPr>
            <a:lvl6pPr>
              <a:defRPr sz="1800" b="0">
                <a:solidFill>
                  <a:srgbClr val="4D6577"/>
                </a:solidFill>
              </a:defRPr>
            </a:lvl6pPr>
            <a:lvl7pPr>
              <a:defRPr sz="1800" b="0">
                <a:solidFill>
                  <a:srgbClr val="4D6577"/>
                </a:solidFill>
              </a:defRPr>
            </a:lvl7pPr>
            <a:lvl8pPr>
              <a:defRPr sz="1800" b="0">
                <a:solidFill>
                  <a:srgbClr val="4D6577"/>
                </a:solidFill>
              </a:defRPr>
            </a:lvl8pPr>
            <a:lvl9pPr>
              <a:defRPr sz="18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577"/>
                </a:solidFill>
              </a:defRPr>
            </a:pPr>
            <a:r>
              <a:rPr sz="1800" b="0">
                <a:solidFill>
                  <a:srgbClr val="4D6577"/>
                </a:solidFill>
              </a:rPr>
              <a:t>โมเดลสร้างข้อเสนอ SQL ส่วน harness เป็นผู้อนุญาตให้รัน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928E0-4D1E-4700-83B9-C9D7D4DA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D6577"/>
                </a:solidFill>
              </a:defRPr>
            </a:defPPr>
            <a:lvl1pPr>
              <a:defRPr sz="1500" b="0">
                <a:solidFill>
                  <a:srgbClr val="4D6577"/>
                </a:solidFill>
              </a:defRPr>
            </a:lvl1pPr>
            <a:lvl2pPr>
              <a:defRPr sz="1500" b="0">
                <a:solidFill>
                  <a:srgbClr val="4D6577"/>
                </a:solidFill>
              </a:defRPr>
            </a:lvl2pPr>
            <a:lvl3pPr>
              <a:defRPr sz="1500" b="0">
                <a:solidFill>
                  <a:srgbClr val="4D6577"/>
                </a:solidFill>
              </a:defRPr>
            </a:lvl3pPr>
            <a:lvl4pPr>
              <a:defRPr sz="1500" b="0">
                <a:solidFill>
                  <a:srgbClr val="4D6577"/>
                </a:solidFill>
              </a:defRPr>
            </a:lvl4pPr>
            <a:lvl5pPr>
              <a:defRPr sz="1500" b="0">
                <a:solidFill>
                  <a:srgbClr val="4D6577"/>
                </a:solidFill>
              </a:defRPr>
            </a:lvl5pPr>
            <a:lvl6pPr>
              <a:defRPr sz="1500" b="0">
                <a:solidFill>
                  <a:srgbClr val="4D6577"/>
                </a:solidFill>
              </a:defRPr>
            </a:lvl6pPr>
            <a:lvl7pPr>
              <a:defRPr sz="1500" b="0">
                <a:solidFill>
                  <a:srgbClr val="4D6577"/>
                </a:solidFill>
              </a:defRPr>
            </a:lvl7pPr>
            <a:lvl8pPr>
              <a:defRPr sz="1500" b="0">
                <a:solidFill>
                  <a:srgbClr val="4D6577"/>
                </a:solidFill>
              </a:defRPr>
            </a:lvl8pPr>
            <a:lvl9pPr>
              <a:defRPr sz="15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577"/>
                </a:solidFill>
              </a:defRPr>
            </a:pPr>
            <a:r>
              <a:rPr sz="1500" b="0">
                <a:solidFill>
                  <a:srgbClr val="4D6577"/>
                </a:solidFill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B939C5-841B-4DEE-A68B-C582A7DB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Role + rules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วิเคราะห์ข้อมูลตามนิยาม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84D792-E353-485A-90F7-CFBCFBE3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09750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Question + evidence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คำถามและหลักฐาน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EEC37F-2745-4329-9F77-5DCCB180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09750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Output schema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JSON ที่ตรวจต่อได้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4A1788-3B43-49AA-9803-9FEF6236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486150"/>
            <a:ext cx="4857750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Qwen 9B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สร้าง SQL ตามบริบทที่ได้รับ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1D9C75-021F-4DC2-88B8-28575653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457700"/>
            <a:ext cx="22860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E12140-E836-410D-ACCC-1F2F2CA6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895850"/>
            <a:ext cx="8096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>
                <a:solidFill>
                  <a:srgbClr val="102B46"/>
                </a:solidFill>
              </a:defRPr>
            </a:defPPr>
            <a:lvl1pPr algn="ctr">
              <a:defRPr sz="2100">
                <a:solidFill>
                  <a:srgbClr val="102B46"/>
                </a:solidFill>
              </a:defRPr>
            </a:lvl1pPr>
            <a:lvl2pPr algn="ctr">
              <a:defRPr sz="2100">
                <a:solidFill>
                  <a:srgbClr val="102B46"/>
                </a:solidFill>
              </a:defRPr>
            </a:lvl2pPr>
            <a:lvl3pPr algn="ctr">
              <a:defRPr sz="2100">
                <a:solidFill>
                  <a:srgbClr val="102B46"/>
                </a:solidFill>
              </a:defRPr>
            </a:lvl3pPr>
            <a:lvl4pPr algn="ctr">
              <a:defRPr sz="2100">
                <a:solidFill>
                  <a:srgbClr val="102B46"/>
                </a:solidFill>
              </a:defRPr>
            </a:lvl4pPr>
            <a:lvl5pPr algn="ctr">
              <a:defRPr sz="2100">
                <a:solidFill>
                  <a:srgbClr val="102B46"/>
                </a:solidFill>
              </a:defRPr>
            </a:lvl5pPr>
            <a:lvl6pPr algn="ctr">
              <a:defRPr sz="2100">
                <a:solidFill>
                  <a:srgbClr val="102B46"/>
                </a:solidFill>
              </a:defRPr>
            </a:lvl6pPr>
            <a:lvl7pPr algn="ctr">
              <a:defRPr sz="2100">
                <a:solidFill>
                  <a:srgbClr val="102B46"/>
                </a:solidFill>
              </a:defRPr>
            </a:lvl7pPr>
            <a:lvl8pPr algn="ctr">
              <a:defRPr sz="2100">
                <a:solidFill>
                  <a:srgbClr val="102B46"/>
                </a:solidFill>
              </a:defRPr>
            </a:lvl8pPr>
            <a:lvl9pPr algn="ctr">
              <a:defRPr sz="21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SQL + explanation + grain + citation IDs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8B3497-054B-406A-B074-E90EF7B5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816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4D6577"/>
                </a:solidFill>
              </a:defRPr>
            </a:defPPr>
            <a:lvl1pPr>
              <a:defRPr sz="1725" b="0">
                <a:solidFill>
                  <a:srgbClr val="4D6577"/>
                </a:solidFill>
              </a:defRPr>
            </a:lvl1pPr>
            <a:lvl2pPr>
              <a:defRPr sz="1725" b="0">
                <a:solidFill>
                  <a:srgbClr val="4D6577"/>
                </a:solidFill>
              </a:defRPr>
            </a:lvl2pPr>
            <a:lvl3pPr>
              <a:defRPr sz="1725" b="0">
                <a:solidFill>
                  <a:srgbClr val="4D6577"/>
                </a:solidFill>
              </a:defRPr>
            </a:lvl3pPr>
            <a:lvl4pPr>
              <a:defRPr sz="1725" b="0">
                <a:solidFill>
                  <a:srgbClr val="4D6577"/>
                </a:solidFill>
              </a:defRPr>
            </a:lvl4pPr>
            <a:lvl5pPr>
              <a:defRPr sz="1725" b="0">
                <a:solidFill>
                  <a:srgbClr val="4D6577"/>
                </a:solidFill>
              </a:defRPr>
            </a:lvl5pPr>
            <a:lvl6pPr>
              <a:defRPr sz="1725" b="0">
                <a:solidFill>
                  <a:srgbClr val="4D6577"/>
                </a:solidFill>
              </a:defRPr>
            </a:lvl6pPr>
            <a:lvl7pPr>
              <a:defRPr sz="1725" b="0">
                <a:solidFill>
                  <a:srgbClr val="4D6577"/>
                </a:solidFill>
              </a:defRPr>
            </a:lvl7pPr>
            <a:lvl8pPr>
              <a:defRPr sz="1725" b="0">
                <a:solidFill>
                  <a:srgbClr val="4D6577"/>
                </a:solidFill>
              </a:defRPr>
            </a:lvl8pPr>
            <a:lvl9pPr>
              <a:defRPr sz="17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รูปแบบถูกต้องเพียงอย่างเดียวยังไม่รับประกันว่าความหมายของคำตอบถูกต้อง</a:t>
            </a:r>
          </a:p>
        </p:txBody>
      </p:sp>
    </p:spTree>
    <p:extLst>
      <p:ext uri="{BB962C8B-B14F-4D97-AF65-F5344CB8AC3E}">
        <p14:creationId xmlns:p14="http://schemas.microsoft.com/office/powerpoint/2010/main" val="18837922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0E652A-FFEB-45D1-8877-4A611474942E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8858250" y="2876550"/>
            <a:ext cx="914400" cy="1128713"/>
          </a:xfrm>
          <a:prstGeom xmlns:a="http://schemas.openxmlformats.org/drawingml/2006/main" prst="bentConnector5">
            <a:avLst>
              <a:gd name="adj1" fmla="val 0"/>
              <a:gd name="adj2" fmla="val 20253"/>
              <a:gd name="adj3" fmla="val 75000"/>
            </a:avLst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762BCB-C4E0-4E85-9587-DDDDE070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RAG: ค้นนิยามก่อนสร้าง SQL ทุกคำถาม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085447-1DE1-4E64-9F0E-56F3BB0C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4D6577"/>
                </a:solidFill>
              </a:defRPr>
            </a:defPPr>
            <a:lvl1pPr>
              <a:defRPr sz="1800" b="0">
                <a:solidFill>
                  <a:srgbClr val="4D6577"/>
                </a:solidFill>
              </a:defRPr>
            </a:lvl1pPr>
            <a:lvl2pPr>
              <a:defRPr sz="1800" b="0">
                <a:solidFill>
                  <a:srgbClr val="4D6577"/>
                </a:solidFill>
              </a:defRPr>
            </a:lvl2pPr>
            <a:lvl3pPr>
              <a:defRPr sz="1800" b="0">
                <a:solidFill>
                  <a:srgbClr val="4D6577"/>
                </a:solidFill>
              </a:defRPr>
            </a:lvl3pPr>
            <a:lvl4pPr>
              <a:defRPr sz="1800" b="0">
                <a:solidFill>
                  <a:srgbClr val="4D6577"/>
                </a:solidFill>
              </a:defRPr>
            </a:lvl4pPr>
            <a:lvl5pPr>
              <a:defRPr sz="1800" b="0">
                <a:solidFill>
                  <a:srgbClr val="4D6577"/>
                </a:solidFill>
              </a:defRPr>
            </a:lvl5pPr>
            <a:lvl6pPr>
              <a:defRPr sz="1800" b="0">
                <a:solidFill>
                  <a:srgbClr val="4D6577"/>
                </a:solidFill>
              </a:defRPr>
            </a:lvl6pPr>
            <a:lvl7pPr>
              <a:defRPr sz="1800" b="0">
                <a:solidFill>
                  <a:srgbClr val="4D6577"/>
                </a:solidFill>
              </a:defRPr>
            </a:lvl7pPr>
            <a:lvl8pPr>
              <a:defRPr sz="1800" b="0">
                <a:solidFill>
                  <a:srgbClr val="4D6577"/>
                </a:solidFill>
              </a:defRPr>
            </a:lvl8pPr>
            <a:lvl9pPr>
              <a:defRPr sz="18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577"/>
                </a:solidFill>
              </a:defRPr>
            </a:pPr>
            <a:r>
              <a:rPr sz="1800" b="0">
                <a:solidFill>
                  <a:srgbClr val="4D6577"/>
                </a:solidFill>
              </a:rPr>
              <a:t>BM25 และคำศัพท์ไทย/อังกฤษ ทำงานบน knowledge corpus ขนาดเล็ก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14F11D-77F9-4240-80FD-6FC9184E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D6577"/>
                </a:solidFill>
              </a:defRPr>
            </a:defPPr>
            <a:lvl1pPr>
              <a:defRPr sz="1500" b="0">
                <a:solidFill>
                  <a:srgbClr val="4D6577"/>
                </a:solidFill>
              </a:defRPr>
            </a:lvl1pPr>
            <a:lvl2pPr>
              <a:defRPr sz="1500" b="0">
                <a:solidFill>
                  <a:srgbClr val="4D6577"/>
                </a:solidFill>
              </a:defRPr>
            </a:lvl2pPr>
            <a:lvl3pPr>
              <a:defRPr sz="1500" b="0">
                <a:solidFill>
                  <a:srgbClr val="4D6577"/>
                </a:solidFill>
              </a:defRPr>
            </a:lvl3pPr>
            <a:lvl4pPr>
              <a:defRPr sz="1500" b="0">
                <a:solidFill>
                  <a:srgbClr val="4D6577"/>
                </a:solidFill>
              </a:defRPr>
            </a:lvl4pPr>
            <a:lvl5pPr>
              <a:defRPr sz="1500" b="0">
                <a:solidFill>
                  <a:srgbClr val="4D6577"/>
                </a:solidFill>
              </a:defRPr>
            </a:lvl5pPr>
            <a:lvl6pPr>
              <a:defRPr sz="1500" b="0">
                <a:solidFill>
                  <a:srgbClr val="4D6577"/>
                </a:solidFill>
              </a:defRPr>
            </a:lvl6pPr>
            <a:lvl7pPr>
              <a:defRPr sz="1500" b="0">
                <a:solidFill>
                  <a:srgbClr val="4D6577"/>
                </a:solidFill>
              </a:defRPr>
            </a:lvl7pPr>
            <a:lvl8pPr>
              <a:defRPr sz="1500" b="0">
                <a:solidFill>
                  <a:srgbClr val="4D6577"/>
                </a:solidFill>
              </a:defRPr>
            </a:lvl8pPr>
            <a:lvl9pPr>
              <a:defRPr sz="15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577"/>
                </a:solidFill>
              </a:defRPr>
            </a:pPr>
            <a:r>
              <a:rPr sz="1500" b="0">
                <a:solidFill>
                  <a:srgbClr val="4D6577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FA507D-23A4-4F8A-96DF-163AB624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คำถาม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“ลูกค้าซื้อซ้ำ”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24D531-C182-468E-913F-6BCA22FF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219325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8DF909-4ECA-4206-A945-9FBB604D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09750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ขยายคำค้น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metric / schema / syntax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063DB3-D617-4680-8F07-D786BD79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219325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E17A5F-FBF5-47D0-B384-10C93D29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09750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จัดอันดับ BM25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เลือก top 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D9F7B1-E628-4BB4-ADF8-2BAD2B73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14725"/>
            <a:ext cx="5524500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เพิ่ม global policies ที่จำเป็น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ประกอบ evidence พร้อม section IDs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C6BC06-B22B-49AD-8FC2-72F8EFDA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600575"/>
            <a:ext cx="22860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075BDA-75FE-498D-AE48-3212E98F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10150"/>
            <a:ext cx="7048500" cy="542925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ส่งหลักฐานเข้า prompt เพื่อสร้าง SQL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CBA4BF-6A20-4E53-87BC-428231D4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816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4D6577"/>
                </a:solidFill>
              </a:defRPr>
            </a:defPPr>
            <a:lvl1pPr>
              <a:defRPr sz="1725" b="0">
                <a:solidFill>
                  <a:srgbClr val="4D6577"/>
                </a:solidFill>
              </a:defRPr>
            </a:lvl1pPr>
            <a:lvl2pPr>
              <a:defRPr sz="1725" b="0">
                <a:solidFill>
                  <a:srgbClr val="4D6577"/>
                </a:solidFill>
              </a:defRPr>
            </a:lvl2pPr>
            <a:lvl3pPr>
              <a:defRPr sz="1725" b="0">
                <a:solidFill>
                  <a:srgbClr val="4D6577"/>
                </a:solidFill>
              </a:defRPr>
            </a:lvl3pPr>
            <a:lvl4pPr>
              <a:defRPr sz="1725" b="0">
                <a:solidFill>
                  <a:srgbClr val="4D6577"/>
                </a:solidFill>
              </a:defRPr>
            </a:lvl4pPr>
            <a:lvl5pPr>
              <a:defRPr sz="1725" b="0">
                <a:solidFill>
                  <a:srgbClr val="4D6577"/>
                </a:solidFill>
              </a:defRPr>
            </a:lvl5pPr>
            <a:lvl6pPr>
              <a:defRPr sz="1725" b="0">
                <a:solidFill>
                  <a:srgbClr val="4D6577"/>
                </a:solidFill>
              </a:defRPr>
            </a:lvl6pPr>
            <a:lvl7pPr>
              <a:defRPr sz="1725" b="0">
                <a:solidFill>
                  <a:srgbClr val="4D6577"/>
                </a:solidFill>
              </a:defRPr>
            </a:lvl7pPr>
            <a:lvl8pPr>
              <a:defRPr sz="1725" b="0">
                <a:solidFill>
                  <a:srgbClr val="4D6577"/>
                </a:solidFill>
              </a:defRPr>
            </a:lvl8pPr>
            <a:lvl9pPr>
              <a:defRPr sz="17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Atomic section = หนึ่งหัวข้อความรู้ที่อ้างอิงได้ มี ID เช่น metric.orders</a:t>
            </a:r>
          </a:p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มี 20 หัวข้อ • ค้นด้วย BM25 และคำไทย/อังกฤษ • ontology ช่วยเติมนิยามที่เกี่ยวข้อง</a:t>
            </a:r>
          </a:p>
        </p:txBody>
      </p:sp>
    </p:spTree>
    <p:extLst>
      <p:ext uri="{BB962C8B-B14F-4D97-AF65-F5344CB8AC3E}">
        <p14:creationId xmlns:p14="http://schemas.microsoft.com/office/powerpoint/2010/main" val="4282598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22D85D-FF87-4F4D-A06B-BC3474F2A201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691063" y="3114675"/>
            <a:ext cx="1452563" cy="7429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37C68"/>
            </a:solidFill>
            <a:tailEnd type="arrow" w="med" len="med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DF59E0-277C-4E25-B0CE-6804CE183C25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905500" y="25812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C68"/>
            </a:solidFill>
            <a:tailEnd type="arrow" w="med" len="med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589BAC-73C7-406A-AB36-8F8D0AE1FC62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000375" y="25812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C68"/>
            </a:solidFill>
            <a:tailEnd type="arrow" w="med" len="me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1C1998-A462-4433-A9D3-32EC4084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Ontology: แผนที่ความหมายที่คอมพิวเตอร์อ่านได้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752249-66C5-4A3C-894C-A27967F7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มีกราฟ RDF/OWL สำหรับ 9 metrics และ 3 ตาราง พร้อมตัวตรวจ SHACL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6E7632-2C00-46E1-A0E2-FB595CEC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B46"/>
                </a:solidFill>
              </a:defRPr>
            </a:defPPr>
            <a:lvl1pPr>
              <a:defRPr sz="1500" b="0">
                <a:solidFill>
                  <a:srgbClr val="102B46"/>
                </a:solidFill>
              </a:defRPr>
            </a:lvl1pPr>
            <a:lvl2pPr>
              <a:defRPr sz="1500" b="0">
                <a:solidFill>
                  <a:srgbClr val="102B46"/>
                </a:solidFill>
              </a:defRPr>
            </a:lvl2pPr>
            <a:lvl3pPr>
              <a:defRPr sz="1500" b="0">
                <a:solidFill>
                  <a:srgbClr val="102B46"/>
                </a:solidFill>
              </a:defRPr>
            </a:lvl3pPr>
            <a:lvl4pPr>
              <a:defRPr sz="1500" b="0">
                <a:solidFill>
                  <a:srgbClr val="102B46"/>
                </a:solidFill>
              </a:defRPr>
            </a:lvl4pPr>
            <a:lvl5pPr>
              <a:defRPr sz="1500" b="0">
                <a:solidFill>
                  <a:srgbClr val="102B46"/>
                </a:solidFill>
              </a:defRPr>
            </a:lvl5pPr>
            <a:lvl6pPr>
              <a:defRPr sz="1500" b="0">
                <a:solidFill>
                  <a:srgbClr val="102B46"/>
                </a:solidFill>
              </a:defRPr>
            </a:lvl6pPr>
            <a:lvl7pPr>
              <a:defRPr sz="1500" b="0">
                <a:solidFill>
                  <a:srgbClr val="102B46"/>
                </a:solidFill>
              </a:defRPr>
            </a:lvl7pPr>
            <a:lvl8pPr>
              <a:defRPr sz="1500" b="0">
                <a:solidFill>
                  <a:srgbClr val="102B46"/>
                </a:solidFill>
              </a:defRPr>
            </a:lvl8pPr>
            <a:lvl9pPr>
              <a:defRPr sz="15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B46"/>
                </a:solidFill>
              </a:defRPr>
            </a:pPr>
            <a:r>
              <a:rPr sz="1500" b="0">
                <a:solidFill>
                  <a:srgbClr val="102B46"/>
                </a:solidFill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1D9602-9A3F-4912-B9FB-64C10FE5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24288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02B46"/>
                </a:solidFill>
              </a:defRPr>
            </a:defPPr>
            <a:lvl1pPr algn="ctr">
              <a:defRPr sz="1950">
                <a:solidFill>
                  <a:srgbClr val="102B46"/>
                </a:solidFill>
              </a:defRPr>
            </a:lvl1pPr>
            <a:lvl2pPr algn="ctr">
              <a:defRPr sz="1950">
                <a:solidFill>
                  <a:srgbClr val="102B46"/>
                </a:solidFill>
              </a:defRPr>
            </a:lvl2pPr>
            <a:lvl3pPr algn="ctr">
              <a:defRPr sz="1950">
                <a:solidFill>
                  <a:srgbClr val="102B46"/>
                </a:solidFill>
              </a:defRPr>
            </a:lvl3pPr>
            <a:lvl4pPr algn="ctr">
              <a:defRPr sz="1950">
                <a:solidFill>
                  <a:srgbClr val="102B46"/>
                </a:solidFill>
              </a:defRPr>
            </a:lvl4pPr>
            <a:lvl5pPr algn="ctr">
              <a:defRPr sz="1950">
                <a:solidFill>
                  <a:srgbClr val="102B46"/>
                </a:solidFill>
              </a:defRPr>
            </a:lvl5pPr>
            <a:lvl6pPr algn="ctr">
              <a:defRPr sz="1950">
                <a:solidFill>
                  <a:srgbClr val="102B46"/>
                </a:solidFill>
              </a:defRPr>
            </a:lvl6pPr>
            <a:lvl7pPr algn="ctr">
              <a:defRPr sz="1950">
                <a:solidFill>
                  <a:srgbClr val="102B46"/>
                </a:solidFill>
              </a:defRPr>
            </a:lvl7pPr>
            <a:lvl8pPr algn="ctr">
              <a:defRPr sz="1950">
                <a:solidFill>
                  <a:srgbClr val="102B46"/>
                </a:solidFill>
              </a:defRPr>
            </a:lvl8pPr>
            <a:lvl9pPr algn="ctr">
              <a:defRPr sz="195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คำธุรกิจ</a:t>
            </a:r>
          </a:p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“จำนวนคำสั่งซื้อ”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EBB24B-1310-4E88-9CBF-AD2CE3A5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47875"/>
            <a:ext cx="24288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02B46"/>
                </a:solidFill>
              </a:defRPr>
            </a:defPPr>
            <a:lvl1pPr algn="ctr">
              <a:defRPr sz="1950">
                <a:solidFill>
                  <a:srgbClr val="102B46"/>
                </a:solidFill>
              </a:defRPr>
            </a:lvl1pPr>
            <a:lvl2pPr algn="ctr">
              <a:defRPr sz="1950">
                <a:solidFill>
                  <a:srgbClr val="102B46"/>
                </a:solidFill>
              </a:defRPr>
            </a:lvl2pPr>
            <a:lvl3pPr algn="ctr">
              <a:defRPr sz="1950">
                <a:solidFill>
                  <a:srgbClr val="102B46"/>
                </a:solidFill>
              </a:defRPr>
            </a:lvl3pPr>
            <a:lvl4pPr algn="ctr">
              <a:defRPr sz="1950">
                <a:solidFill>
                  <a:srgbClr val="102B46"/>
                </a:solidFill>
              </a:defRPr>
            </a:lvl4pPr>
            <a:lvl5pPr algn="ctr">
              <a:defRPr sz="1950">
                <a:solidFill>
                  <a:srgbClr val="102B46"/>
                </a:solidFill>
              </a:defRPr>
            </a:lvl5pPr>
            <a:lvl6pPr algn="ctr">
              <a:defRPr sz="1950">
                <a:solidFill>
                  <a:srgbClr val="102B46"/>
                </a:solidFill>
              </a:defRPr>
            </a:lvl6pPr>
            <a:lvl7pPr algn="ctr">
              <a:defRPr sz="1950">
                <a:solidFill>
                  <a:srgbClr val="102B46"/>
                </a:solidFill>
              </a:defRPr>
            </a:lvl7pPr>
            <a:lvl8pPr algn="ctr">
              <a:defRPr sz="1950">
                <a:solidFill>
                  <a:srgbClr val="102B46"/>
                </a:solidFill>
              </a:defRPr>
            </a:lvl8pPr>
            <a:lvl9pPr algn="ctr">
              <a:defRPr sz="195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Metric</a:t>
            </a:r>
          </a:p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invoice count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36AC60-018F-4791-A062-899855ED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47875"/>
            <a:ext cx="24288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02B46"/>
                </a:solidFill>
              </a:defRPr>
            </a:defPPr>
            <a:lvl1pPr algn="ctr">
              <a:defRPr sz="1950">
                <a:solidFill>
                  <a:srgbClr val="102B46"/>
                </a:solidFill>
              </a:defRPr>
            </a:lvl1pPr>
            <a:lvl2pPr algn="ctr">
              <a:defRPr sz="1950">
                <a:solidFill>
                  <a:srgbClr val="102B46"/>
                </a:solidFill>
              </a:defRPr>
            </a:lvl2pPr>
            <a:lvl3pPr algn="ctr">
              <a:defRPr sz="1950">
                <a:solidFill>
                  <a:srgbClr val="102B46"/>
                </a:solidFill>
              </a:defRPr>
            </a:lvl3pPr>
            <a:lvl4pPr algn="ctr">
              <a:defRPr sz="1950">
                <a:solidFill>
                  <a:srgbClr val="102B46"/>
                </a:solidFill>
              </a:defRPr>
            </a:lvl4pPr>
            <a:lvl5pPr algn="ctr">
              <a:defRPr sz="1950">
                <a:solidFill>
                  <a:srgbClr val="102B46"/>
                </a:solidFill>
              </a:defRPr>
            </a:lvl5pPr>
            <a:lvl6pPr algn="ctr">
              <a:defRPr sz="1950">
                <a:solidFill>
                  <a:srgbClr val="102B46"/>
                </a:solidFill>
              </a:defRPr>
            </a:lvl6pPr>
            <a:lvl7pPr algn="ctr">
              <a:defRPr sz="1950">
                <a:solidFill>
                  <a:srgbClr val="102B46"/>
                </a:solidFill>
              </a:defRPr>
            </a:lvl7pPr>
            <a:lvl8pPr algn="ctr">
              <a:defRPr sz="1950">
                <a:solidFill>
                  <a:srgbClr val="102B46"/>
                </a:solidFill>
              </a:defRPr>
            </a:lvl8pPr>
            <a:lvl9pPr algn="ctr">
              <a:defRPr sz="195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สูตรคำนวณ</a:t>
            </a:r>
          </a:p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COUNT(*)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D41842-2AC9-4B56-BA22-792F3FCB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57625"/>
            <a:ext cx="5334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02B46"/>
                </a:solidFill>
              </a:defRPr>
            </a:defPPr>
            <a:lvl1pPr algn="ctr">
              <a:defRPr sz="1950">
                <a:solidFill>
                  <a:srgbClr val="102B46"/>
                </a:solidFill>
              </a:defRPr>
            </a:lvl1pPr>
            <a:lvl2pPr algn="ctr">
              <a:defRPr sz="1950">
                <a:solidFill>
                  <a:srgbClr val="102B46"/>
                </a:solidFill>
              </a:defRPr>
            </a:lvl2pPr>
            <a:lvl3pPr algn="ctr">
              <a:defRPr sz="1950">
                <a:solidFill>
                  <a:srgbClr val="102B46"/>
                </a:solidFill>
              </a:defRPr>
            </a:lvl3pPr>
            <a:lvl4pPr algn="ctr">
              <a:defRPr sz="1950">
                <a:solidFill>
                  <a:srgbClr val="102B46"/>
                </a:solidFill>
              </a:defRPr>
            </a:lvl4pPr>
            <a:lvl5pPr algn="ctr">
              <a:defRPr sz="1950">
                <a:solidFill>
                  <a:srgbClr val="102B46"/>
                </a:solidFill>
              </a:defRPr>
            </a:lvl5pPr>
            <a:lvl6pPr algn="ctr">
              <a:defRPr sz="1950">
                <a:solidFill>
                  <a:srgbClr val="102B46"/>
                </a:solidFill>
              </a:defRPr>
            </a:lvl6pPr>
            <a:lvl7pPr algn="ctr">
              <a:defRPr sz="1950">
                <a:solidFill>
                  <a:srgbClr val="102B46"/>
                </a:solidFill>
              </a:defRPr>
            </a:lvl7pPr>
            <a:lvl8pPr algn="ctr">
              <a:defRPr sz="1950">
                <a:solidFill>
                  <a:srgbClr val="102B46"/>
                </a:solidFill>
              </a:defRPr>
            </a:lvl8pPr>
            <a:lvl9pPr algn="ctr">
              <a:defRPr sz="195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ตาราง orders</a:t>
            </a:r>
          </a:p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หนึ่งแถว = หนึ่ง invoice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449AE5-EDDB-4D5B-8498-1AC03842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RAG ใช้ความสัมพันธ์นี้ดึง metric.orders และ schema.orders</a:t>
            </a:r>
          </a:p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SHACL ตรวจว่าทุก metric มีตาราง สูตร และระดับข้อมูลครบ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12794F-71B9-473B-B62B-2A0C4EE8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Ontology = แผนที่คำศัพท์และความสัมพันธ์ • SHACL = กฎตรวจโครงสร้างกราฟ</a:t>
            </a:r>
          </a:p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ครอบคลุมโดเมนของโปรเจกต์นี้ ยังไม่ใช่ระบบจับคู่ฐานข้อมูลทุกองค์กรอัตโนมัติ</a:t>
            </a:r>
          </a:p>
        </p:txBody>
      </p:sp>
    </p:spTree>
    <p:extLst>
      <p:ext uri="{BB962C8B-B14F-4D97-AF65-F5344CB8AC3E}">
        <p14:creationId xmlns:p14="http://schemas.microsoft.com/office/powerpoint/2010/main" val="7857621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CE3C6A-4345-4629-AF28-40468C8B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Context engineering: เลือกสิ่งที่โมเดลเห็น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A006CD-F192-4A55-A6CD-53B52B67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4D6577"/>
                </a:solidFill>
              </a:defRPr>
            </a:defPPr>
            <a:lvl1pPr>
              <a:defRPr sz="1800" b="0">
                <a:solidFill>
                  <a:srgbClr val="4D6577"/>
                </a:solidFill>
              </a:defRPr>
            </a:lvl1pPr>
            <a:lvl2pPr>
              <a:defRPr sz="1800" b="0">
                <a:solidFill>
                  <a:srgbClr val="4D6577"/>
                </a:solidFill>
              </a:defRPr>
            </a:lvl2pPr>
            <a:lvl3pPr>
              <a:defRPr sz="1800" b="0">
                <a:solidFill>
                  <a:srgbClr val="4D6577"/>
                </a:solidFill>
              </a:defRPr>
            </a:lvl3pPr>
            <a:lvl4pPr>
              <a:defRPr sz="1800" b="0">
                <a:solidFill>
                  <a:srgbClr val="4D6577"/>
                </a:solidFill>
              </a:defRPr>
            </a:lvl4pPr>
            <a:lvl5pPr>
              <a:defRPr sz="1800" b="0">
                <a:solidFill>
                  <a:srgbClr val="4D6577"/>
                </a:solidFill>
              </a:defRPr>
            </a:lvl5pPr>
            <a:lvl6pPr>
              <a:defRPr sz="1800" b="0">
                <a:solidFill>
                  <a:srgbClr val="4D6577"/>
                </a:solidFill>
              </a:defRPr>
            </a:lvl6pPr>
            <a:lvl7pPr>
              <a:defRPr sz="1800" b="0">
                <a:solidFill>
                  <a:srgbClr val="4D6577"/>
                </a:solidFill>
              </a:defRPr>
            </a:lvl7pPr>
            <a:lvl8pPr>
              <a:defRPr sz="1800" b="0">
                <a:solidFill>
                  <a:srgbClr val="4D6577"/>
                </a:solidFill>
              </a:defRPr>
            </a:lvl8pPr>
            <a:lvl9pPr>
              <a:defRPr sz="18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577"/>
                </a:solidFill>
              </a:defRPr>
            </a:pPr>
            <a:r>
              <a:rPr sz="1800" b="0">
                <a:solidFill>
                  <a:srgbClr val="4D6577"/>
                </a:solidFill>
              </a:rPr>
              <a:t>รักษาหลักฐานที่เลือกไว้ และลดสิ่งที่สะสมระหว่างการแก้ SQL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69FAE5-7F51-4C72-8405-FE71947F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D6577"/>
                </a:solidFill>
              </a:defRPr>
            </a:defPPr>
            <a:lvl1pPr>
              <a:defRPr sz="1500" b="0">
                <a:solidFill>
                  <a:srgbClr val="4D6577"/>
                </a:solidFill>
              </a:defRPr>
            </a:lvl1pPr>
            <a:lvl2pPr>
              <a:defRPr sz="1500" b="0">
                <a:solidFill>
                  <a:srgbClr val="4D6577"/>
                </a:solidFill>
              </a:defRPr>
            </a:lvl2pPr>
            <a:lvl3pPr>
              <a:defRPr sz="1500" b="0">
                <a:solidFill>
                  <a:srgbClr val="4D6577"/>
                </a:solidFill>
              </a:defRPr>
            </a:lvl3pPr>
            <a:lvl4pPr>
              <a:defRPr sz="1500" b="0">
                <a:solidFill>
                  <a:srgbClr val="4D6577"/>
                </a:solidFill>
              </a:defRPr>
            </a:lvl4pPr>
            <a:lvl5pPr>
              <a:defRPr sz="1500" b="0">
                <a:solidFill>
                  <a:srgbClr val="4D6577"/>
                </a:solidFill>
              </a:defRPr>
            </a:lvl5pPr>
            <a:lvl6pPr>
              <a:defRPr sz="1500" b="0">
                <a:solidFill>
                  <a:srgbClr val="4D6577"/>
                </a:solidFill>
              </a:defRPr>
            </a:lvl6pPr>
            <a:lvl7pPr>
              <a:defRPr sz="1500" b="0">
                <a:solidFill>
                  <a:srgbClr val="4D6577"/>
                </a:solidFill>
              </a:defRPr>
            </a:lvl7pPr>
            <a:lvl8pPr>
              <a:defRPr sz="1500" b="0">
                <a:solidFill>
                  <a:srgbClr val="4D6577"/>
                </a:solidFill>
              </a:defRPr>
            </a:lvl8pPr>
            <a:lvl9pPr>
              <a:defRPr sz="15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577"/>
                </a:solidFill>
              </a:defRPr>
            </a:pPr>
            <a:r>
              <a:rPr sz="1500" b="0">
                <a:solidFill>
                  <a:srgbClr val="4D6577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D326D6-4E6C-41F1-9D11-DBBE4CE8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2857500" cy="1590675"/>
          </a:xfrm>
          <a:prstGeom xmlns:a="http://schemas.openxmlformats.org/drawingml/2006/main" prst="roundRect">
            <a:avLst>
              <a:gd name="adj" fmla="val 4790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>
                <a:solidFill>
                  <a:srgbClr val="102B46"/>
                </a:solidFill>
              </a:defRPr>
            </a:defPPr>
            <a:lvl1pPr algn="ctr">
              <a:defRPr sz="2100">
                <a:solidFill>
                  <a:srgbClr val="102B46"/>
                </a:solidFill>
              </a:defRPr>
            </a:lvl1pPr>
            <a:lvl2pPr algn="ctr">
              <a:defRPr sz="2100">
                <a:solidFill>
                  <a:srgbClr val="102B46"/>
                </a:solidFill>
              </a:defRPr>
            </a:lvl2pPr>
            <a:lvl3pPr algn="ctr">
              <a:defRPr sz="2100">
                <a:solidFill>
                  <a:srgbClr val="102B46"/>
                </a:solidFill>
              </a:defRPr>
            </a:lvl3pPr>
            <a:lvl4pPr algn="ctr">
              <a:defRPr sz="2100">
                <a:solidFill>
                  <a:srgbClr val="102B46"/>
                </a:solidFill>
              </a:defRPr>
            </a:lvl4pPr>
            <a:lvl5pPr algn="ctr">
              <a:defRPr sz="2100">
                <a:solidFill>
                  <a:srgbClr val="102B46"/>
                </a:solidFill>
              </a:defRPr>
            </a:lvl5pPr>
            <a:lvl6pPr algn="ctr">
              <a:defRPr sz="2100">
                <a:solidFill>
                  <a:srgbClr val="102B46"/>
                </a:solidFill>
              </a:defRPr>
            </a:lvl6pPr>
            <a:lvl7pPr algn="ctr">
              <a:defRPr sz="2100">
                <a:solidFill>
                  <a:srgbClr val="102B46"/>
                </a:solidFill>
              </a:defRPr>
            </a:lvl7pPr>
            <a:lvl8pPr algn="ctr">
              <a:defRPr sz="2100">
                <a:solidFill>
                  <a:srgbClr val="102B46"/>
                </a:solidFill>
              </a:defRPr>
            </a:lvl8pPr>
            <a:lvl9pPr algn="ctr">
              <a:defRPr sz="21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Inputs</a:t>
            </a:r>
          </a:p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คำถาม + evidence</a:t>
            </a:r>
          </a:p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optional background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ABCABD-41CC-4F07-A7D0-F12D8E00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62225"/>
            <a:ext cx="4286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7D4B91-768B-4510-AF50-6AA86E70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905000"/>
            <a:ext cx="3762375" cy="1590675"/>
          </a:xfrm>
          <a:prstGeom xmlns:a="http://schemas.openxmlformats.org/drawingml/2006/main" prst="roundRect">
            <a:avLst>
              <a:gd name="adj" fmla="val 4790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Context curator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ตัด background ที่ระบุว่าไม่จำเป็น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รวมหลักฐานซ้ำ ตรวจ ID ขัดแย้ง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93D97D-D910-4C46-A64F-4F88A424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562225"/>
            <a:ext cx="4286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42F935-E909-4F51-BDDB-AE0499A4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905000"/>
            <a:ext cx="2809875" cy="1590675"/>
          </a:xfrm>
          <a:prstGeom xmlns:a="http://schemas.openxmlformats.org/drawingml/2006/main" prst="roundRect">
            <a:avLst>
              <a:gd name="adj" fmla="val 4790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>
                <a:solidFill>
                  <a:srgbClr val="102B46"/>
                </a:solidFill>
              </a:defRPr>
            </a:defPPr>
            <a:lvl1pPr algn="ctr">
              <a:defRPr sz="2025">
                <a:solidFill>
                  <a:srgbClr val="102B46"/>
                </a:solidFill>
              </a:defRPr>
            </a:lvl1pPr>
            <a:lvl2pPr algn="ctr">
              <a:defRPr sz="2025">
                <a:solidFill>
                  <a:srgbClr val="102B46"/>
                </a:solidFill>
              </a:defRPr>
            </a:lvl2pPr>
            <a:lvl3pPr algn="ctr">
              <a:defRPr sz="2025">
                <a:solidFill>
                  <a:srgbClr val="102B46"/>
                </a:solidFill>
              </a:defRPr>
            </a:lvl3pPr>
            <a:lvl4pPr algn="ctr">
              <a:defRPr sz="2025">
                <a:solidFill>
                  <a:srgbClr val="102B46"/>
                </a:solidFill>
              </a:defRPr>
            </a:lvl4pPr>
            <a:lvl5pPr algn="ctr">
              <a:defRPr sz="2025">
                <a:solidFill>
                  <a:srgbClr val="102B46"/>
                </a:solidFill>
              </a:defRPr>
            </a:lvl5pPr>
            <a:lvl6pPr algn="ctr">
              <a:defRPr sz="2025">
                <a:solidFill>
                  <a:srgbClr val="102B46"/>
                </a:solidFill>
              </a:defRPr>
            </a:lvl6pPr>
            <a:lvl7pPr algn="ctr">
              <a:defRPr sz="2025">
                <a:solidFill>
                  <a:srgbClr val="102B46"/>
                </a:solidFill>
              </a:defRPr>
            </a:lvl7pPr>
            <a:lvl8pPr algn="ctr">
              <a:defRPr sz="2025">
                <a:solidFill>
                  <a:srgbClr val="102B46"/>
                </a:solidFill>
              </a:defRPr>
            </a:lvl8pPr>
            <a:lvl9pPr algn="ctr">
              <a:defRPr sz="202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Model input</a:t>
            </a:r>
          </a:p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หลักฐานเดิมครบ</a:t>
            </a:r>
          </a:p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สถานะซ่อมล่าสุด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B639AC-4466-4443-97C4-E483010C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38600"/>
            <a:ext cx="10287000" cy="1304925"/>
          </a:xfrm>
          <a:prstGeom xmlns:a="http://schemas.openxmlformats.org/drawingml/2006/main" prst="roundRect">
            <a:avLst>
              <a:gd name="adj" fmla="val 5839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02B46"/>
                </a:solidFill>
              </a:defRPr>
            </a:defPPr>
            <a:lvl1pPr algn="ctr">
              <a:defRPr sz="1950">
                <a:solidFill>
                  <a:srgbClr val="102B46"/>
                </a:solidFill>
              </a:defRPr>
            </a:lvl1pPr>
            <a:lvl2pPr algn="ctr">
              <a:defRPr sz="1950">
                <a:solidFill>
                  <a:srgbClr val="102B46"/>
                </a:solidFill>
              </a:defRPr>
            </a:lvl2pPr>
            <a:lvl3pPr algn="ctr">
              <a:defRPr sz="1950">
                <a:solidFill>
                  <a:srgbClr val="102B46"/>
                </a:solidFill>
              </a:defRPr>
            </a:lvl3pPr>
            <a:lvl4pPr algn="ctr">
              <a:defRPr sz="1950">
                <a:solidFill>
                  <a:srgbClr val="102B46"/>
                </a:solidFill>
              </a:defRPr>
            </a:lvl4pPr>
            <a:lvl5pPr algn="ctr">
              <a:defRPr sz="1950">
                <a:solidFill>
                  <a:srgbClr val="102B46"/>
                </a:solidFill>
              </a:defRPr>
            </a:lvl5pPr>
            <a:lvl6pPr algn="ctr">
              <a:defRPr sz="1950">
                <a:solidFill>
                  <a:srgbClr val="102B46"/>
                </a:solidFill>
              </a:defRPr>
            </a:lvl6pPr>
            <a:lvl7pPr algn="ctr">
              <a:defRPr sz="1950">
                <a:solidFill>
                  <a:srgbClr val="102B46"/>
                </a:solidFill>
              </a:defRPr>
            </a:lvl7pPr>
            <a:lvl8pPr algn="ctr">
              <a:defRPr sz="1950">
                <a:solidFill>
                  <a:srgbClr val="102B46"/>
                </a:solidFill>
              </a:defRPr>
            </a:lvl8pPr>
            <a:lvl9pPr algn="ctr">
              <a:defRPr sz="195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Repair memory</a:t>
            </a:r>
          </a:p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คำถาม/หลักฐานเดิม + SQL/citations ล่าสุด + error บรรทัดแรก</a:t>
            </a:r>
          </a:p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ไม่สะสมคำอธิบายเก่าหรือ Spark plan ทั้งก้อน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C55F35-B804-4F2C-87C7-240D90D1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816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4D6577"/>
                </a:solidFill>
              </a:defRPr>
            </a:defPPr>
            <a:lvl1pPr>
              <a:defRPr sz="1725" b="0">
                <a:solidFill>
                  <a:srgbClr val="4D6577"/>
                </a:solidFill>
              </a:defRPr>
            </a:lvl1pPr>
            <a:lvl2pPr>
              <a:defRPr sz="1725" b="0">
                <a:solidFill>
                  <a:srgbClr val="4D6577"/>
                </a:solidFill>
              </a:defRPr>
            </a:lvl2pPr>
            <a:lvl3pPr>
              <a:defRPr sz="1725" b="0">
                <a:solidFill>
                  <a:srgbClr val="4D6577"/>
                </a:solidFill>
              </a:defRPr>
            </a:lvl3pPr>
            <a:lvl4pPr>
              <a:defRPr sz="1725" b="0">
                <a:solidFill>
                  <a:srgbClr val="4D6577"/>
                </a:solidFill>
              </a:defRPr>
            </a:lvl4pPr>
            <a:lvl5pPr>
              <a:defRPr sz="1725" b="0">
                <a:solidFill>
                  <a:srgbClr val="4D6577"/>
                </a:solidFill>
              </a:defRPr>
            </a:lvl5pPr>
            <a:lvl6pPr>
              <a:defRPr sz="1725" b="0">
                <a:solidFill>
                  <a:srgbClr val="4D6577"/>
                </a:solidFill>
              </a:defRPr>
            </a:lvl6pPr>
            <a:lvl7pPr>
              <a:defRPr sz="1725" b="0">
                <a:solidFill>
                  <a:srgbClr val="4D6577"/>
                </a:solidFill>
              </a:defRPr>
            </a:lvl7pPr>
            <a:lvl8pPr>
              <a:defRPr sz="1725" b="0">
                <a:solidFill>
                  <a:srgbClr val="4D6577"/>
                </a:solidFill>
              </a:defRPr>
            </a:lvl8pPr>
            <a:lvl9pPr>
              <a:defRPr sz="17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Input budget ประมาณ 6,000 tokens ใน window 8,192 • เก็บ token usage จริงหลังเรียก Ollama</a:t>
            </a:r>
          </a:p>
        </p:txBody>
      </p:sp>
    </p:spTree>
    <p:extLst>
      <p:ext uri="{BB962C8B-B14F-4D97-AF65-F5344CB8AC3E}">
        <p14:creationId xmlns:p14="http://schemas.microsoft.com/office/powerpoint/2010/main" val="11956454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FBFC1B-D0BF-4E0C-9C4E-3844A0F3E46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810250" y="27813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C68"/>
            </a:solidFill>
            <a:tailEnd type="arrow" w="med" len="me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4D40B2-F627-46FD-8C7A-01F426D2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จุดตรวจ SQL และผลลัพธ์ด้วย OPA/Rego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AD49B4-BE26-4240-A01A-0B351C51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OPA ตัดสินอนุญาตหรือปฏิเสธ ส่วน Python บังคับใช้คำตัดสิน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B3AAD1-4CF6-4246-9E1B-A8F5DE9F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B46"/>
                </a:solidFill>
              </a:defRPr>
            </a:defPPr>
            <a:lvl1pPr>
              <a:defRPr sz="1500" b="0">
                <a:solidFill>
                  <a:srgbClr val="102B46"/>
                </a:solidFill>
              </a:defRPr>
            </a:lvl1pPr>
            <a:lvl2pPr>
              <a:defRPr sz="1500" b="0">
                <a:solidFill>
                  <a:srgbClr val="102B46"/>
                </a:solidFill>
              </a:defRPr>
            </a:lvl2pPr>
            <a:lvl3pPr>
              <a:defRPr sz="1500" b="0">
                <a:solidFill>
                  <a:srgbClr val="102B46"/>
                </a:solidFill>
              </a:defRPr>
            </a:lvl3pPr>
            <a:lvl4pPr>
              <a:defRPr sz="1500" b="0">
                <a:solidFill>
                  <a:srgbClr val="102B46"/>
                </a:solidFill>
              </a:defRPr>
            </a:lvl4pPr>
            <a:lvl5pPr>
              <a:defRPr sz="1500" b="0">
                <a:solidFill>
                  <a:srgbClr val="102B46"/>
                </a:solidFill>
              </a:defRPr>
            </a:lvl5pPr>
            <a:lvl6pPr>
              <a:defRPr sz="1500" b="0">
                <a:solidFill>
                  <a:srgbClr val="102B46"/>
                </a:solidFill>
              </a:defRPr>
            </a:lvl6pPr>
            <a:lvl7pPr>
              <a:defRPr sz="1500" b="0">
                <a:solidFill>
                  <a:srgbClr val="102B46"/>
                </a:solidFill>
              </a:defRPr>
            </a:lvl7pPr>
            <a:lvl8pPr>
              <a:defRPr sz="1500" b="0">
                <a:solidFill>
                  <a:srgbClr val="102B46"/>
                </a:solidFill>
              </a:defRPr>
            </a:lvl8pPr>
            <a:lvl9pPr>
              <a:defRPr sz="15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B46"/>
                </a:solidFill>
              </a:defRPr>
            </a:pPr>
            <a:r>
              <a:rPr sz="1500" b="0">
                <a:solidFill>
                  <a:srgbClr val="102B46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A57130-C870-491D-8005-5583D1F8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71675"/>
            <a:ext cx="5238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02B46"/>
                </a:solidFill>
              </a:defRPr>
            </a:defPPr>
            <a:lvl1pPr algn="ctr">
              <a:defRPr sz="1950">
                <a:solidFill>
                  <a:srgbClr val="102B46"/>
                </a:solidFill>
              </a:defRPr>
            </a:lvl1pPr>
            <a:lvl2pPr algn="ctr">
              <a:defRPr sz="1950">
                <a:solidFill>
                  <a:srgbClr val="102B46"/>
                </a:solidFill>
              </a:defRPr>
            </a:lvl2pPr>
            <a:lvl3pPr algn="ctr">
              <a:defRPr sz="1950">
                <a:solidFill>
                  <a:srgbClr val="102B46"/>
                </a:solidFill>
              </a:defRPr>
            </a:lvl3pPr>
            <a:lvl4pPr algn="ctr">
              <a:defRPr sz="1950">
                <a:solidFill>
                  <a:srgbClr val="102B46"/>
                </a:solidFill>
              </a:defRPr>
            </a:lvl4pPr>
            <a:lvl5pPr algn="ctr">
              <a:defRPr sz="1950">
                <a:solidFill>
                  <a:srgbClr val="102B46"/>
                </a:solidFill>
              </a:defRPr>
            </a:lvl5pPr>
            <a:lvl6pPr algn="ctr">
              <a:defRPr sz="1950">
                <a:solidFill>
                  <a:srgbClr val="102B46"/>
                </a:solidFill>
              </a:defRPr>
            </a:lvl6pPr>
            <a:lvl7pPr algn="ctr">
              <a:defRPr sz="1950">
                <a:solidFill>
                  <a:srgbClr val="102B46"/>
                </a:solidFill>
              </a:defRPr>
            </a:lvl7pPr>
            <a:lvl8pPr algn="ctr">
              <a:defRPr sz="1950">
                <a:solidFill>
                  <a:srgbClr val="102B46"/>
                </a:solidFill>
              </a:defRPr>
            </a:lvl8pPr>
            <a:lvl9pPr algn="ctr">
              <a:defRPr sz="195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ก่อนเรียก Spark</a:t>
            </a:r>
          </a:p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อ่านข้อมูลเท่านั้น / 3 ตาราง</a:t>
            </a:r>
          </a:p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ไม่เกิน 3 รอบ / จำกัด 200 แถว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AD641E-690E-4D25-BAAE-41B923A5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71675"/>
            <a:ext cx="5238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02B46"/>
                </a:solidFill>
              </a:defRPr>
            </a:defPPr>
            <a:lvl1pPr algn="ctr">
              <a:defRPr sz="1950">
                <a:solidFill>
                  <a:srgbClr val="102B46"/>
                </a:solidFill>
              </a:defRPr>
            </a:lvl1pPr>
            <a:lvl2pPr algn="ctr">
              <a:defRPr sz="1950">
                <a:solidFill>
                  <a:srgbClr val="102B46"/>
                </a:solidFill>
              </a:defRPr>
            </a:lvl2pPr>
            <a:lvl3pPr algn="ctr">
              <a:defRPr sz="1950">
                <a:solidFill>
                  <a:srgbClr val="102B46"/>
                </a:solidFill>
              </a:defRPr>
            </a:lvl3pPr>
            <a:lvl4pPr algn="ctr">
              <a:defRPr sz="1950">
                <a:solidFill>
                  <a:srgbClr val="102B46"/>
                </a:solidFill>
              </a:defRPr>
            </a:lvl4pPr>
            <a:lvl5pPr algn="ctr">
              <a:defRPr sz="1950">
                <a:solidFill>
                  <a:srgbClr val="102B46"/>
                </a:solidFill>
              </a:defRPr>
            </a:lvl5pPr>
            <a:lvl6pPr algn="ctr">
              <a:defRPr sz="1950">
                <a:solidFill>
                  <a:srgbClr val="102B46"/>
                </a:solidFill>
              </a:defRPr>
            </a:lvl6pPr>
            <a:lvl7pPr algn="ctr">
              <a:defRPr sz="1950">
                <a:solidFill>
                  <a:srgbClr val="102B46"/>
                </a:solidFill>
              </a:defRPr>
            </a:lvl7pPr>
            <a:lvl8pPr algn="ctr">
              <a:defRPr sz="1950">
                <a:solidFill>
                  <a:srgbClr val="102B46"/>
                </a:solidFill>
              </a:defRPr>
            </a:lvl8pPr>
            <a:lvl9pPr algn="ctr">
              <a:defRPr sz="195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หลังรัน SQL</a:t>
            </a:r>
          </a:p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รูปแบบตารางและจำนวนแถว</a:t>
            </a:r>
          </a:p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ค่าตัวเลข / ID / สัดส่วน / กลุ่มซ้ำ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B95A7D-38F6-4192-9A91-0BCD7DFF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67175"/>
            <a:ext cx="10096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>
                <a:solidFill>
                  <a:srgbClr val="102B46"/>
                </a:solidFill>
              </a:defRPr>
            </a:defPPr>
            <a:lvl1pPr algn="ctr">
              <a:defRPr sz="2025">
                <a:solidFill>
                  <a:srgbClr val="102B46"/>
                </a:solidFill>
              </a:defRPr>
            </a:lvl1pPr>
            <a:lvl2pPr algn="ctr">
              <a:defRPr sz="2025">
                <a:solidFill>
                  <a:srgbClr val="102B46"/>
                </a:solidFill>
              </a:defRPr>
            </a:lvl2pPr>
            <a:lvl3pPr algn="ctr">
              <a:defRPr sz="2025">
                <a:solidFill>
                  <a:srgbClr val="102B46"/>
                </a:solidFill>
              </a:defRPr>
            </a:lvl3pPr>
            <a:lvl4pPr algn="ctr">
              <a:defRPr sz="2025">
                <a:solidFill>
                  <a:srgbClr val="102B46"/>
                </a:solidFill>
              </a:defRPr>
            </a:lvl4pPr>
            <a:lvl5pPr algn="ctr">
              <a:defRPr sz="2025">
                <a:solidFill>
                  <a:srgbClr val="102B46"/>
                </a:solidFill>
              </a:defRPr>
            </a:lvl5pPr>
            <a:lvl6pPr algn="ctr">
              <a:defRPr sz="2025">
                <a:solidFill>
                  <a:srgbClr val="102B46"/>
                </a:solidFill>
              </a:defRPr>
            </a:lvl6pPr>
            <a:lvl7pPr algn="ctr">
              <a:defRPr sz="2025">
                <a:solidFill>
                  <a:srgbClr val="102B46"/>
                </a:solidFill>
              </a:defRPr>
            </a:lvl7pPr>
            <a:lvl8pPr algn="ctr">
              <a:defRPr sz="2025">
                <a:solidFill>
                  <a:srgbClr val="102B46"/>
                </a:solidFill>
              </a:defRPr>
            </a:lvl8pPr>
            <a:lvl9pPr algn="ctr">
              <a:defRPr sz="202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ตรวจความหมายเพิ่มก่อนรัน</a:t>
            </a:r>
          </a:p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จำนวน invoice ต้องใช้ orders • ช่วงเวลาตรงคำถาม</a:t>
            </a:r>
          </a:p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วันสรุปลูกค้าและประเภท sale / return / cancellation ต้องตรง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A267B3-0689-4CEA-9798-975D0A9B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Rego = ภาษาที่ใช้เขียนกฎให้ OPA • OPA ติดต่อไม่ได้ให้หยุด</a:t>
            </a:r>
          </a:p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Post-tool checks ตรวจเงื่อนไขที่กำหนด ส่วนความถูกต้องทั้งคำตอบวัดเทียบผลอ้างอิง</a:t>
            </a:r>
          </a:p>
        </p:txBody>
      </p:sp>
    </p:spTree>
    <p:extLst>
      <p:ext uri="{BB962C8B-B14F-4D97-AF65-F5344CB8AC3E}">
        <p14:creationId xmlns:p14="http://schemas.microsoft.com/office/powerpoint/2010/main" val="141355865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03EA35-0FD5-4DD4-92BE-50C42CB8FF72}"/>
              </a:ext>
            </a:extLst>
          </p:cNvPr>
          <p:cNvCxnSpPr>
            <a:stCxn xmlns:a="http://schemas.openxmlformats.org/drawingml/2006/main" id="15" idx="0"/>
            <a:endCxn xmlns:a="http://schemas.openxmlformats.org/drawingml/2006/main" id="16" idx="2"/>
          </p:cNvCxnSpPr>
          <p:nvPr/>
        </p:nvCxnSpPr>
        <p:spPr>
          <a:xfrm xmlns:a="http://schemas.openxmlformats.org/drawingml/2006/main" flipV="1">
            <a:off x="9310688" y="3876675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C68"/>
            </a:solidFill>
            <a:prstDash val="dash"/>
            <a:tailEnd type="arrow" w="med" len="med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A614E0-32F6-4520-A734-AC9720AA3640}"/>
              </a:ext>
            </a:extLst>
          </p:cNvPr>
          <p:cNvCxnSpPr>
            <a:stCxn xmlns:a="http://schemas.openxmlformats.org/drawingml/2006/main" id="16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 flipV="1">
            <a:off x="5238750" y="3286125"/>
            <a:ext cx="1762125" cy="904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37C68"/>
            </a:solidFill>
            <a:prstDash val="dash"/>
            <a:tailEnd type="arrow" w="med" len="me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61582D-0A54-4595-A1E2-1C1E1352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Agent loop: ตรวจ แก้ และตัดสินใจจบงาน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C2E3C1-F657-470E-AA21-DBD8D150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4D6577"/>
                </a:solidFill>
              </a:defRPr>
            </a:defPPr>
            <a:lvl1pPr>
              <a:defRPr sz="1800" b="0">
                <a:solidFill>
                  <a:srgbClr val="4D6577"/>
                </a:solidFill>
              </a:defRPr>
            </a:lvl1pPr>
            <a:lvl2pPr>
              <a:defRPr sz="1800" b="0">
                <a:solidFill>
                  <a:srgbClr val="4D6577"/>
                </a:solidFill>
              </a:defRPr>
            </a:lvl2pPr>
            <a:lvl3pPr>
              <a:defRPr sz="1800" b="0">
                <a:solidFill>
                  <a:srgbClr val="4D6577"/>
                </a:solidFill>
              </a:defRPr>
            </a:lvl3pPr>
            <a:lvl4pPr>
              <a:defRPr sz="1800" b="0">
                <a:solidFill>
                  <a:srgbClr val="4D6577"/>
                </a:solidFill>
              </a:defRPr>
            </a:lvl4pPr>
            <a:lvl5pPr>
              <a:defRPr sz="1800" b="0">
                <a:solidFill>
                  <a:srgbClr val="4D6577"/>
                </a:solidFill>
              </a:defRPr>
            </a:lvl5pPr>
            <a:lvl6pPr>
              <a:defRPr sz="1800" b="0">
                <a:solidFill>
                  <a:srgbClr val="4D6577"/>
                </a:solidFill>
              </a:defRPr>
            </a:lvl6pPr>
            <a:lvl7pPr>
              <a:defRPr sz="1800" b="0">
                <a:solidFill>
                  <a:srgbClr val="4D6577"/>
                </a:solidFill>
              </a:defRPr>
            </a:lvl7pPr>
            <a:lvl8pPr>
              <a:defRPr sz="1800" b="0">
                <a:solidFill>
                  <a:srgbClr val="4D6577"/>
                </a:solidFill>
              </a:defRPr>
            </a:lvl8pPr>
            <a:lvl9pPr>
              <a:defRPr sz="18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577"/>
                </a:solidFill>
              </a:defRPr>
            </a:pPr>
            <a:r>
              <a:rPr sz="1800" b="0">
                <a:solidFill>
                  <a:srgbClr val="4D6577"/>
                </a:solidFill>
              </a:rPr>
              <a:t>วงรอบมีขอบเขต สูงสุด 3 attempts ต่อคำถาม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CB1CD3-F273-4E3B-8C6C-4DB7BCF1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D6577"/>
                </a:solidFill>
              </a:defRPr>
            </a:defPPr>
            <a:lvl1pPr>
              <a:defRPr sz="1500" b="0">
                <a:solidFill>
                  <a:srgbClr val="4D6577"/>
                </a:solidFill>
              </a:defRPr>
            </a:lvl1pPr>
            <a:lvl2pPr>
              <a:defRPr sz="1500" b="0">
                <a:solidFill>
                  <a:srgbClr val="4D6577"/>
                </a:solidFill>
              </a:defRPr>
            </a:lvl2pPr>
            <a:lvl3pPr>
              <a:defRPr sz="1500" b="0">
                <a:solidFill>
                  <a:srgbClr val="4D6577"/>
                </a:solidFill>
              </a:defRPr>
            </a:lvl3pPr>
            <a:lvl4pPr>
              <a:defRPr sz="1500" b="0">
                <a:solidFill>
                  <a:srgbClr val="4D6577"/>
                </a:solidFill>
              </a:defRPr>
            </a:lvl4pPr>
            <a:lvl5pPr>
              <a:defRPr sz="1500" b="0">
                <a:solidFill>
                  <a:srgbClr val="4D6577"/>
                </a:solidFill>
              </a:defRPr>
            </a:lvl5pPr>
            <a:lvl6pPr>
              <a:defRPr sz="1500" b="0">
                <a:solidFill>
                  <a:srgbClr val="4D6577"/>
                </a:solidFill>
              </a:defRPr>
            </a:lvl6pPr>
            <a:lvl7pPr>
              <a:defRPr sz="1500" b="0">
                <a:solidFill>
                  <a:srgbClr val="4D6577"/>
                </a:solidFill>
              </a:defRPr>
            </a:lvl7pPr>
            <a:lvl8pPr>
              <a:defRPr sz="1500" b="0">
                <a:solidFill>
                  <a:srgbClr val="4D6577"/>
                </a:solidFill>
              </a:defRPr>
            </a:lvl8pPr>
            <a:lvl9pPr>
              <a:defRPr sz="15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577"/>
                </a:solidFill>
              </a:defRPr>
            </a:pPr>
            <a:r>
              <a:rPr sz="1500" b="0">
                <a:solidFill>
                  <a:srgbClr val="4D6577"/>
                </a:solidFill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39877C-A33B-4540-AA7C-A0058A56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33550"/>
            <a:ext cx="4667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1  Retrieve + policy check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549168-F84B-4B86-8AB5-8F9CC961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733550"/>
            <a:ext cx="46196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ข้อมูลไม่พอ / ใช้ไม่ได้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ส่ง clarification และจบ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9BAE3B-6988-4D1F-9DBF-D6ACC54D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952625"/>
            <a:ext cx="9048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FBDC5C-A0E2-4C47-955B-3A43003C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543175"/>
            <a:ext cx="22860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DD1B64-5662-4185-ACF1-1C5D1D0D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43225"/>
            <a:ext cx="4667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2  Generate SQL + citations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B70BFA-79C1-484F-B107-4C0B00B7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743325"/>
            <a:ext cx="22860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14E554-CE07-4565-A0CC-F5701DB4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24325"/>
            <a:ext cx="4667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3  AST / contracts / OPA / 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7002CD-3897-41A3-9293-F5E3EE75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33875"/>
            <a:ext cx="9048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7D1A3D-7E9B-414D-943F-F6E3ACE7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124325"/>
            <a:ext cx="46196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4  Spark + result checks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ผ่าน: ส่งตารางและ 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6F5BFA-C94E-4D2B-92C0-5941D446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76550"/>
            <a:ext cx="46196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02B46"/>
                </a:solidFill>
              </a:defRPr>
            </a:defPPr>
            <a:lvl1pPr algn="ctr">
              <a:defRPr sz="1800">
                <a:solidFill>
                  <a:srgbClr val="102B46"/>
                </a:solidFill>
              </a:defRPr>
            </a:lvl1pPr>
            <a:lvl2pPr algn="ctr">
              <a:defRPr sz="1800">
                <a:solidFill>
                  <a:srgbClr val="102B46"/>
                </a:solidFill>
              </a:defRPr>
            </a:lvl2pPr>
            <a:lvl3pPr algn="ctr">
              <a:defRPr sz="1800">
                <a:solidFill>
                  <a:srgbClr val="102B46"/>
                </a:solidFill>
              </a:defRPr>
            </a:lvl3pPr>
            <a:lvl4pPr algn="ctr">
              <a:defRPr sz="1800">
                <a:solidFill>
                  <a:srgbClr val="102B46"/>
                </a:solidFill>
              </a:defRPr>
            </a:lvl4pPr>
            <a:lvl5pPr algn="ctr">
              <a:defRPr sz="1800">
                <a:solidFill>
                  <a:srgbClr val="102B46"/>
                </a:solidFill>
              </a:defRPr>
            </a:lvl5pPr>
            <a:lvl6pPr algn="ctr">
              <a:defRPr sz="1800">
                <a:solidFill>
                  <a:srgbClr val="102B46"/>
                </a:solidFill>
              </a:defRPr>
            </a:lvl6pPr>
            <a:lvl7pPr algn="ctr">
              <a:defRPr sz="1800">
                <a:solidFill>
                  <a:srgbClr val="102B46"/>
                </a:solidFill>
              </a:defRPr>
            </a:lvl7pPr>
            <a:lvl8pPr algn="ctr">
              <a:defRPr sz="1800">
                <a:solidFill>
                  <a:srgbClr val="102B46"/>
                </a:solidFill>
              </a:defRPr>
            </a:lvl8pPr>
            <a:lvl9pPr algn="ctr">
              <a:defRPr sz="18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02B46"/>
                </a:solidFill>
              </a:defRPr>
            </a:pPr>
            <a:r>
              <a:rPr sz="1800">
                <a:solidFill>
                  <a:srgbClr val="102B46"/>
                </a:solidFill>
              </a:rPr>
              <a:t>ไม่ผ่าน: ส่ง SQL + error ล่าสุดกลับไปแก้</a:t>
            </a:r>
          </a:p>
          <a:p xmlns:a="http://schemas.openxmlformats.org/drawingml/2006/main">
            <a:pPr algn="ctr">
              <a:defRPr sz="1800">
                <a:solidFill>
                  <a:srgbClr val="102B46"/>
                </a:solidFill>
              </a:defRPr>
            </a:pPr>
            <a:r>
              <a:rPr sz="1800">
                <a:solidFill>
                  <a:srgbClr val="102B46"/>
                </a:solidFill>
              </a:rPr>
              <a:t>ครบ 3 attempts หรือเกิน budget: หยุดพร้อมสถานะ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A23EA9-D04B-490D-B22B-C39BA747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816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4D6577"/>
                </a:solidFill>
              </a:defRPr>
            </a:defPPr>
            <a:lvl1pPr>
              <a:defRPr sz="1725" b="0">
                <a:solidFill>
                  <a:srgbClr val="4D6577"/>
                </a:solidFill>
              </a:defRPr>
            </a:lvl1pPr>
            <a:lvl2pPr>
              <a:defRPr sz="1725" b="0">
                <a:solidFill>
                  <a:srgbClr val="4D6577"/>
                </a:solidFill>
              </a:defRPr>
            </a:lvl2pPr>
            <a:lvl3pPr>
              <a:defRPr sz="1725" b="0">
                <a:solidFill>
                  <a:srgbClr val="4D6577"/>
                </a:solidFill>
              </a:defRPr>
            </a:lvl3pPr>
            <a:lvl4pPr>
              <a:defRPr sz="1725" b="0">
                <a:solidFill>
                  <a:srgbClr val="4D6577"/>
                </a:solidFill>
              </a:defRPr>
            </a:lvl4pPr>
            <a:lvl5pPr>
              <a:defRPr sz="1725" b="0">
                <a:solidFill>
                  <a:srgbClr val="4D6577"/>
                </a:solidFill>
              </a:defRPr>
            </a:lvl5pPr>
            <a:lvl6pPr>
              <a:defRPr sz="1725" b="0">
                <a:solidFill>
                  <a:srgbClr val="4D6577"/>
                </a:solidFill>
              </a:defRPr>
            </a:lvl6pPr>
            <a:lvl7pPr>
              <a:defRPr sz="1725" b="0">
                <a:solidFill>
                  <a:srgbClr val="4D6577"/>
                </a:solidFill>
              </a:defRPr>
            </a:lvl7pPr>
            <a:lvl8pPr>
              <a:defRPr sz="1725" b="0">
                <a:solidFill>
                  <a:srgbClr val="4D6577"/>
                </a:solidFill>
              </a:defRPr>
            </a:lvl8pPr>
            <a:lvl9pPr>
              <a:defRPr sz="17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กลับไปขั้น 2 เมื่อแก้ได้ • ใช้โมเดลเดิม review • ไม่มีการวางแผน sub-agent หรือเลือก tools แบบอิสระ</a:t>
            </a:r>
          </a:p>
        </p:txBody>
      </p:sp>
    </p:spTree>
    <p:extLst>
      <p:ext uri="{BB962C8B-B14F-4D97-AF65-F5344CB8AC3E}">
        <p14:creationId xmlns:p14="http://schemas.microsoft.com/office/powerpoint/2010/main" val="19284878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7EB6CE-504F-43E9-9FF7-8F7A26E2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Web application: เห็นคำตอบพร้อมเส้นทางตรวจสอบ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BFF409-0F80-4C57-9D98-A444FC61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4D6577"/>
                </a:solidFill>
              </a:defRPr>
            </a:defPPr>
            <a:lvl1pPr>
              <a:defRPr sz="1800" b="0">
                <a:solidFill>
                  <a:srgbClr val="4D6577"/>
                </a:solidFill>
              </a:defRPr>
            </a:lvl1pPr>
            <a:lvl2pPr>
              <a:defRPr sz="1800" b="0">
                <a:solidFill>
                  <a:srgbClr val="4D6577"/>
                </a:solidFill>
              </a:defRPr>
            </a:lvl2pPr>
            <a:lvl3pPr>
              <a:defRPr sz="1800" b="0">
                <a:solidFill>
                  <a:srgbClr val="4D6577"/>
                </a:solidFill>
              </a:defRPr>
            </a:lvl3pPr>
            <a:lvl4pPr>
              <a:defRPr sz="1800" b="0">
                <a:solidFill>
                  <a:srgbClr val="4D6577"/>
                </a:solidFill>
              </a:defRPr>
            </a:lvl4pPr>
            <a:lvl5pPr>
              <a:defRPr sz="1800" b="0">
                <a:solidFill>
                  <a:srgbClr val="4D6577"/>
                </a:solidFill>
              </a:defRPr>
            </a:lvl5pPr>
            <a:lvl6pPr>
              <a:defRPr sz="1800" b="0">
                <a:solidFill>
                  <a:srgbClr val="4D6577"/>
                </a:solidFill>
              </a:defRPr>
            </a:lvl6pPr>
            <a:lvl7pPr>
              <a:defRPr sz="1800" b="0">
                <a:solidFill>
                  <a:srgbClr val="4D6577"/>
                </a:solidFill>
              </a:defRPr>
            </a:lvl7pPr>
            <a:lvl8pPr>
              <a:defRPr sz="1800" b="0">
                <a:solidFill>
                  <a:srgbClr val="4D6577"/>
                </a:solidFill>
              </a:defRPr>
            </a:lvl8pPr>
            <a:lvl9pPr>
              <a:defRPr sz="18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577"/>
                </a:solidFill>
              </a:defRPr>
            </a:pPr>
            <a:r>
              <a:rPr sz="1800" b="0">
                <a:solidFill>
                  <a:srgbClr val="4D6577"/>
                </a:solidFill>
              </a:rPr>
              <a:t>Local web app ที่ localhost:8090 เรียก agent และ Spark จริง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9BAFCA-0AF7-4525-99B1-4983E38A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D6577"/>
                </a:solidFill>
              </a:defRPr>
            </a:defPPr>
            <a:lvl1pPr>
              <a:defRPr sz="1500" b="0">
                <a:solidFill>
                  <a:srgbClr val="4D6577"/>
                </a:solidFill>
              </a:defRPr>
            </a:lvl1pPr>
            <a:lvl2pPr>
              <a:defRPr sz="1500" b="0">
                <a:solidFill>
                  <a:srgbClr val="4D6577"/>
                </a:solidFill>
              </a:defRPr>
            </a:lvl2pPr>
            <a:lvl3pPr>
              <a:defRPr sz="1500" b="0">
                <a:solidFill>
                  <a:srgbClr val="4D6577"/>
                </a:solidFill>
              </a:defRPr>
            </a:lvl3pPr>
            <a:lvl4pPr>
              <a:defRPr sz="1500" b="0">
                <a:solidFill>
                  <a:srgbClr val="4D6577"/>
                </a:solidFill>
              </a:defRPr>
            </a:lvl4pPr>
            <a:lvl5pPr>
              <a:defRPr sz="1500" b="0">
                <a:solidFill>
                  <a:srgbClr val="4D6577"/>
                </a:solidFill>
              </a:defRPr>
            </a:lvl5pPr>
            <a:lvl6pPr>
              <a:defRPr sz="1500" b="0">
                <a:solidFill>
                  <a:srgbClr val="4D6577"/>
                </a:solidFill>
              </a:defRPr>
            </a:lvl6pPr>
            <a:lvl7pPr>
              <a:defRPr sz="1500" b="0">
                <a:solidFill>
                  <a:srgbClr val="4D6577"/>
                </a:solidFill>
              </a:defRPr>
            </a:lvl7pPr>
            <a:lvl8pPr>
              <a:defRPr sz="1500" b="0">
                <a:solidFill>
                  <a:srgbClr val="4D6577"/>
                </a:solidFill>
              </a:defRPr>
            </a:lvl8pPr>
            <a:lvl9pPr>
              <a:defRPr sz="15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577"/>
                </a:solidFill>
              </a:defRPr>
            </a:pPr>
            <a:r>
              <a:rPr sz="1500" b="0">
                <a:solidFill>
                  <a:srgbClr val="4D6577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A6C183-11F6-43AB-BA12-E0669217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1104900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>
                <a:solidFill>
                  <a:srgbClr val="102B46"/>
                </a:solidFill>
              </a:defRPr>
            </a:defPPr>
            <a:lvl1pPr algn="ctr">
              <a:defRPr sz="2175">
                <a:solidFill>
                  <a:srgbClr val="102B46"/>
                </a:solidFill>
              </a:defRPr>
            </a:lvl1pPr>
            <a:lvl2pPr algn="ctr">
              <a:defRPr sz="2175">
                <a:solidFill>
                  <a:srgbClr val="102B46"/>
                </a:solidFill>
              </a:defRPr>
            </a:lvl2pPr>
            <a:lvl3pPr algn="ctr">
              <a:defRPr sz="2175">
                <a:solidFill>
                  <a:srgbClr val="102B46"/>
                </a:solidFill>
              </a:defRPr>
            </a:lvl3pPr>
            <a:lvl4pPr algn="ctr">
              <a:defRPr sz="2175">
                <a:solidFill>
                  <a:srgbClr val="102B46"/>
                </a:solidFill>
              </a:defRPr>
            </a:lvl4pPr>
            <a:lvl5pPr algn="ctr">
              <a:defRPr sz="2175">
                <a:solidFill>
                  <a:srgbClr val="102B46"/>
                </a:solidFill>
              </a:defRPr>
            </a:lvl5pPr>
            <a:lvl6pPr algn="ctr">
              <a:defRPr sz="2175">
                <a:solidFill>
                  <a:srgbClr val="102B46"/>
                </a:solidFill>
              </a:defRPr>
            </a:lvl6pPr>
            <a:lvl7pPr algn="ctr">
              <a:defRPr sz="2175">
                <a:solidFill>
                  <a:srgbClr val="102B46"/>
                </a:solidFill>
              </a:defRPr>
            </a:lvl7pPr>
            <a:lvl8pPr algn="ctr">
              <a:defRPr sz="2175">
                <a:solidFill>
                  <a:srgbClr val="102B46"/>
                </a:solidFill>
              </a:defRPr>
            </a:lvl8pPr>
            <a:lvl9pPr algn="ctr">
              <a:defRPr sz="21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1  ระบุคำถามและเวลา</a:t>
            </a:r>
          </a:p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เดือน ต.ค. 2011 มี invoice กี่ใบ?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93A045-631B-42AB-AFFC-C340A023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762250"/>
            <a:ext cx="22860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2365C7-ED6E-4DC9-ADED-0A3A19E3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33725"/>
            <a:ext cx="1104900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>
                <a:solidFill>
                  <a:srgbClr val="102B46"/>
                </a:solidFill>
              </a:defRPr>
            </a:defPPr>
            <a:lvl1pPr algn="ctr">
              <a:defRPr sz="2025">
                <a:solidFill>
                  <a:srgbClr val="102B46"/>
                </a:solidFill>
              </a:defRPr>
            </a:lvl1pPr>
            <a:lvl2pPr algn="ctr">
              <a:defRPr sz="2025">
                <a:solidFill>
                  <a:srgbClr val="102B46"/>
                </a:solidFill>
              </a:defRPr>
            </a:lvl2pPr>
            <a:lvl3pPr algn="ctr">
              <a:defRPr sz="2025">
                <a:solidFill>
                  <a:srgbClr val="102B46"/>
                </a:solidFill>
              </a:defRPr>
            </a:lvl3pPr>
            <a:lvl4pPr algn="ctr">
              <a:defRPr sz="2025">
                <a:solidFill>
                  <a:srgbClr val="102B46"/>
                </a:solidFill>
              </a:defRPr>
            </a:lvl4pPr>
            <a:lvl5pPr algn="ctr">
              <a:defRPr sz="2025">
                <a:solidFill>
                  <a:srgbClr val="102B46"/>
                </a:solidFill>
              </a:defRPr>
            </a:lvl5pPr>
            <a:lvl6pPr algn="ctr">
              <a:defRPr sz="2025">
                <a:solidFill>
                  <a:srgbClr val="102B46"/>
                </a:solidFill>
              </a:defRPr>
            </a:lvl6pPr>
            <a:lvl7pPr algn="ctr">
              <a:defRPr sz="2025">
                <a:solidFill>
                  <a:srgbClr val="102B46"/>
                </a:solidFill>
              </a:defRPr>
            </a:lvl7pPr>
            <a:lvl8pPr algn="ctr">
              <a:defRPr sz="2025">
                <a:solidFill>
                  <a:srgbClr val="102B46"/>
                </a:solidFill>
              </a:defRPr>
            </a:lvl8pPr>
            <a:lvl9pPr algn="ctr">
              <a:defRPr sz="202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2  สถานะการทำงาน</a:t>
            </a:r>
          </a:p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กำลังประมวลผล / ถามกลับ / error / สำเร็จ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AA942F-15B9-400B-A0C1-69E08F65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038600"/>
            <a:ext cx="22860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464DB9-0FF1-4350-B408-4B4D08F8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10075"/>
            <a:ext cx="6286500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325">
                <a:solidFill>
                  <a:srgbClr val="102B46"/>
                </a:solidFill>
              </a:defRPr>
            </a:defPPr>
            <a:lvl1pPr algn="ctr">
              <a:defRPr sz="2325">
                <a:solidFill>
                  <a:srgbClr val="102B46"/>
                </a:solidFill>
              </a:defRPr>
            </a:lvl1pPr>
            <a:lvl2pPr algn="ctr">
              <a:defRPr sz="2325">
                <a:solidFill>
                  <a:srgbClr val="102B46"/>
                </a:solidFill>
              </a:defRPr>
            </a:lvl2pPr>
            <a:lvl3pPr algn="ctr">
              <a:defRPr sz="2325">
                <a:solidFill>
                  <a:srgbClr val="102B46"/>
                </a:solidFill>
              </a:defRPr>
            </a:lvl3pPr>
            <a:lvl4pPr algn="ctr">
              <a:defRPr sz="2325">
                <a:solidFill>
                  <a:srgbClr val="102B46"/>
                </a:solidFill>
              </a:defRPr>
            </a:lvl4pPr>
            <a:lvl5pPr algn="ctr">
              <a:defRPr sz="2325">
                <a:solidFill>
                  <a:srgbClr val="102B46"/>
                </a:solidFill>
              </a:defRPr>
            </a:lvl5pPr>
            <a:lvl6pPr algn="ctr">
              <a:defRPr sz="2325">
                <a:solidFill>
                  <a:srgbClr val="102B46"/>
                </a:solidFill>
              </a:defRPr>
            </a:lvl6pPr>
            <a:lvl7pPr algn="ctr">
              <a:defRPr sz="2325">
                <a:solidFill>
                  <a:srgbClr val="102B46"/>
                </a:solidFill>
              </a:defRPr>
            </a:lvl7pPr>
            <a:lvl8pPr algn="ctr">
              <a:defRPr sz="2325">
                <a:solidFill>
                  <a:srgbClr val="102B46"/>
                </a:solidFill>
              </a:defRPr>
            </a:lvl8pPr>
            <a:lvl9pPr algn="ctr">
              <a:defRPr sz="232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325">
                <a:solidFill>
                  <a:srgbClr val="102B46"/>
                </a:solidFill>
              </a:defRPr>
            </a:pPr>
            <a:r>
              <a:rPr sz="2325">
                <a:solidFill>
                  <a:srgbClr val="102B46"/>
                </a:solidFill>
              </a:rPr>
              <a:t>3  ผลทดสอบผ่าน HTTP จริง</a:t>
            </a:r>
          </a:p>
          <a:p xmlns:a="http://schemas.openxmlformats.org/drawingml/2006/main">
            <a:pPr algn="ctr">
              <a:defRPr sz="2325">
                <a:solidFill>
                  <a:srgbClr val="102B46"/>
                </a:solidFill>
              </a:defRPr>
            </a:pPr>
            <a:r>
              <a:rPr sz="2325">
                <a:solidFill>
                  <a:srgbClr val="102B46"/>
                </a:solidFill>
              </a:rPr>
              <a:t>invoice count = 2,040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6DE657-029B-4D2C-B061-BB7601CB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10075"/>
            <a:ext cx="4381500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>
                <a:solidFill>
                  <a:srgbClr val="102B46"/>
                </a:solidFill>
              </a:defRPr>
            </a:defPPr>
            <a:lvl1pPr algn="ctr">
              <a:defRPr sz="1725">
                <a:solidFill>
                  <a:srgbClr val="102B46"/>
                </a:solidFill>
              </a:defRPr>
            </a:lvl1pPr>
            <a:lvl2pPr algn="ctr">
              <a:defRPr sz="1725">
                <a:solidFill>
                  <a:srgbClr val="102B46"/>
                </a:solidFill>
              </a:defRPr>
            </a:lvl2pPr>
            <a:lvl3pPr algn="ctr">
              <a:defRPr sz="1725">
                <a:solidFill>
                  <a:srgbClr val="102B46"/>
                </a:solidFill>
              </a:defRPr>
            </a:lvl3pPr>
            <a:lvl4pPr algn="ctr">
              <a:defRPr sz="1725">
                <a:solidFill>
                  <a:srgbClr val="102B46"/>
                </a:solidFill>
              </a:defRPr>
            </a:lvl4pPr>
            <a:lvl5pPr algn="ctr">
              <a:defRPr sz="1725">
                <a:solidFill>
                  <a:srgbClr val="102B46"/>
                </a:solidFill>
              </a:defRPr>
            </a:lvl5pPr>
            <a:lvl6pPr algn="ctr">
              <a:defRPr sz="1725">
                <a:solidFill>
                  <a:srgbClr val="102B46"/>
                </a:solidFill>
              </a:defRPr>
            </a:lvl6pPr>
            <a:lvl7pPr algn="ctr">
              <a:defRPr sz="1725">
                <a:solidFill>
                  <a:srgbClr val="102B46"/>
                </a:solidFill>
              </a:defRPr>
            </a:lvl7pPr>
            <a:lvl8pPr algn="ctr">
              <a:defRPr sz="1725">
                <a:solidFill>
                  <a:srgbClr val="102B46"/>
                </a:solidFill>
              </a:defRPr>
            </a:lvl8pPr>
            <a:lvl9pPr algn="ctr">
              <a:defRPr sz="172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02B46"/>
                </a:solidFill>
              </a:defRPr>
            </a:pPr>
            <a:r>
              <a:rPr sz="1725">
                <a:solidFill>
                  <a:srgbClr val="102B46"/>
                </a:solidFill>
              </a:rPr>
              <a:t>เปิดตรวจต่อได้</a:t>
            </a:r>
          </a:p>
          <a:p xmlns:a="http://schemas.openxmlformats.org/drawingml/2006/main">
            <a:pPr algn="ctr">
              <a:defRPr sz="1725">
                <a:solidFill>
                  <a:srgbClr val="102B46"/>
                </a:solidFill>
              </a:defRPr>
            </a:pPr>
            <a:r>
              <a:rPr sz="1725">
                <a:solidFill>
                  <a:srgbClr val="102B46"/>
                </a:solidFill>
              </a:rPr>
              <a:t>SQL / evidence / trace</a:t>
            </a:r>
          </a:p>
          <a:p xmlns:a="http://schemas.openxmlformats.org/drawingml/2006/main">
            <a:pPr algn="ctr">
              <a:defRPr sz="1725">
                <a:solidFill>
                  <a:srgbClr val="102B46"/>
                </a:solidFill>
              </a:defRPr>
            </a:pPr>
            <a:r>
              <a:rPr sz="1725">
                <a:solidFill>
                  <a:srgbClr val="102B46"/>
                </a:solidFill>
              </a:rPr>
              <a:t>context plan / token usage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AA4FDF-5C97-4161-8178-63A26AB4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816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4D6577"/>
                </a:solidFill>
              </a:defRPr>
            </a:defPPr>
            <a:lvl1pPr>
              <a:defRPr sz="1725" b="0">
                <a:solidFill>
                  <a:srgbClr val="4D6577"/>
                </a:solidFill>
              </a:defRPr>
            </a:lvl1pPr>
            <a:lvl2pPr>
              <a:defRPr sz="1725" b="0">
                <a:solidFill>
                  <a:srgbClr val="4D6577"/>
                </a:solidFill>
              </a:defRPr>
            </a:lvl2pPr>
            <a:lvl3pPr>
              <a:defRPr sz="1725" b="0">
                <a:solidFill>
                  <a:srgbClr val="4D6577"/>
                </a:solidFill>
              </a:defRPr>
            </a:lvl3pPr>
            <a:lvl4pPr>
              <a:defRPr sz="1725" b="0">
                <a:solidFill>
                  <a:srgbClr val="4D6577"/>
                </a:solidFill>
              </a:defRPr>
            </a:lvl4pPr>
            <a:lvl5pPr>
              <a:defRPr sz="1725" b="0">
                <a:solidFill>
                  <a:srgbClr val="4D6577"/>
                </a:solidFill>
              </a:defRPr>
            </a:lvl5pPr>
            <a:lvl6pPr>
              <a:defRPr sz="1725" b="0">
                <a:solidFill>
                  <a:srgbClr val="4D6577"/>
                </a:solidFill>
              </a:defRPr>
            </a:lvl6pPr>
            <a:lvl7pPr>
              <a:defRPr sz="1725" b="0">
                <a:solidFill>
                  <a:srgbClr val="4D6577"/>
                </a:solidFill>
              </a:defRPr>
            </a:lvl7pPr>
            <a:lvl8pPr>
              <a:defRPr sz="1725" b="0">
                <a:solidFill>
                  <a:srgbClr val="4D6577"/>
                </a:solidFill>
              </a:defRPr>
            </a:lvl8pPr>
            <a:lvl9pPr>
              <a:defRPr sz="17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หน้านี้เป็นแผนภาพการใช้งาน ไม่ใช่ภาพหน้าจอ • แต่ละคำถามแยก context และรับทีละคำถาม</a:t>
            </a:r>
          </a:p>
        </p:txBody>
      </p:sp>
    </p:spTree>
    <p:extLst>
      <p:ext uri="{BB962C8B-B14F-4D97-AF65-F5344CB8AC3E}">
        <p14:creationId xmlns:p14="http://schemas.microsoft.com/office/powerpoint/2010/main" val="13411726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10D6F4-B7A5-44DA-8D5B-FB7B62F0B86F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H="1">
            <a:off x="6096000" y="3905250"/>
            <a:ext cx="3000375" cy="647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37C68"/>
            </a:solidFill>
            <a:tailEnd type="arrow" w="med" len="med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402062-8688-4693-9D46-21ED5EF52E15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095625" y="3905250"/>
            <a:ext cx="3000375" cy="647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37C68"/>
            </a:solidFill>
            <a:tailEnd type="arrow" w="med" len="med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C02554-AC89-405E-81C2-AF23AE7BBF32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6096000" y="2324100"/>
            <a:ext cx="3000375" cy="6286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37C68"/>
            </a:solidFill>
            <a:tailEnd type="arrow" w="med" len="med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79FF7F-6CBB-46BA-8EE2-37A13721A1C1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3095625" y="2324100"/>
            <a:ext cx="3000375" cy="6286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37C68"/>
            </a:solidFill>
            <a:tailEnd type="arrow" w="med" len="me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C540F0-8B36-45A5-839C-7E8A4B44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การวัดผล: มีคำตอบอ้างอิงก่อนให้ Agent ทำ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331C67-9C17-46CD-932D-4DE5A7CD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ผู้พัฒนาเตรียม SQL อ้างอิงและเอกสารที่ควรค้นพบ โดยไม่ส่งเฉลยให้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A2EB17-FA57-44F8-9687-178F1497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B46"/>
                </a:solidFill>
              </a:defRPr>
            </a:defPPr>
            <a:lvl1pPr>
              <a:defRPr sz="1500" b="0">
                <a:solidFill>
                  <a:srgbClr val="102B46"/>
                </a:solidFill>
              </a:defRPr>
            </a:lvl1pPr>
            <a:lvl2pPr>
              <a:defRPr sz="1500" b="0">
                <a:solidFill>
                  <a:srgbClr val="102B46"/>
                </a:solidFill>
              </a:defRPr>
            </a:lvl2pPr>
            <a:lvl3pPr>
              <a:defRPr sz="1500" b="0">
                <a:solidFill>
                  <a:srgbClr val="102B46"/>
                </a:solidFill>
              </a:defRPr>
            </a:lvl3pPr>
            <a:lvl4pPr>
              <a:defRPr sz="1500" b="0">
                <a:solidFill>
                  <a:srgbClr val="102B46"/>
                </a:solidFill>
              </a:defRPr>
            </a:lvl4pPr>
            <a:lvl5pPr>
              <a:defRPr sz="1500" b="0">
                <a:solidFill>
                  <a:srgbClr val="102B46"/>
                </a:solidFill>
              </a:defRPr>
            </a:lvl5pPr>
            <a:lvl6pPr>
              <a:defRPr sz="1500" b="0">
                <a:solidFill>
                  <a:srgbClr val="102B46"/>
                </a:solidFill>
              </a:defRPr>
            </a:lvl6pPr>
            <a:lvl7pPr>
              <a:defRPr sz="1500" b="0">
                <a:solidFill>
                  <a:srgbClr val="102B46"/>
                </a:solidFill>
              </a:defRPr>
            </a:lvl7pPr>
            <a:lvl8pPr>
              <a:defRPr sz="1500" b="0">
                <a:solidFill>
                  <a:srgbClr val="102B46"/>
                </a:solidFill>
              </a:defRPr>
            </a:lvl8pPr>
            <a:lvl9pPr>
              <a:defRPr sz="15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B46"/>
                </a:solidFill>
              </a:defRPr>
            </a:pPr>
            <a:r>
              <a:rPr sz="1500" b="0">
                <a:solidFill>
                  <a:srgbClr val="102B46"/>
                </a:solidFill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77275F-871D-4650-A7C9-10B2AE1E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714500"/>
            <a:ext cx="4572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02B46"/>
                </a:solidFill>
              </a:defRPr>
            </a:defPPr>
            <a:lvl1pPr algn="ctr">
              <a:defRPr sz="1950">
                <a:solidFill>
                  <a:srgbClr val="102B46"/>
                </a:solidFill>
              </a:defRPr>
            </a:lvl1pPr>
            <a:lvl2pPr algn="ctr">
              <a:defRPr sz="1950">
                <a:solidFill>
                  <a:srgbClr val="102B46"/>
                </a:solidFill>
              </a:defRPr>
            </a:lvl2pPr>
            <a:lvl3pPr algn="ctr">
              <a:defRPr sz="1950">
                <a:solidFill>
                  <a:srgbClr val="102B46"/>
                </a:solidFill>
              </a:defRPr>
            </a:lvl3pPr>
            <a:lvl4pPr algn="ctr">
              <a:defRPr sz="1950">
                <a:solidFill>
                  <a:srgbClr val="102B46"/>
                </a:solidFill>
              </a:defRPr>
            </a:lvl4pPr>
            <a:lvl5pPr algn="ctr">
              <a:defRPr sz="1950">
                <a:solidFill>
                  <a:srgbClr val="102B46"/>
                </a:solidFill>
              </a:defRPr>
            </a:lvl5pPr>
            <a:lvl6pPr algn="ctr">
              <a:defRPr sz="1950">
                <a:solidFill>
                  <a:srgbClr val="102B46"/>
                </a:solidFill>
              </a:defRPr>
            </a:lvl6pPr>
            <a:lvl7pPr algn="ctr">
              <a:defRPr sz="1950">
                <a:solidFill>
                  <a:srgbClr val="102B46"/>
                </a:solidFill>
              </a:defRPr>
            </a:lvl7pPr>
            <a:lvl8pPr algn="ctr">
              <a:defRPr sz="1950">
                <a:solidFill>
                  <a:srgbClr val="102B46"/>
                </a:solidFill>
              </a:defRPr>
            </a:lvl8pPr>
            <a:lvl9pPr algn="ctr">
              <a:defRPr sz="195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คำถามทดสอบเดียวกัน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F8E2AC-CAB4-4794-82A8-1E3706F9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5048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02B46"/>
                </a:solidFill>
              </a:defRPr>
            </a:defPPr>
            <a:lvl1pPr algn="ctr">
              <a:defRPr sz="1950">
                <a:solidFill>
                  <a:srgbClr val="102B46"/>
                </a:solidFill>
              </a:defRPr>
            </a:lvl1pPr>
            <a:lvl2pPr algn="ctr">
              <a:defRPr sz="1950">
                <a:solidFill>
                  <a:srgbClr val="102B46"/>
                </a:solidFill>
              </a:defRPr>
            </a:lvl2pPr>
            <a:lvl3pPr algn="ctr">
              <a:defRPr sz="1950">
                <a:solidFill>
                  <a:srgbClr val="102B46"/>
                </a:solidFill>
              </a:defRPr>
            </a:lvl3pPr>
            <a:lvl4pPr algn="ctr">
              <a:defRPr sz="1950">
                <a:solidFill>
                  <a:srgbClr val="102B46"/>
                </a:solidFill>
              </a:defRPr>
            </a:lvl4pPr>
            <a:lvl5pPr algn="ctr">
              <a:defRPr sz="1950">
                <a:solidFill>
                  <a:srgbClr val="102B46"/>
                </a:solidFill>
              </a:defRPr>
            </a:lvl5pPr>
            <a:lvl6pPr algn="ctr">
              <a:defRPr sz="1950">
                <a:solidFill>
                  <a:srgbClr val="102B46"/>
                </a:solidFill>
              </a:defRPr>
            </a:lvl6pPr>
            <a:lvl7pPr algn="ctr">
              <a:defRPr sz="1950">
                <a:solidFill>
                  <a:srgbClr val="102B46"/>
                </a:solidFill>
              </a:defRPr>
            </a:lvl7pPr>
            <a:lvl8pPr algn="ctr">
              <a:defRPr sz="1950">
                <a:solidFill>
                  <a:srgbClr val="102B46"/>
                </a:solidFill>
              </a:defRPr>
            </a:lvl8pPr>
            <a:lvl9pPr algn="ctr">
              <a:defRPr sz="195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Agent สร้าง SQL เอง</a:t>
            </a:r>
          </a:p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ผ่าน guard แล้วรัน Spark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C35234-21C9-40DB-8C29-122A35B9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52750"/>
            <a:ext cx="5048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Gold SQL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SQL อ้างอิงที่ผู้พัฒนาเขียน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ผ่าน guard แล้วรัน Spark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14F444-FAA6-4D87-8B58-8B2BC9B4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52950"/>
            <a:ext cx="8953500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>
                <a:solidFill>
                  <a:srgbClr val="102B46"/>
                </a:solidFill>
              </a:defRPr>
            </a:defPPr>
            <a:lvl1pPr algn="ctr">
              <a:defRPr sz="2025">
                <a:solidFill>
                  <a:srgbClr val="102B46"/>
                </a:solidFill>
              </a:defRPr>
            </a:lvl1pPr>
            <a:lvl2pPr algn="ctr">
              <a:defRPr sz="2025">
                <a:solidFill>
                  <a:srgbClr val="102B46"/>
                </a:solidFill>
              </a:defRPr>
            </a:lvl2pPr>
            <a:lvl3pPr algn="ctr">
              <a:defRPr sz="2025">
                <a:solidFill>
                  <a:srgbClr val="102B46"/>
                </a:solidFill>
              </a:defRPr>
            </a:lvl3pPr>
            <a:lvl4pPr algn="ctr">
              <a:defRPr sz="2025">
                <a:solidFill>
                  <a:srgbClr val="102B46"/>
                </a:solidFill>
              </a:defRPr>
            </a:lvl4pPr>
            <a:lvl5pPr algn="ctr">
              <a:defRPr sz="2025">
                <a:solidFill>
                  <a:srgbClr val="102B46"/>
                </a:solidFill>
              </a:defRPr>
            </a:lvl5pPr>
            <a:lvl6pPr algn="ctr">
              <a:defRPr sz="2025">
                <a:solidFill>
                  <a:srgbClr val="102B46"/>
                </a:solidFill>
              </a:defRPr>
            </a:lvl6pPr>
            <a:lvl7pPr algn="ctr">
              <a:defRPr sz="2025">
                <a:solidFill>
                  <a:srgbClr val="102B46"/>
                </a:solidFill>
              </a:defRPr>
            </a:lvl7pPr>
            <a:lvl8pPr algn="ctr">
              <a:defRPr sz="2025">
                <a:solidFill>
                  <a:srgbClr val="102B46"/>
                </a:solidFill>
              </a:defRPr>
            </a:lvl8pPr>
            <a:lvl9pPr algn="ctr">
              <a:defRPr sz="202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เปรียบเทียบตารางคำตอบจริงกับตารางเฉลย</a:t>
            </a:r>
          </a:p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คำสั่ง SQL เขียนต่างกันได้ ถ้าผลตรงกันตามเกณฑ์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6086A5-2BCA-44E6-9B49-97F64DFC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Expected evidence = IDs ของหัวข้อความรู้ที่โจทย์นั้นควรค้นเจอ</a:t>
            </a:r>
          </a:p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Guard ป้องกันคำสั่งเสี่ยงก่อนรัน • การเทียบเฉลยเป็นอีกขั้นหนึ่งที่ตรวจว่าตอบถูกหรือไม่</a:t>
            </a:r>
          </a:p>
        </p:txBody>
      </p:sp>
    </p:spTree>
    <p:extLst>
      <p:ext uri="{BB962C8B-B14F-4D97-AF65-F5344CB8AC3E}">
        <p14:creationId xmlns:p14="http://schemas.microsoft.com/office/powerpoint/2010/main" val="130915837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016883-155A-492B-A0B9-9E57B28E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ผลทดสอบระบบปัจจุบันด้วยคำถามใหม่ 60 ข้อ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CF3641-FBD6-486A-82E8-997201B0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ล็อกโค้ด โมเดล ชุดคำถาม และเกณฑ์ก่อนรันจริง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667718-A779-49AF-974D-78534B7B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B46"/>
                </a:solidFill>
              </a:defRPr>
            </a:defPPr>
            <a:lvl1pPr>
              <a:defRPr sz="1500" b="0">
                <a:solidFill>
                  <a:srgbClr val="102B46"/>
                </a:solidFill>
              </a:defRPr>
            </a:lvl1pPr>
            <a:lvl2pPr>
              <a:defRPr sz="1500" b="0">
                <a:solidFill>
                  <a:srgbClr val="102B46"/>
                </a:solidFill>
              </a:defRPr>
            </a:lvl2pPr>
            <a:lvl3pPr>
              <a:defRPr sz="1500" b="0">
                <a:solidFill>
                  <a:srgbClr val="102B46"/>
                </a:solidFill>
              </a:defRPr>
            </a:lvl3pPr>
            <a:lvl4pPr>
              <a:defRPr sz="1500" b="0">
                <a:solidFill>
                  <a:srgbClr val="102B46"/>
                </a:solidFill>
              </a:defRPr>
            </a:lvl4pPr>
            <a:lvl5pPr>
              <a:defRPr sz="1500" b="0">
                <a:solidFill>
                  <a:srgbClr val="102B46"/>
                </a:solidFill>
              </a:defRPr>
            </a:lvl5pPr>
            <a:lvl6pPr>
              <a:defRPr sz="1500" b="0">
                <a:solidFill>
                  <a:srgbClr val="102B46"/>
                </a:solidFill>
              </a:defRPr>
            </a:lvl6pPr>
            <a:lvl7pPr>
              <a:defRPr sz="1500" b="0">
                <a:solidFill>
                  <a:srgbClr val="102B46"/>
                </a:solidFill>
              </a:defRPr>
            </a:lvl7pPr>
            <a:lvl8pPr>
              <a:defRPr sz="1500" b="0">
                <a:solidFill>
                  <a:srgbClr val="102B46"/>
                </a:solidFill>
              </a:defRPr>
            </a:lvl8pPr>
            <a:lvl9pPr>
              <a:defRPr sz="15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B46"/>
                </a:solidFill>
              </a:defRPr>
            </a:pPr>
            <a:r>
              <a:rPr sz="1500" b="0">
                <a:solidFill>
                  <a:srgbClr val="102B46"/>
                </a:solidFill>
              </a:rPr>
              <a:t>14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6D6546-BA75-4E97-8A7D-2440673335E6}"/>
              </a:ext>
            </a:extLst>
          </p:cNvPr>
          <p:cNvGraphicFramePr/>
          <p:nvPr/>
        </p:nvGraphicFramePr>
        <p:xfrm>
          <a:off xmlns:a="http://schemas.openxmlformats.org/drawingml/2006/main" x="533400" y="1771650"/>
          <a:ext xmlns:a="http://schemas.openxmlformats.org/drawingml/2006/main" cx="111252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2333625"/>
                <a:gridCol w="4600575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สิ่งที่วัด</a:t>
                      </a:r>
                    </a:p>
                  </a:txBody>
                  <a:tcPr marL="91440" marR="91440" marT="45720" marB="45720">
                    <a:solidFill>
                      <a:srgbClr val="193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ผลจริง</a:t>
                      </a:r>
                    </a:p>
                  </a:txBody>
                  <a:tcPr marL="91440" marR="91440" marT="45720" marB="45720">
                    <a:solidFill>
                      <a:srgbClr val="193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หมายความว่าอย่างไร</a:t>
                      </a:r>
                    </a:p>
                  </a:txBody>
                  <a:tcPr marL="91440" marR="91440" marT="45720" marB="45720">
                    <a:solidFill>
                      <a:srgbClr val="193C5A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คำถามใหม่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60/60 ถูก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52 คำตอบ SQL + 8 ถามกลับ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โจทย์เดิมหลังแก้ระบบ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80/80 ถูก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ตรวจว่าการแก้ไม่ทำของเดิมพัง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ค้นเอกสารที่ควรเจอใน 6 อันดับแรก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100%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Recall@6 ในชุดใหม่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เวลาตอบ p95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4.87 วินาที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95% ของชุดใหม่ใช้เวลาไม่เกินค่านี้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99B91A-862D-4BC5-B221-2F2B0F11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53 unit tests และ 3 OPA integration tests ผ่านจริง • โค้ด/โมเดลก่อนและหลังวัดตรงกัน</a:t>
            </a:r>
          </a:p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โจทย์ผู้พัฒนาสร้างในกลุ่มงานที่รองรับ • เวลาไม่รวมเปิด Spark และรัน gold ก่อนคำตอบทดสอบ</a:t>
            </a:r>
          </a:p>
        </p:txBody>
      </p:sp>
    </p:spTree>
    <p:extLst>
      <p:ext uri="{BB962C8B-B14F-4D97-AF65-F5344CB8AC3E}">
        <p14:creationId xmlns:p14="http://schemas.microsoft.com/office/powerpoint/2010/main" val="48912082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3CE918-2F76-4994-95CF-48A3477B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การทดลอง Context: ข้อความที่ส่งเข้าโมเดล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BE53CB-E125-4EC9-BFE1-99B75EF1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Context = คำถาม เอกสารอ้างอิง และสถานะล่าสุดที่โมเดลเห็น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A50CD4-3259-4B5F-8F41-97C9D2D1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B46"/>
                </a:solidFill>
              </a:defRPr>
            </a:defPPr>
            <a:lvl1pPr>
              <a:defRPr sz="1500" b="0">
                <a:solidFill>
                  <a:srgbClr val="102B46"/>
                </a:solidFill>
              </a:defRPr>
            </a:lvl1pPr>
            <a:lvl2pPr>
              <a:defRPr sz="1500" b="0">
                <a:solidFill>
                  <a:srgbClr val="102B46"/>
                </a:solidFill>
              </a:defRPr>
            </a:lvl2pPr>
            <a:lvl3pPr>
              <a:defRPr sz="1500" b="0">
                <a:solidFill>
                  <a:srgbClr val="102B46"/>
                </a:solidFill>
              </a:defRPr>
            </a:lvl3pPr>
            <a:lvl4pPr>
              <a:defRPr sz="1500" b="0">
                <a:solidFill>
                  <a:srgbClr val="102B46"/>
                </a:solidFill>
              </a:defRPr>
            </a:lvl4pPr>
            <a:lvl5pPr>
              <a:defRPr sz="1500" b="0">
                <a:solidFill>
                  <a:srgbClr val="102B46"/>
                </a:solidFill>
              </a:defRPr>
            </a:lvl5pPr>
            <a:lvl6pPr>
              <a:defRPr sz="1500" b="0">
                <a:solidFill>
                  <a:srgbClr val="102B46"/>
                </a:solidFill>
              </a:defRPr>
            </a:lvl6pPr>
            <a:lvl7pPr>
              <a:defRPr sz="1500" b="0">
                <a:solidFill>
                  <a:srgbClr val="102B46"/>
                </a:solidFill>
              </a:defRPr>
            </a:lvl7pPr>
            <a:lvl8pPr>
              <a:defRPr sz="1500" b="0">
                <a:solidFill>
                  <a:srgbClr val="102B46"/>
                </a:solidFill>
              </a:defRPr>
            </a:lvl8pPr>
            <a:lvl9pPr>
              <a:defRPr sz="15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B46"/>
                </a:solidFill>
              </a:defRPr>
            </a:pPr>
            <a:r>
              <a:rPr sz="1500" b="0">
                <a:solidFill>
                  <a:srgbClr val="102B46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F585B0-8DDB-4BE8-B487-F74D1E2A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5238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02B46"/>
                </a:solidFill>
              </a:defRPr>
            </a:defPPr>
            <a:lvl1pPr algn="ctr">
              <a:defRPr sz="1950">
                <a:solidFill>
                  <a:srgbClr val="102B46"/>
                </a:solidFill>
              </a:defRPr>
            </a:lvl1pPr>
            <a:lvl2pPr algn="ctr">
              <a:defRPr sz="1950">
                <a:solidFill>
                  <a:srgbClr val="102B46"/>
                </a:solidFill>
              </a:defRPr>
            </a:lvl2pPr>
            <a:lvl3pPr algn="ctr">
              <a:defRPr sz="1950">
                <a:solidFill>
                  <a:srgbClr val="102B46"/>
                </a:solidFill>
              </a:defRPr>
            </a:lvl3pPr>
            <a:lvl4pPr algn="ctr">
              <a:defRPr sz="1950">
                <a:solidFill>
                  <a:srgbClr val="102B46"/>
                </a:solidFill>
              </a:defRPr>
            </a:lvl4pPr>
            <a:lvl5pPr algn="ctr">
              <a:defRPr sz="1950">
                <a:solidFill>
                  <a:srgbClr val="102B46"/>
                </a:solidFill>
              </a:defRPr>
            </a:lvl5pPr>
            <a:lvl6pPr algn="ctr">
              <a:defRPr sz="1950">
                <a:solidFill>
                  <a:srgbClr val="102B46"/>
                </a:solidFill>
              </a:defRPr>
            </a:lvl6pPr>
            <a:lvl7pPr algn="ctr">
              <a:defRPr sz="1950">
                <a:solidFill>
                  <a:srgbClr val="102B46"/>
                </a:solidFill>
              </a:defRPr>
            </a:lvl7pPr>
            <a:lvl8pPr algn="ctr">
              <a:defRPr sz="1950">
                <a:solidFill>
                  <a:srgbClr val="102B46"/>
                </a:solidFill>
              </a:defRPr>
            </a:lvl8pPr>
            <a:lvl9pPr algn="ctr">
              <a:defRPr sz="195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เอกสารที่จำเป็น</a:t>
            </a:r>
          </a:p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นิยาม invoice + ตาราง orders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6FCE5C-96B1-4E7C-A7FD-BCDD859D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5238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ข้อความประกอบที่ไม่เกี่ยวกับงาน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บันทึกอากาศและเฟอร์นิเจอร์ 3,000 ตัวอักษร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62D852-CA8D-496D-8842-D353EE29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38550"/>
            <a:ext cx="3333750" cy="1362075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02B46"/>
                </a:solidFill>
              </a:defRPr>
            </a:defPPr>
            <a:lvl1pPr algn="ctr">
              <a:defRPr sz="1950">
                <a:solidFill>
                  <a:srgbClr val="102B46"/>
                </a:solidFill>
              </a:defRPr>
            </a:lvl1pPr>
            <a:lvl2pPr algn="ctr">
              <a:defRPr sz="1950">
                <a:solidFill>
                  <a:srgbClr val="102B46"/>
                </a:solidFill>
              </a:defRPr>
            </a:lvl2pPr>
            <a:lvl3pPr algn="ctr">
              <a:defRPr sz="1950">
                <a:solidFill>
                  <a:srgbClr val="102B46"/>
                </a:solidFill>
              </a:defRPr>
            </a:lvl3pPr>
            <a:lvl4pPr algn="ctr">
              <a:defRPr sz="1950">
                <a:solidFill>
                  <a:srgbClr val="102B46"/>
                </a:solidFill>
              </a:defRPr>
            </a:lvl4pPr>
            <a:lvl5pPr algn="ctr">
              <a:defRPr sz="1950">
                <a:solidFill>
                  <a:srgbClr val="102B46"/>
                </a:solidFill>
              </a:defRPr>
            </a:lvl5pPr>
            <a:lvl6pPr algn="ctr">
              <a:defRPr sz="1950">
                <a:solidFill>
                  <a:srgbClr val="102B46"/>
                </a:solidFill>
              </a:defRPr>
            </a:lvl6pPr>
            <a:lvl7pPr algn="ctr">
              <a:defRPr sz="1950">
                <a:solidFill>
                  <a:srgbClr val="102B46"/>
                </a:solidFill>
              </a:defRPr>
            </a:lvl7pPr>
            <a:lvl8pPr algn="ctr">
              <a:defRPr sz="1950">
                <a:solidFill>
                  <a:srgbClr val="102B46"/>
                </a:solidFill>
              </a:defRPr>
            </a:lvl8pPr>
            <a:lvl9pPr algn="ctr">
              <a:defRPr sz="195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ไม่มีข้อความรบกวน</a:t>
            </a:r>
          </a:p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คำถาม + เอกสารจำเป็น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8846B3-13F7-495F-9C2C-C3488893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638550"/>
            <a:ext cx="3333750" cy="1362075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ตัดข้อความรบกวน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คำถาม + เอกสารจำเป็น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ตัดเฉพาะข้อความประกอบ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031C46-347F-4735-8F00-6513091D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38550"/>
            <a:ext cx="3333750" cy="1362075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เก็บข้อความทั้งหมด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คำถาม + เอกสารจำเป็น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+ ข้อความประกอบ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302693-1780-4C59-B3E2-75D552F4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12 คำถาม × 3 เงื่อนไข = 36 รอบทดลอง • ทุกเงื่อนไขใช้ RAG และเก็บเอกสารที่จำเป็นครบ</a:t>
            </a:r>
          </a:p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Web app ปกติไม่ได้ส่งบันทึกประกอบเหล่านี้ การเติมข้อความทำเพื่อทดสอบ</a:t>
            </a:r>
          </a:p>
        </p:txBody>
      </p:sp>
    </p:spTree>
    <p:extLst>
      <p:ext uri="{BB962C8B-B14F-4D97-AF65-F5344CB8AC3E}">
        <p14:creationId xmlns:p14="http://schemas.microsoft.com/office/powerpoint/2010/main" val="51218857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77059E-70AE-4296-8B21-0A6E0C31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ผลทดลอง Context: 12 คำถามในแต่ละเงื่อนไข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C29826-A660-4671-8D53-EE76E4C9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ทุกข้อเทียบตารางคำตอบกับเฉลยจริง การหยุดหรือล้มเหลวนับว่าไม่ถูก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F3ACEE-BFAE-4E6D-A8D3-6E5DB8F4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B46"/>
                </a:solidFill>
              </a:defRPr>
            </a:defPPr>
            <a:lvl1pPr>
              <a:defRPr sz="1500" b="0">
                <a:solidFill>
                  <a:srgbClr val="102B46"/>
                </a:solidFill>
              </a:defRPr>
            </a:lvl1pPr>
            <a:lvl2pPr>
              <a:defRPr sz="1500" b="0">
                <a:solidFill>
                  <a:srgbClr val="102B46"/>
                </a:solidFill>
              </a:defRPr>
            </a:lvl2pPr>
            <a:lvl3pPr>
              <a:defRPr sz="1500" b="0">
                <a:solidFill>
                  <a:srgbClr val="102B46"/>
                </a:solidFill>
              </a:defRPr>
            </a:lvl3pPr>
            <a:lvl4pPr>
              <a:defRPr sz="1500" b="0">
                <a:solidFill>
                  <a:srgbClr val="102B46"/>
                </a:solidFill>
              </a:defRPr>
            </a:lvl4pPr>
            <a:lvl5pPr>
              <a:defRPr sz="1500" b="0">
                <a:solidFill>
                  <a:srgbClr val="102B46"/>
                </a:solidFill>
              </a:defRPr>
            </a:lvl5pPr>
            <a:lvl6pPr>
              <a:defRPr sz="1500" b="0">
                <a:solidFill>
                  <a:srgbClr val="102B46"/>
                </a:solidFill>
              </a:defRPr>
            </a:lvl6pPr>
            <a:lvl7pPr>
              <a:defRPr sz="1500" b="0">
                <a:solidFill>
                  <a:srgbClr val="102B46"/>
                </a:solidFill>
              </a:defRPr>
            </a:lvl7pPr>
            <a:lvl8pPr>
              <a:defRPr sz="1500" b="0">
                <a:solidFill>
                  <a:srgbClr val="102B46"/>
                </a:solidFill>
              </a:defRPr>
            </a:lvl8pPr>
            <a:lvl9pPr>
              <a:defRPr sz="15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B46"/>
                </a:solidFill>
              </a:defRPr>
            </a:pPr>
            <a:r>
              <a:rPr sz="1500" b="0">
                <a:solidFill>
                  <a:srgbClr val="102B46"/>
                </a:solidFill>
              </a:rPr>
              <a:t>16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570D91-5B29-462E-A613-2D31E26D3B6D}"/>
              </a:ext>
            </a:extLst>
          </p:cNvPr>
          <p:cNvGraphicFramePr/>
          <p:nvPr/>
        </p:nvGraphicFramePr>
        <p:xfrm>
          <a:off xmlns:a="http://schemas.openxmlformats.org/drawingml/2006/main" x="533400" y="1771650"/>
          <a:ext xmlns:a="http://schemas.openxmlformats.org/drawingml/2006/main" cx="111252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1905000"/>
                <a:gridCol w="2133600"/>
                <a:gridCol w="2133600"/>
              </a:tblGrid>
              <a:tr h="8334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สิ่งที่ส่งเข้าโมเดล</a:t>
                      </a:r>
                    </a:p>
                  </a:txBody>
                  <a:tcPr marL="91440" marR="91440" marT="45720" marB="45720">
                    <a:solidFill>
                      <a:srgbClr val="193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ตอบถูก</a:t>
                      </a:r>
                    </a:p>
                  </a:txBody>
                  <a:tcPr marL="91440" marR="91440" marT="45720" marB="45720">
                    <a:solidFill>
                      <a:srgbClr val="193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หยุดก่อนโมเดล</a:t>
                      </a:r>
                    </a:p>
                  </a:txBody>
                  <a:tcPr marL="91440" marR="91440" marT="45720" marB="45720">
                    <a:solidFill>
                      <a:srgbClr val="193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หยุดระหว่างซ่อม</a:t>
                      </a:r>
                    </a:p>
                  </a:txBody>
                  <a:tcPr marL="91440" marR="91440" marT="45720" marB="45720">
                    <a:solidFill>
                      <a:srgbClr val="193C5A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ไม่มีข้อความรบกวน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12/12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ตัดเฉพาะข้อความรบกวน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12/12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เก็บข้อความประกอบทั้งหมด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10/12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9B8047-D65B-49B6-8FC5-EFF00D23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เอกสารจำเป็นเก็บครบ 12/12 ทุกเงื่อนไข • ไม่มีคำตอบที่ส่งแล้วผิดใน 36 รอบนี้</a:t>
            </a:r>
          </a:p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สองข้อที่ไม่สำเร็จหยุดเพราะงบ input ของโปรแกรม จึงยังไม่ใช่หลักฐานว่าโมเดลเกิด context rot</a:t>
            </a:r>
          </a:p>
        </p:txBody>
      </p:sp>
    </p:spTree>
    <p:extLst>
      <p:ext uri="{BB962C8B-B14F-4D97-AF65-F5344CB8AC3E}">
        <p14:creationId xmlns:p14="http://schemas.microsoft.com/office/powerpoint/2010/main" val="3881113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4BE90E-8481-4A7A-8DB9-8C32D98D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Context: ลดข้อความส่วนเกินได้ โดยเก็บนิยามที่ต้องใช้ครบ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C6A781-7A5E-4FBE-9F45-841F4C1B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Tokens คือหน่วยข้อความที่โมเดลนับ ตัวเลขด้านล่างเป็น input ที่ Ollama รายงานจริง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685CBB-D614-4224-B180-BE606A23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B46"/>
                </a:solidFill>
              </a:defRPr>
            </a:defPPr>
            <a:lvl1pPr>
              <a:defRPr sz="1500" b="0">
                <a:solidFill>
                  <a:srgbClr val="102B46"/>
                </a:solidFill>
              </a:defRPr>
            </a:lvl1pPr>
            <a:lvl2pPr>
              <a:defRPr sz="1500" b="0">
                <a:solidFill>
                  <a:srgbClr val="102B46"/>
                </a:solidFill>
              </a:defRPr>
            </a:lvl2pPr>
            <a:lvl3pPr>
              <a:defRPr sz="1500" b="0">
                <a:solidFill>
                  <a:srgbClr val="102B46"/>
                </a:solidFill>
              </a:defRPr>
            </a:lvl3pPr>
            <a:lvl4pPr>
              <a:defRPr sz="1500" b="0">
                <a:solidFill>
                  <a:srgbClr val="102B46"/>
                </a:solidFill>
              </a:defRPr>
            </a:lvl4pPr>
            <a:lvl5pPr>
              <a:defRPr sz="1500" b="0">
                <a:solidFill>
                  <a:srgbClr val="102B46"/>
                </a:solidFill>
              </a:defRPr>
            </a:lvl5pPr>
            <a:lvl6pPr>
              <a:defRPr sz="1500" b="0">
                <a:solidFill>
                  <a:srgbClr val="102B46"/>
                </a:solidFill>
              </a:defRPr>
            </a:lvl6pPr>
            <a:lvl7pPr>
              <a:defRPr sz="1500" b="0">
                <a:solidFill>
                  <a:srgbClr val="102B46"/>
                </a:solidFill>
              </a:defRPr>
            </a:lvl7pPr>
            <a:lvl8pPr>
              <a:defRPr sz="1500" b="0">
                <a:solidFill>
                  <a:srgbClr val="102B46"/>
                </a:solidFill>
              </a:defRPr>
            </a:lvl8pPr>
            <a:lvl9pPr>
              <a:defRPr sz="15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B46"/>
                </a:solidFill>
              </a:defRPr>
            </a:pPr>
            <a:r>
              <a:rPr sz="1500" b="0">
                <a:solidFill>
                  <a:srgbClr val="102B46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10E7BE-6903-475C-A6BC-53BEE806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11049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>
                <a:solidFill>
                  <a:srgbClr val="102B46"/>
                </a:solidFill>
              </a:defRPr>
            </a:defPPr>
            <a:lvl1pPr algn="ctr">
              <a:defRPr sz="2175">
                <a:solidFill>
                  <a:srgbClr val="102B46"/>
                </a:solidFill>
              </a:defRPr>
            </a:lvl1pPr>
            <a:lvl2pPr algn="ctr">
              <a:defRPr sz="2175">
                <a:solidFill>
                  <a:srgbClr val="102B46"/>
                </a:solidFill>
              </a:defRPr>
            </a:lvl2pPr>
            <a:lvl3pPr algn="ctr">
              <a:defRPr sz="2175">
                <a:solidFill>
                  <a:srgbClr val="102B46"/>
                </a:solidFill>
              </a:defRPr>
            </a:lvl3pPr>
            <a:lvl4pPr algn="ctr">
              <a:defRPr sz="2175">
                <a:solidFill>
                  <a:srgbClr val="102B46"/>
                </a:solidFill>
              </a:defRPr>
            </a:lvl4pPr>
            <a:lvl5pPr algn="ctr">
              <a:defRPr sz="2175">
                <a:solidFill>
                  <a:srgbClr val="102B46"/>
                </a:solidFill>
              </a:defRPr>
            </a:lvl5pPr>
            <a:lvl6pPr algn="ctr">
              <a:defRPr sz="2175">
                <a:solidFill>
                  <a:srgbClr val="102B46"/>
                </a:solidFill>
              </a:defRPr>
            </a:lvl6pPr>
            <a:lvl7pPr algn="ctr">
              <a:defRPr sz="2175">
                <a:solidFill>
                  <a:srgbClr val="102B46"/>
                </a:solidFill>
              </a:defRPr>
            </a:lvl7pPr>
            <a:lvl8pPr algn="ctr">
              <a:defRPr sz="2175">
                <a:solidFill>
                  <a:srgbClr val="102B46"/>
                </a:solidFill>
              </a:defRPr>
            </a:lvl8pPr>
            <a:lvl9pPr algn="ctr">
              <a:defRPr sz="21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ไม่มีข้อความรบกวน / ตัดข้อความรบกวน</a:t>
            </a:r>
          </a:p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2,017–2,470 tokens ต่อการเรียก</a:t>
            </a:r>
          </a:p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ตอบถูก 12/12 ในแต่ละเงื่อนไข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35E860-C0AA-4C87-9C8C-13727E70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0"/>
            <a:ext cx="11049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>
                <a:solidFill>
                  <a:srgbClr val="102B46"/>
                </a:solidFill>
              </a:defRPr>
            </a:defPPr>
            <a:lvl1pPr algn="ctr">
              <a:defRPr sz="2100">
                <a:solidFill>
                  <a:srgbClr val="102B46"/>
                </a:solidFill>
              </a:defRPr>
            </a:lvl1pPr>
            <a:lvl2pPr algn="ctr">
              <a:defRPr sz="2100">
                <a:solidFill>
                  <a:srgbClr val="102B46"/>
                </a:solidFill>
              </a:defRPr>
            </a:lvl2pPr>
            <a:lvl3pPr algn="ctr">
              <a:defRPr sz="2100">
                <a:solidFill>
                  <a:srgbClr val="102B46"/>
                </a:solidFill>
              </a:defRPr>
            </a:lvl3pPr>
            <a:lvl4pPr algn="ctr">
              <a:defRPr sz="2100">
                <a:solidFill>
                  <a:srgbClr val="102B46"/>
                </a:solidFill>
              </a:defRPr>
            </a:lvl4pPr>
            <a:lvl5pPr algn="ctr">
              <a:defRPr sz="2100">
                <a:solidFill>
                  <a:srgbClr val="102B46"/>
                </a:solidFill>
              </a:defRPr>
            </a:lvl5pPr>
            <a:lvl6pPr algn="ctr">
              <a:defRPr sz="2100">
                <a:solidFill>
                  <a:srgbClr val="102B46"/>
                </a:solidFill>
              </a:defRPr>
            </a:lvl6pPr>
            <a:lvl7pPr algn="ctr">
              <a:defRPr sz="2100">
                <a:solidFill>
                  <a:srgbClr val="102B46"/>
                </a:solidFill>
              </a:defRPr>
            </a:lvl7pPr>
            <a:lvl8pPr algn="ctr">
              <a:defRPr sz="2100">
                <a:solidFill>
                  <a:srgbClr val="102B46"/>
                </a:solidFill>
              </a:defRPr>
            </a:lvl8pPr>
            <a:lvl9pPr algn="ctr">
              <a:defRPr sz="21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เก็บข้อความรบกวนทั้งหมด</a:t>
            </a:r>
          </a:p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2,503–2,863 tokens ต่อการเรียกที่เกิดขึ้น</a:t>
            </a:r>
          </a:p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ตอบถูก 10/12 อีก 2 ข้อหยุดเพราะงบของโปรแกรม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6B02FB-AE38-49A6-B51D-7D71C6DB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149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102B46"/>
                </a:solidFill>
              </a:defRPr>
            </a:defPPr>
            <a:lvl1pPr>
              <a:defRPr sz="2025" b="1">
                <a:solidFill>
                  <a:srgbClr val="102B46"/>
                </a:solidFill>
              </a:defRPr>
            </a:lvl1pPr>
            <a:lvl2pPr>
              <a:defRPr sz="2025" b="1">
                <a:solidFill>
                  <a:srgbClr val="102B46"/>
                </a:solidFill>
              </a:defRPr>
            </a:lvl2pPr>
            <a:lvl3pPr>
              <a:defRPr sz="2025" b="1">
                <a:solidFill>
                  <a:srgbClr val="102B46"/>
                </a:solidFill>
              </a:defRPr>
            </a:lvl3pPr>
            <a:lvl4pPr>
              <a:defRPr sz="2025" b="1">
                <a:solidFill>
                  <a:srgbClr val="102B46"/>
                </a:solidFill>
              </a:defRPr>
            </a:lvl4pPr>
            <a:lvl5pPr>
              <a:defRPr sz="2025" b="1">
                <a:solidFill>
                  <a:srgbClr val="102B46"/>
                </a:solidFill>
              </a:defRPr>
            </a:lvl5pPr>
            <a:lvl6pPr>
              <a:defRPr sz="2025" b="1">
                <a:solidFill>
                  <a:srgbClr val="102B46"/>
                </a:solidFill>
              </a:defRPr>
            </a:lvl6pPr>
            <a:lvl7pPr>
              <a:defRPr sz="2025" b="1">
                <a:solidFill>
                  <a:srgbClr val="102B46"/>
                </a:solidFill>
              </a:defRPr>
            </a:lvl7pPr>
            <a:lvl8pPr>
              <a:defRPr sz="2025" b="1">
                <a:solidFill>
                  <a:srgbClr val="102B46"/>
                </a:solidFill>
              </a:defRPr>
            </a:lvl8pPr>
            <a:lvl9pPr>
              <a:defRPr sz="2025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02B46"/>
                </a:solidFill>
              </a:defRPr>
            </a:pPr>
            <a:r>
              <a:rPr sz="2025" b="1">
                <a:solidFill>
                  <a:srgbClr val="102B46"/>
                </a:solidFill>
              </a:rPr>
              <a:t>สรุปได้: การตัดข้อความประกอบช่วยควบคุม input ในการทดลองนี้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222389-A74A-4F54-8EB2-F518299A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Context rot = คุณภาพคำตอบลดลงเมื่อบริบทยาวหรือมีสิ่งรบกวนสะสม</a:t>
            </a:r>
          </a:p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ยังทดสอบไม่ถึง window เต็ม 8,192 tokens หรือ noise ในเอกสารหลัก จึงยังรับรองว่าแก้ได้ทั่วไปไม่ได้</a:t>
            </a:r>
          </a:p>
        </p:txBody>
      </p:sp>
    </p:spTree>
    <p:extLst>
      <p:ext uri="{BB962C8B-B14F-4D97-AF65-F5344CB8AC3E}">
        <p14:creationId xmlns:p14="http://schemas.microsoft.com/office/powerpoint/2010/main" val="62866827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F69D97-71E1-4EDF-B015-76F2E2D2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สิ่งที่พัฒนาแล้วและขอบเขตการใช้งาน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F10C26-951C-4D62-811A-6BDCC822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เพิ่มส่วนที่ขาด แล้ววัดกับระบบจริงก่อนสรุปผล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13339D-3383-4D8B-AF43-5980786A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B46"/>
                </a:solidFill>
              </a:defRPr>
            </a:defPPr>
            <a:lvl1pPr>
              <a:defRPr sz="1500" b="0">
                <a:solidFill>
                  <a:srgbClr val="102B46"/>
                </a:solidFill>
              </a:defRPr>
            </a:lvl1pPr>
            <a:lvl2pPr>
              <a:defRPr sz="1500" b="0">
                <a:solidFill>
                  <a:srgbClr val="102B46"/>
                </a:solidFill>
              </a:defRPr>
            </a:lvl2pPr>
            <a:lvl3pPr>
              <a:defRPr sz="1500" b="0">
                <a:solidFill>
                  <a:srgbClr val="102B46"/>
                </a:solidFill>
              </a:defRPr>
            </a:lvl3pPr>
            <a:lvl4pPr>
              <a:defRPr sz="1500" b="0">
                <a:solidFill>
                  <a:srgbClr val="102B46"/>
                </a:solidFill>
              </a:defRPr>
            </a:lvl4pPr>
            <a:lvl5pPr>
              <a:defRPr sz="1500" b="0">
                <a:solidFill>
                  <a:srgbClr val="102B46"/>
                </a:solidFill>
              </a:defRPr>
            </a:lvl5pPr>
            <a:lvl6pPr>
              <a:defRPr sz="1500" b="0">
                <a:solidFill>
                  <a:srgbClr val="102B46"/>
                </a:solidFill>
              </a:defRPr>
            </a:lvl6pPr>
            <a:lvl7pPr>
              <a:defRPr sz="1500" b="0">
                <a:solidFill>
                  <a:srgbClr val="102B46"/>
                </a:solidFill>
              </a:defRPr>
            </a:lvl7pPr>
            <a:lvl8pPr>
              <a:defRPr sz="1500" b="0">
                <a:solidFill>
                  <a:srgbClr val="102B46"/>
                </a:solidFill>
              </a:defRPr>
            </a:lvl8pPr>
            <a:lvl9pPr>
              <a:defRPr sz="15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B46"/>
                </a:solidFill>
              </a:defRPr>
            </a:pPr>
            <a:r>
              <a:rPr sz="1500" b="0">
                <a:solidFill>
                  <a:srgbClr val="102B46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0A4CC-6A58-4301-BCD1-F09A6287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5238750" cy="2371725"/>
          </a:xfrm>
          <a:prstGeom xmlns:a="http://schemas.openxmlformats.org/drawingml/2006/main" prst="roundRect">
            <a:avLst>
              <a:gd name="adj" fmla="val 3213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>
                <a:solidFill>
                  <a:srgbClr val="102B46"/>
                </a:solidFill>
              </a:defRPr>
            </a:defPPr>
            <a:lvl1pPr algn="ctr">
              <a:defRPr sz="2100">
                <a:solidFill>
                  <a:srgbClr val="102B46"/>
                </a:solidFill>
              </a:defRPr>
            </a:lvl1pPr>
            <a:lvl2pPr algn="ctr">
              <a:defRPr sz="2100">
                <a:solidFill>
                  <a:srgbClr val="102B46"/>
                </a:solidFill>
              </a:defRPr>
            </a:lvl2pPr>
            <a:lvl3pPr algn="ctr">
              <a:defRPr sz="2100">
                <a:solidFill>
                  <a:srgbClr val="102B46"/>
                </a:solidFill>
              </a:defRPr>
            </a:lvl3pPr>
            <a:lvl4pPr algn="ctr">
              <a:defRPr sz="2100">
                <a:solidFill>
                  <a:srgbClr val="102B46"/>
                </a:solidFill>
              </a:defRPr>
            </a:lvl4pPr>
            <a:lvl5pPr algn="ctr">
              <a:defRPr sz="2100">
                <a:solidFill>
                  <a:srgbClr val="102B46"/>
                </a:solidFill>
              </a:defRPr>
            </a:lvl5pPr>
            <a:lvl6pPr algn="ctr">
              <a:defRPr sz="2100">
                <a:solidFill>
                  <a:srgbClr val="102B46"/>
                </a:solidFill>
              </a:defRPr>
            </a:lvl6pPr>
            <a:lvl7pPr algn="ctr">
              <a:defRPr sz="2100">
                <a:solidFill>
                  <a:srgbClr val="102B46"/>
                </a:solidFill>
              </a:defRPr>
            </a:lvl7pPr>
            <a:lvl8pPr algn="ctr">
              <a:defRPr sz="2100">
                <a:solidFill>
                  <a:srgbClr val="102B46"/>
                </a:solidFill>
              </a:defRPr>
            </a:lvl8pPr>
            <a:lvl9pPr algn="ctr">
              <a:defRPr sz="21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เพิ่มในระบบ</a:t>
            </a:r>
          </a:p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Domain ontology + SHACL</a:t>
            </a:r>
          </a:p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OPA/Rego ก่อนและหลัง Spark</a:t>
            </a:r>
          </a:p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Semantic checks + ชุดคำถามใหม่ 60 ข้อ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0BF09D-AFFD-4A3B-BB95-34FDC4D8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5238750" cy="2371725"/>
          </a:xfrm>
          <a:prstGeom xmlns:a="http://schemas.openxmlformats.org/drawingml/2006/main" prst="roundRect">
            <a:avLst>
              <a:gd name="adj" fmla="val 3213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>
                <a:solidFill>
                  <a:srgbClr val="102B46"/>
                </a:solidFill>
              </a:defRPr>
            </a:defPPr>
            <a:lvl1pPr algn="ctr">
              <a:defRPr sz="2100">
                <a:solidFill>
                  <a:srgbClr val="102B46"/>
                </a:solidFill>
              </a:defRPr>
            </a:lvl1pPr>
            <a:lvl2pPr algn="ctr">
              <a:defRPr sz="2100">
                <a:solidFill>
                  <a:srgbClr val="102B46"/>
                </a:solidFill>
              </a:defRPr>
            </a:lvl2pPr>
            <a:lvl3pPr algn="ctr">
              <a:defRPr sz="2100">
                <a:solidFill>
                  <a:srgbClr val="102B46"/>
                </a:solidFill>
              </a:defRPr>
            </a:lvl3pPr>
            <a:lvl4pPr algn="ctr">
              <a:defRPr sz="2100">
                <a:solidFill>
                  <a:srgbClr val="102B46"/>
                </a:solidFill>
              </a:defRPr>
            </a:lvl4pPr>
            <a:lvl5pPr algn="ctr">
              <a:defRPr sz="2100">
                <a:solidFill>
                  <a:srgbClr val="102B46"/>
                </a:solidFill>
              </a:defRPr>
            </a:lvl5pPr>
            <a:lvl6pPr algn="ctr">
              <a:defRPr sz="2100">
                <a:solidFill>
                  <a:srgbClr val="102B46"/>
                </a:solidFill>
              </a:defRPr>
            </a:lvl6pPr>
            <a:lvl7pPr algn="ctr">
              <a:defRPr sz="2100">
                <a:solidFill>
                  <a:srgbClr val="102B46"/>
                </a:solidFill>
              </a:defRPr>
            </a:lvl7pPr>
            <a:lvl8pPr algn="ctr">
              <a:defRPr sz="2100">
                <a:solidFill>
                  <a:srgbClr val="102B46"/>
                </a:solidFill>
              </a:defRPr>
            </a:lvl8pPr>
            <a:lvl9pPr algn="ctr">
              <a:defRPr sz="21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ขอบเขตที่ยังต้องบอกผู้ใช้</a:t>
            </a:r>
          </a:p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ทำงานบนเครื่องเดียว ทีละคำถาม</a:t>
            </a:r>
          </a:p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ยังไม่มีระบบบัญชีผู้ใช้</a:t>
            </a:r>
          </a:p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รองรับนิยามและรูปแบบ SQL ที่กำหนด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D59A5B-049F-4D71-8568-065E1210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91050"/>
            <a:ext cx="10287000" cy="847725"/>
          </a:xfrm>
          <a:prstGeom xmlns:a="http://schemas.openxmlformats.org/drawingml/2006/main" prst="roundRect">
            <a:avLst>
              <a:gd name="adj" fmla="val 8989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>
                <a:solidFill>
                  <a:srgbClr val="102B46"/>
                </a:solidFill>
              </a:defRPr>
            </a:defPPr>
            <a:lvl1pPr algn="ctr">
              <a:defRPr sz="2025">
                <a:solidFill>
                  <a:srgbClr val="102B46"/>
                </a:solidFill>
              </a:defRPr>
            </a:lvl1pPr>
            <a:lvl2pPr algn="ctr">
              <a:defRPr sz="2025">
                <a:solidFill>
                  <a:srgbClr val="102B46"/>
                </a:solidFill>
              </a:defRPr>
            </a:lvl2pPr>
            <a:lvl3pPr algn="ctr">
              <a:defRPr sz="2025">
                <a:solidFill>
                  <a:srgbClr val="102B46"/>
                </a:solidFill>
              </a:defRPr>
            </a:lvl3pPr>
            <a:lvl4pPr algn="ctr">
              <a:defRPr sz="2025">
                <a:solidFill>
                  <a:srgbClr val="102B46"/>
                </a:solidFill>
              </a:defRPr>
            </a:lvl4pPr>
            <a:lvl5pPr algn="ctr">
              <a:defRPr sz="2025">
                <a:solidFill>
                  <a:srgbClr val="102B46"/>
                </a:solidFill>
              </a:defRPr>
            </a:lvl5pPr>
            <a:lvl6pPr algn="ctr">
              <a:defRPr sz="2025">
                <a:solidFill>
                  <a:srgbClr val="102B46"/>
                </a:solidFill>
              </a:defRPr>
            </a:lvl6pPr>
            <a:lvl7pPr algn="ctr">
              <a:defRPr sz="2025">
                <a:solidFill>
                  <a:srgbClr val="102B46"/>
                </a:solidFill>
              </a:defRPr>
            </a:lvl7pPr>
            <a:lvl8pPr algn="ctr">
              <a:defRPr sz="2025">
                <a:solidFill>
                  <a:srgbClr val="102B46"/>
                </a:solidFill>
              </a:defRPr>
            </a:lvl8pPr>
            <a:lvl9pPr algn="ctr">
              <a:defRPr sz="202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Semantic checks = ตรวจว่าคำสั่งใช้ความหมายตรงงาน</a:t>
            </a:r>
          </a:p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เช่น นับ invoice จากตาราง invoice และใช้ช่วงเวลาที่ผู้ใช้ขอ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9C3D2A-84AC-4F27-82F6-5135BAC4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ผล benchmark บอกความสามารถในชุดที่วัด • การรับรองคำถามทุกแบบต้องใช้หลักฐานเพิ่ม</a:t>
            </a:r>
          </a:p>
        </p:txBody>
      </p:sp>
    </p:spTree>
    <p:extLst>
      <p:ext uri="{BB962C8B-B14F-4D97-AF65-F5344CB8AC3E}">
        <p14:creationId xmlns:p14="http://schemas.microsoft.com/office/powerpoint/2010/main" val="176008489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F3166C-9909-4064-9AFD-0A3BA9FF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การสาธิตและการนำไปพัฒนาต่อ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7DE4F8-ABEA-4977-B92D-F0902ECC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4D6577"/>
                </a:solidFill>
              </a:defRPr>
            </a:defPPr>
            <a:lvl1pPr>
              <a:defRPr sz="1800" b="0">
                <a:solidFill>
                  <a:srgbClr val="4D6577"/>
                </a:solidFill>
              </a:defRPr>
            </a:lvl1pPr>
            <a:lvl2pPr>
              <a:defRPr sz="1800" b="0">
                <a:solidFill>
                  <a:srgbClr val="4D6577"/>
                </a:solidFill>
              </a:defRPr>
            </a:lvl2pPr>
            <a:lvl3pPr>
              <a:defRPr sz="1800" b="0">
                <a:solidFill>
                  <a:srgbClr val="4D6577"/>
                </a:solidFill>
              </a:defRPr>
            </a:lvl3pPr>
            <a:lvl4pPr>
              <a:defRPr sz="1800" b="0">
                <a:solidFill>
                  <a:srgbClr val="4D6577"/>
                </a:solidFill>
              </a:defRPr>
            </a:lvl4pPr>
            <a:lvl5pPr>
              <a:defRPr sz="1800" b="0">
                <a:solidFill>
                  <a:srgbClr val="4D6577"/>
                </a:solidFill>
              </a:defRPr>
            </a:lvl5pPr>
            <a:lvl6pPr>
              <a:defRPr sz="1800" b="0">
                <a:solidFill>
                  <a:srgbClr val="4D6577"/>
                </a:solidFill>
              </a:defRPr>
            </a:lvl6pPr>
            <a:lvl7pPr>
              <a:defRPr sz="1800" b="0">
                <a:solidFill>
                  <a:srgbClr val="4D6577"/>
                </a:solidFill>
              </a:defRPr>
            </a:lvl7pPr>
            <a:lvl8pPr>
              <a:defRPr sz="1800" b="0">
                <a:solidFill>
                  <a:srgbClr val="4D6577"/>
                </a:solidFill>
              </a:defRPr>
            </a:lvl8pPr>
            <a:lvl9pPr>
              <a:defRPr sz="18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577"/>
                </a:solidFill>
              </a:defRPr>
            </a:pPr>
            <a:r>
              <a:rPr sz="1800" b="0">
                <a:solidFill>
                  <a:srgbClr val="4D6577"/>
                </a:solidFill>
              </a:rPr>
              <a:t>Source code และหลักฐานการวัดผลอยู่บน GitHub public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693B6-FAB8-456B-AA13-EBE43A36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D6577"/>
                </a:solidFill>
              </a:defRPr>
            </a:defPPr>
            <a:lvl1pPr>
              <a:defRPr sz="1500" b="0">
                <a:solidFill>
                  <a:srgbClr val="4D6577"/>
                </a:solidFill>
              </a:defRPr>
            </a:lvl1pPr>
            <a:lvl2pPr>
              <a:defRPr sz="1500" b="0">
                <a:solidFill>
                  <a:srgbClr val="4D6577"/>
                </a:solidFill>
              </a:defRPr>
            </a:lvl2pPr>
            <a:lvl3pPr>
              <a:defRPr sz="1500" b="0">
                <a:solidFill>
                  <a:srgbClr val="4D6577"/>
                </a:solidFill>
              </a:defRPr>
            </a:lvl3pPr>
            <a:lvl4pPr>
              <a:defRPr sz="1500" b="0">
                <a:solidFill>
                  <a:srgbClr val="4D6577"/>
                </a:solidFill>
              </a:defRPr>
            </a:lvl4pPr>
            <a:lvl5pPr>
              <a:defRPr sz="1500" b="0">
                <a:solidFill>
                  <a:srgbClr val="4D6577"/>
                </a:solidFill>
              </a:defRPr>
            </a:lvl5pPr>
            <a:lvl6pPr>
              <a:defRPr sz="1500" b="0">
                <a:solidFill>
                  <a:srgbClr val="4D6577"/>
                </a:solidFill>
              </a:defRPr>
            </a:lvl6pPr>
            <a:lvl7pPr>
              <a:defRPr sz="1500" b="0">
                <a:solidFill>
                  <a:srgbClr val="4D6577"/>
                </a:solidFill>
              </a:defRPr>
            </a:lvl7pPr>
            <a:lvl8pPr>
              <a:defRPr sz="1500" b="0">
                <a:solidFill>
                  <a:srgbClr val="4D6577"/>
                </a:solidFill>
              </a:defRPr>
            </a:lvl8pPr>
            <a:lvl9pPr>
              <a:defRPr sz="15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577"/>
                </a:solidFill>
              </a:defRPr>
            </a:pPr>
            <a:r>
              <a:rPr sz="1500" b="0">
                <a:solidFill>
                  <a:srgbClr val="4D6577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2F7A70-E215-4880-A35C-CF252190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95475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เปิด Docker stack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สร้างข้อมูลบน HDFS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128FFD-A8CE-4D63-96FE-89C025CC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305050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5A8E1F-5877-42CD-81AD-F52358AC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95475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เปิด Web app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ถามพร้อมช่วงเวลา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3B93DD-8F20-4B04-942A-36504B93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305050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93BD92-D7AD-40F6-B1F7-C4E1197E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95475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ตรวจผล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SQL / evidence / trace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28FA66-8F29-472A-8618-B02D864C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814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75" b="1">
                <a:solidFill>
                  <a:srgbClr val="102B46"/>
                </a:solidFill>
              </a:defRPr>
            </a:defPPr>
            <a:lvl1pPr>
              <a:defRPr sz="2775" b="1">
                <a:solidFill>
                  <a:srgbClr val="102B46"/>
                </a:solidFill>
              </a:defRPr>
            </a:lvl1pPr>
            <a:lvl2pPr>
              <a:defRPr sz="2775" b="1">
                <a:solidFill>
                  <a:srgbClr val="102B46"/>
                </a:solidFill>
              </a:defRPr>
            </a:lvl2pPr>
            <a:lvl3pPr>
              <a:defRPr sz="2775" b="1">
                <a:solidFill>
                  <a:srgbClr val="102B46"/>
                </a:solidFill>
              </a:defRPr>
            </a:lvl3pPr>
            <a:lvl4pPr>
              <a:defRPr sz="2775" b="1">
                <a:solidFill>
                  <a:srgbClr val="102B46"/>
                </a:solidFill>
              </a:defRPr>
            </a:lvl4pPr>
            <a:lvl5pPr>
              <a:defRPr sz="2775" b="1">
                <a:solidFill>
                  <a:srgbClr val="102B46"/>
                </a:solidFill>
              </a:defRPr>
            </a:lvl5pPr>
            <a:lvl6pPr>
              <a:defRPr sz="2775" b="1">
                <a:solidFill>
                  <a:srgbClr val="102B46"/>
                </a:solidFill>
              </a:defRPr>
            </a:lvl6pPr>
            <a:lvl7pPr>
              <a:defRPr sz="2775" b="1">
                <a:solidFill>
                  <a:srgbClr val="102B46"/>
                </a:solidFill>
              </a:defRPr>
            </a:lvl7pPr>
            <a:lvl8pPr>
              <a:defRPr sz="2775" b="1">
                <a:solidFill>
                  <a:srgbClr val="102B46"/>
                </a:solidFill>
              </a:defRPr>
            </a:lvl8pPr>
            <a:lvl9pPr>
              <a:defRPr sz="2775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02B46"/>
                </a:solidFill>
              </a:defRPr>
            </a:pPr>
            <a:r>
              <a:rPr sz="2775" b="1">
                <a:solidFill>
                  <a:srgbClr val="102B46"/>
                </a:solidFill>
              </a:rPr>
              <a:t>customer-intelligence-agent-spark-hdfs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4F7789-0A24-49D6-8D62-12B3130C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4342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4D6577"/>
                </a:solidFill>
              </a:defRPr>
            </a:defPPr>
            <a:lvl1pPr>
              <a:defRPr sz="2025" b="0">
                <a:solidFill>
                  <a:srgbClr val="4D6577"/>
                </a:solidFill>
              </a:defRPr>
            </a:lvl1pPr>
            <a:lvl2pPr>
              <a:defRPr sz="2025" b="0">
                <a:solidFill>
                  <a:srgbClr val="4D6577"/>
                </a:solidFill>
              </a:defRPr>
            </a:lvl2pPr>
            <a:lvl3pPr>
              <a:defRPr sz="2025" b="0">
                <a:solidFill>
                  <a:srgbClr val="4D6577"/>
                </a:solidFill>
              </a:defRPr>
            </a:lvl3pPr>
            <a:lvl4pPr>
              <a:defRPr sz="2025" b="0">
                <a:solidFill>
                  <a:srgbClr val="4D6577"/>
                </a:solidFill>
              </a:defRPr>
            </a:lvl4pPr>
            <a:lvl5pPr>
              <a:defRPr sz="2025" b="0">
                <a:solidFill>
                  <a:srgbClr val="4D6577"/>
                </a:solidFill>
              </a:defRPr>
            </a:lvl5pPr>
            <a:lvl6pPr>
              <a:defRPr sz="2025" b="0">
                <a:solidFill>
                  <a:srgbClr val="4D6577"/>
                </a:solidFill>
              </a:defRPr>
            </a:lvl6pPr>
            <a:lvl7pPr>
              <a:defRPr sz="2025" b="0">
                <a:solidFill>
                  <a:srgbClr val="4D6577"/>
                </a:solidFill>
              </a:defRPr>
            </a:lvl7pPr>
            <a:lvl8pPr>
              <a:defRPr sz="2025" b="0">
                <a:solidFill>
                  <a:srgbClr val="4D6577"/>
                </a:solidFill>
              </a:defRPr>
            </a:lvl8pPr>
            <a:lvl9pPr>
              <a:defRPr sz="20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4D6577"/>
                </a:solidFill>
              </a:defRPr>
            </a:pPr>
            <a:r>
              <a:rPr sz="2025" b="0">
                <a:solidFill>
                  <a:srgbClr val="4D6577"/>
                </a:solidFill>
              </a:rPr>
              <a:t>github.com/NATTAPAT-LEUNGRUNGSAP/</a:t>
            </a:r>
          </a:p>
          <a:p xmlns:a="http://schemas.openxmlformats.org/drawingml/2006/main">
            <a:pPr>
              <a:defRPr sz="2025" b="0">
                <a:solidFill>
                  <a:srgbClr val="4D6577"/>
                </a:solidFill>
              </a:defRPr>
            </a:pPr>
            <a:r>
              <a:rPr sz="2025" b="0">
                <a:solidFill>
                  <a:srgbClr val="4D6577"/>
                </a:solidFill>
              </a:rPr>
              <a:t>customer-intelligence-agent-spark-hdfs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C89ADC-8B6F-4491-BE72-8FBFB95C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816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4D6577"/>
                </a:solidFill>
              </a:defRPr>
            </a:defPPr>
            <a:lvl1pPr>
              <a:defRPr sz="1725" b="0">
                <a:solidFill>
                  <a:srgbClr val="4D6577"/>
                </a:solidFill>
              </a:defRPr>
            </a:lvl1pPr>
            <a:lvl2pPr>
              <a:defRPr sz="1725" b="0">
                <a:solidFill>
                  <a:srgbClr val="4D6577"/>
                </a:solidFill>
              </a:defRPr>
            </a:lvl2pPr>
            <a:lvl3pPr>
              <a:defRPr sz="1725" b="0">
                <a:solidFill>
                  <a:srgbClr val="4D6577"/>
                </a:solidFill>
              </a:defRPr>
            </a:lvl3pPr>
            <a:lvl4pPr>
              <a:defRPr sz="1725" b="0">
                <a:solidFill>
                  <a:srgbClr val="4D6577"/>
                </a:solidFill>
              </a:defRPr>
            </a:lvl4pPr>
            <a:lvl5pPr>
              <a:defRPr sz="1725" b="0">
                <a:solidFill>
                  <a:srgbClr val="4D6577"/>
                </a:solidFill>
              </a:defRPr>
            </a:lvl5pPr>
            <a:lvl6pPr>
              <a:defRPr sz="1725" b="0">
                <a:solidFill>
                  <a:srgbClr val="4D6577"/>
                </a:solidFill>
              </a:defRPr>
            </a:lvl6pPr>
            <a:lvl7pPr>
              <a:defRPr sz="1725" b="0">
                <a:solidFill>
                  <a:srgbClr val="4D6577"/>
                </a:solidFill>
              </a:defRPr>
            </a:lvl7pPr>
            <a:lvl8pPr>
              <a:defRPr sz="1725" b="0">
                <a:solidFill>
                  <a:srgbClr val="4D6577"/>
                </a:solidFill>
              </a:defRPr>
            </a:lvl8pPr>
            <a:lvl9pPr>
              <a:defRPr sz="17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Repository เก็บ source, setup, tests และรายงาน • Web app รันบนเครื่องที่เปิด stack</a:t>
            </a:r>
          </a:p>
        </p:txBody>
      </p:sp>
    </p:spTree>
    <p:extLst>
      <p:ext uri="{BB962C8B-B14F-4D97-AF65-F5344CB8AC3E}">
        <p14:creationId xmlns:p14="http://schemas.microsoft.com/office/powerpoint/2010/main" val="12748050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2026-10-26T12:34:01.3000000Z</dcterms:created>
  <dcterms:modified xsi:type="dcterms:W3CDTF">2026-10-26T12:34:01.3000000Z</dcterms:modified>
</coreProperties>
</file>