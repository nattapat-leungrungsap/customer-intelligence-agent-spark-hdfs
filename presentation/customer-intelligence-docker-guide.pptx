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d7a67cd21346c2" /><Relationship Type="http://schemas.openxmlformats.org/officeDocument/2006/relationships/extended-properties" Target="/docProps/app.xml" Id="R58767989cf3f4099" /><Relationship Type="http://schemas.openxmlformats.org/officeDocument/2006/relationships/officeDocument" Target="/ppt/presentation.xml" Id="Raea231630b2e41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d51c9de1474f61"/>
  </p:sldMasterIdLst>
  <p:notesMasterIdLst>
    <p:notesMasterId xmlns:r="http://schemas.openxmlformats.org/officeDocument/2006/relationships" r:id="R9a823c7bd00f4598"/>
  </p:notesMasterIdLst>
  <p:sldIdLst>
    <p:sldId xmlns:r="http://schemas.openxmlformats.org/officeDocument/2006/relationships" id="256" r:id="R5a68d3c832364280"/>
    <p:sldId xmlns:r="http://schemas.openxmlformats.org/officeDocument/2006/relationships" id="257" r:id="Rc61a41149b434e18"/>
    <p:sldId xmlns:r="http://schemas.openxmlformats.org/officeDocument/2006/relationships" id="258" r:id="Rf33cd45f7d1d48e7"/>
    <p:sldId xmlns:r="http://schemas.openxmlformats.org/officeDocument/2006/relationships" id="259" r:id="Rced2223481094e37"/>
    <p:sldId xmlns:r="http://schemas.openxmlformats.org/officeDocument/2006/relationships" id="260" r:id="Rb3c0c7919a8d4795"/>
    <p:sldId xmlns:r="http://schemas.openxmlformats.org/officeDocument/2006/relationships" id="261" r:id="R9c53602110f34bc2"/>
    <p:sldId xmlns:r="http://schemas.openxmlformats.org/officeDocument/2006/relationships" id="262" r:id="Re6ec567de4f34491"/>
    <p:sldId xmlns:r="http://schemas.openxmlformats.org/officeDocument/2006/relationships" id="263" r:id="R7ba5b5de70934b5b"/>
    <p:sldId xmlns:r="http://schemas.openxmlformats.org/officeDocument/2006/relationships" id="264" r:id="R2d2b62a9b87944c1"/>
    <p:sldId xmlns:r="http://schemas.openxmlformats.org/officeDocument/2006/relationships" id="265" r:id="Rfce69738016f4efb"/>
    <p:sldId xmlns:r="http://schemas.openxmlformats.org/officeDocument/2006/relationships" id="266" r:id="R530c336b536c4b6a"/>
    <p:sldId xmlns:r="http://schemas.openxmlformats.org/officeDocument/2006/relationships" id="267" r:id="R1eb9e1d8607b4351"/>
    <p:sldId xmlns:r="http://schemas.openxmlformats.org/officeDocument/2006/relationships" id="268" r:id="R7fe9442fbae44ca8"/>
    <p:sldId xmlns:r="http://schemas.openxmlformats.org/officeDocument/2006/relationships" id="269" r:id="Rd33428576f5a4060"/>
    <p:sldId xmlns:r="http://schemas.openxmlformats.org/officeDocument/2006/relationships" id="270" r:id="Rd1985b7ac297428f"/>
    <p:sldId xmlns:r="http://schemas.openxmlformats.org/officeDocument/2006/relationships" id="271" r:id="Rba883f820d364e28"/>
    <p:sldId xmlns:r="http://schemas.openxmlformats.org/officeDocument/2006/relationships" id="272" r:id="R25db6e9231e54c4c"/>
    <p:sldId xmlns:r="http://schemas.openxmlformats.org/officeDocument/2006/relationships" id="273" r:id="R6ceeee92060b492c"/>
    <p:sldId xmlns:r="http://schemas.openxmlformats.org/officeDocument/2006/relationships" id="274" r:id="R0b2171562a5449ee"/>
    <p:sldId xmlns:r="http://schemas.openxmlformats.org/officeDocument/2006/relationships" id="275" r:id="Rced81d4713b54148"/>
    <p:sldId xmlns:r="http://schemas.openxmlformats.org/officeDocument/2006/relationships" id="276" r:id="R49c81dba8ec9444b"/>
    <p:sldId xmlns:r="http://schemas.openxmlformats.org/officeDocument/2006/relationships" id="277" r:id="R4ec6a5ac079f4091"/>
    <p:sldId xmlns:r="http://schemas.openxmlformats.org/officeDocument/2006/relationships" id="278" r:id="R42909cdcfd434951"/>
    <p:sldId xmlns:r="http://schemas.openxmlformats.org/officeDocument/2006/relationships" id="279" r:id="Rda203b82b64d401c"/>
    <p:sldId xmlns:r="http://schemas.openxmlformats.org/officeDocument/2006/relationships" id="280" r:id="R06ce623d15e64664"/>
    <p:sldId xmlns:r="http://schemas.openxmlformats.org/officeDocument/2006/relationships" id="281" r:id="R5d49d843066d466c"/>
    <p:sldId xmlns:r="http://schemas.openxmlformats.org/officeDocument/2006/relationships" id="282" r:id="R839fe9a9eb0a4afc"/>
    <p:sldId xmlns:r="http://schemas.openxmlformats.org/officeDocument/2006/relationships" id="283" r:id="Rf576d39a2bd64c18"/>
    <p:sldId xmlns:r="http://schemas.openxmlformats.org/officeDocument/2006/relationships" id="284" r:id="R336fff778844476e"/>
    <p:sldId xmlns:r="http://schemas.openxmlformats.org/officeDocument/2006/relationships" id="285" r:id="Racdf89ae396e4f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6c9e76c0de405e" /><Relationship Type="http://schemas.openxmlformats.org/officeDocument/2006/relationships/slideMaster" Target="/ppt/slideMasters/slideMaster1.xml" Id="R26d51c9de1474f61" /><Relationship Type="http://schemas.openxmlformats.org/officeDocument/2006/relationships/notesMaster" Target="/ppt/notesMasters/notesMaster1.xml" Id="R9a823c7bd00f4598" /><Relationship Type="http://schemas.openxmlformats.org/officeDocument/2006/relationships/presProps" Target="/ppt/presProps.xml" Id="Ra071193886404fa7" /><Relationship Type="http://schemas.openxmlformats.org/officeDocument/2006/relationships/tableStyles" Target="/ppt/tableStyles.xml" Id="R6fe5d145e9d54e4f" /><Relationship Type="http://schemas.openxmlformats.org/officeDocument/2006/relationships/slide" Target="/ppt/slides/slide1.xml" Id="R5a68d3c832364280" /><Relationship Type="http://schemas.openxmlformats.org/officeDocument/2006/relationships/slide" Target="/ppt/slides/slide2.xml" Id="Rc61a41149b434e18" /><Relationship Type="http://schemas.openxmlformats.org/officeDocument/2006/relationships/slide" Target="/ppt/slides/slide3.xml" Id="Rf33cd45f7d1d48e7" /><Relationship Type="http://schemas.openxmlformats.org/officeDocument/2006/relationships/slide" Target="/ppt/slides/slide4.xml" Id="Rced2223481094e37" /><Relationship Type="http://schemas.openxmlformats.org/officeDocument/2006/relationships/slide" Target="/ppt/slides/slide5.xml" Id="Rb3c0c7919a8d4795" /><Relationship Type="http://schemas.openxmlformats.org/officeDocument/2006/relationships/slide" Target="/ppt/slides/slide6.xml" Id="R9c53602110f34bc2" /><Relationship Type="http://schemas.openxmlformats.org/officeDocument/2006/relationships/slide" Target="/ppt/slides/slide7.xml" Id="Re6ec567de4f34491" /><Relationship Type="http://schemas.openxmlformats.org/officeDocument/2006/relationships/slide" Target="/ppt/slides/slide8.xml" Id="R7ba5b5de70934b5b" /><Relationship Type="http://schemas.openxmlformats.org/officeDocument/2006/relationships/slide" Target="/ppt/slides/slide9.xml" Id="R2d2b62a9b87944c1" /><Relationship Type="http://schemas.openxmlformats.org/officeDocument/2006/relationships/slide" Target="/ppt/slides/slide10.xml" Id="Rfce69738016f4efb" /><Relationship Type="http://schemas.openxmlformats.org/officeDocument/2006/relationships/slide" Target="/ppt/slides/slide11.xml" Id="R530c336b536c4b6a" /><Relationship Type="http://schemas.openxmlformats.org/officeDocument/2006/relationships/slide" Target="/ppt/slides/slide12.xml" Id="R1eb9e1d8607b4351" /><Relationship Type="http://schemas.openxmlformats.org/officeDocument/2006/relationships/slide" Target="/ppt/slides/slide13.xml" Id="R7fe9442fbae44ca8" /><Relationship Type="http://schemas.openxmlformats.org/officeDocument/2006/relationships/slide" Target="/ppt/slides/slide14.xml" Id="Rd33428576f5a4060" /><Relationship Type="http://schemas.openxmlformats.org/officeDocument/2006/relationships/slide" Target="/ppt/slides/slide15.xml" Id="Rd1985b7ac297428f" /><Relationship Type="http://schemas.openxmlformats.org/officeDocument/2006/relationships/slide" Target="/ppt/slides/slide16.xml" Id="Rba883f820d364e28" /><Relationship Type="http://schemas.openxmlformats.org/officeDocument/2006/relationships/slide" Target="/ppt/slides/slide17.xml" Id="R25db6e9231e54c4c" /><Relationship Type="http://schemas.openxmlformats.org/officeDocument/2006/relationships/slide" Target="/ppt/slides/slide18.xml" Id="R6ceeee92060b492c" /><Relationship Type="http://schemas.openxmlformats.org/officeDocument/2006/relationships/slide" Target="/ppt/slides/slide19.xml" Id="R0b2171562a5449ee" /><Relationship Type="http://schemas.openxmlformats.org/officeDocument/2006/relationships/slide" Target="/ppt/slides/slide20.xml" Id="Rced81d4713b54148" /><Relationship Type="http://schemas.openxmlformats.org/officeDocument/2006/relationships/slide" Target="/ppt/slides/slide21.xml" Id="R49c81dba8ec9444b" /><Relationship Type="http://schemas.openxmlformats.org/officeDocument/2006/relationships/slide" Target="/ppt/slides/slide22.xml" Id="R4ec6a5ac079f4091" /><Relationship Type="http://schemas.openxmlformats.org/officeDocument/2006/relationships/slide" Target="/ppt/slides/slide23.xml" Id="R42909cdcfd434951" /><Relationship Type="http://schemas.openxmlformats.org/officeDocument/2006/relationships/slide" Target="/ppt/slides/slide24.xml" Id="Rda203b82b64d401c" /><Relationship Type="http://schemas.openxmlformats.org/officeDocument/2006/relationships/slide" Target="/ppt/slides/slide25.xml" Id="R06ce623d15e64664" /><Relationship Type="http://schemas.openxmlformats.org/officeDocument/2006/relationships/slide" Target="/ppt/slides/slide26.xml" Id="R5d49d843066d466c" /><Relationship Type="http://schemas.openxmlformats.org/officeDocument/2006/relationships/slide" Target="/ppt/slides/slide27.xml" Id="R839fe9a9eb0a4afc" /><Relationship Type="http://schemas.openxmlformats.org/officeDocument/2006/relationships/slide" Target="/ppt/slides/slide28.xml" Id="Rf576d39a2bd64c18" /><Relationship Type="http://schemas.openxmlformats.org/officeDocument/2006/relationships/slide" Target="/ppt/slides/slide29.xml" Id="R336fff778844476e" /><Relationship Type="http://schemas.openxmlformats.org/officeDocument/2006/relationships/slide" Target="/ppt/slides/slide30.xml" Id="Racdf89ae396e4f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9f40fce80749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645f91b7f14341" /><Relationship Type="http://schemas.openxmlformats.org/officeDocument/2006/relationships/notesMaster" Target="/ppt/notesMasters/notesMaster1.xml" Id="R484fc6845c614d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7969b0165347db" /><Relationship Type="http://schemas.openxmlformats.org/officeDocument/2006/relationships/notesMaster" Target="/ppt/notesMasters/notesMaster1.xml" Id="Rfb1e54aad04b48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b5b56f29b44f11" /><Relationship Type="http://schemas.openxmlformats.org/officeDocument/2006/relationships/notesMaster" Target="/ppt/notesMasters/notesMaster1.xml" Id="Re0828c04e6414b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a8f9457b9f4c94" /><Relationship Type="http://schemas.openxmlformats.org/officeDocument/2006/relationships/notesMaster" Target="/ppt/notesMasters/notesMaster1.xml" Id="Rb93d4e99ea9941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4c5634a72c4003" /><Relationship Type="http://schemas.openxmlformats.org/officeDocument/2006/relationships/notesMaster" Target="/ppt/notesMasters/notesMaster1.xml" Id="R7076991b18c54b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5cbfe9a4424d26" /><Relationship Type="http://schemas.openxmlformats.org/officeDocument/2006/relationships/notesMaster" Target="/ppt/notesMasters/notesMaster1.xml" Id="Rdb1c8fa3e2e842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7f4f828c4f4170" /><Relationship Type="http://schemas.openxmlformats.org/officeDocument/2006/relationships/notesMaster" Target="/ppt/notesMasters/notesMaster1.xml" Id="Rf11b418fa8e049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4c895b88db4777" /><Relationship Type="http://schemas.openxmlformats.org/officeDocument/2006/relationships/notesMaster" Target="/ppt/notesMasters/notesMaster1.xml" Id="Rc7c0914e8f1c45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0335b76b6f4743" /><Relationship Type="http://schemas.openxmlformats.org/officeDocument/2006/relationships/notesMaster" Target="/ppt/notesMasters/notesMaster1.xml" Id="Rb9c0e60f094745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e61a71981546a9" /><Relationship Type="http://schemas.openxmlformats.org/officeDocument/2006/relationships/notesMaster" Target="/ppt/notesMasters/notesMaster1.xml" Id="R0d15ae930a404f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c4946d782b4889" /><Relationship Type="http://schemas.openxmlformats.org/officeDocument/2006/relationships/notesMaster" Target="/ppt/notesMasters/notesMaster1.xml" Id="R1e5ca4cd9ddf42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a3fcb3a2b44050" /><Relationship Type="http://schemas.openxmlformats.org/officeDocument/2006/relationships/notesMaster" Target="/ppt/notesMasters/notesMaster1.xml" Id="Re09e3ea6d7ac44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c0968ba7ba414e" /><Relationship Type="http://schemas.openxmlformats.org/officeDocument/2006/relationships/notesMaster" Target="/ppt/notesMasters/notesMaster1.xml" Id="Rbbf255511ea546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83a7bc386a475f" /><Relationship Type="http://schemas.openxmlformats.org/officeDocument/2006/relationships/notesMaster" Target="/ppt/notesMasters/notesMaster1.xml" Id="R78ccb3670e1b4a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b67f0722194d41" /><Relationship Type="http://schemas.openxmlformats.org/officeDocument/2006/relationships/notesMaster" Target="/ppt/notesMasters/notesMaster1.xml" Id="R0a4ffe29ad8841e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05ac0c899d4b89" /><Relationship Type="http://schemas.openxmlformats.org/officeDocument/2006/relationships/notesMaster" Target="/ppt/notesMasters/notesMaster1.xml" Id="Ra89aa64f72dd41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43b315a1264da3" /><Relationship Type="http://schemas.openxmlformats.org/officeDocument/2006/relationships/notesMaster" Target="/ppt/notesMasters/notesMaster1.xml" Id="R466d96e7db74470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899d229ec44fc9" /><Relationship Type="http://schemas.openxmlformats.org/officeDocument/2006/relationships/notesMaster" Target="/ppt/notesMasters/notesMaster1.xml" Id="R236f36c783e547d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cc816f9f2ca4a8d" /><Relationship Type="http://schemas.openxmlformats.org/officeDocument/2006/relationships/notesMaster" Target="/ppt/notesMasters/notesMaster1.xml" Id="R3187a66f481e47e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64d6a5d993a4a02" /><Relationship Type="http://schemas.openxmlformats.org/officeDocument/2006/relationships/notesMaster" Target="/ppt/notesMasters/notesMaster1.xml" Id="R8a8d0b746ed1414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ba94b69fe424000" /><Relationship Type="http://schemas.openxmlformats.org/officeDocument/2006/relationships/notesMaster" Target="/ppt/notesMasters/notesMaster1.xml" Id="R9adfaac19fb1465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f9a0cef0bec4745" /><Relationship Type="http://schemas.openxmlformats.org/officeDocument/2006/relationships/notesMaster" Target="/ppt/notesMasters/notesMaster1.xml" Id="R9aaab68d8bd140a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26bef86e3a54946" /><Relationship Type="http://schemas.openxmlformats.org/officeDocument/2006/relationships/notesMaster" Target="/ppt/notesMasters/notesMaster1.xml" Id="Rf721ac527b45415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4dbd6b25e424da1" /><Relationship Type="http://schemas.openxmlformats.org/officeDocument/2006/relationships/notesMaster" Target="/ppt/notesMasters/notesMaster1.xml" Id="Rcb0a9de5292c4b6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4d509ed70b74ed6" /><Relationship Type="http://schemas.openxmlformats.org/officeDocument/2006/relationships/notesMaster" Target="/ppt/notesMasters/notesMaster1.xml" Id="R0b914e24f1ae4f3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7dc10c79fc84bd8" /><Relationship Type="http://schemas.openxmlformats.org/officeDocument/2006/relationships/notesMaster" Target="/ppt/notesMasters/notesMaster1.xml" Id="R9fa5adcd0aff49c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f94385c7f9b4097" /><Relationship Type="http://schemas.openxmlformats.org/officeDocument/2006/relationships/notesMaster" Target="/ppt/notesMasters/notesMaster1.xml" Id="Ra7be47815bec456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b9a967a6b8f4f4b" /><Relationship Type="http://schemas.openxmlformats.org/officeDocument/2006/relationships/notesMaster" Target="/ppt/notesMasters/notesMaster1.xml" Id="Rcc2f03c73f934f7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7e1547c49f14ff2" /><Relationship Type="http://schemas.openxmlformats.org/officeDocument/2006/relationships/notesMaster" Target="/ppt/notesMasters/notesMaster1.xml" Id="Rd92602748c2a4b6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45cc3ca866e4000" /><Relationship Type="http://schemas.openxmlformats.org/officeDocument/2006/relationships/notesMaster" Target="/ppt/notesMasters/notesMaster1.xml" Id="Rb5dc8c79891d48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reports/GOVERNANCE_REPORT.md; reports/governance-quality-summary.json.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compose.yaml; compose.web.yaml; infra/hadoop/config/hdfs-site.xml; infra/hadoop/entrypoint.sh; jobs/web_app.py; jobs/query_runtime.py; scripts/start.ps1. Worker count 2 is configured by the startup script. OPA and Ollama are separate services; Ollama is on the host. All containers share one physical host.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compose.yaml; compose.web.yaml; infra/hadoop/config/hdfs-site.xml; infra/hadoop/entrypoint.sh; jobs/web_app.py; jobs/query_runtime.py; scripts/start.ps1. Worker count 2 is configured by the startup script. OPA and Ollama are separate services; Ollama is on the host. All containers share one physical host.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compose.yaml; compose.web.yaml; infra/hadoop/config/hdfs-site.xml; infra/hadoop/entrypoint.sh; jobs/web_app.py; jobs/query_runtime.py; scripts/start.ps1. Worker count 2 is configured by the startup script. OPA and Ollama are separate services; Ollama is on the host. All containers share one physical host. Actual result: reports/governance-web-verification.json. Diagram simplifies bidirectional RPC/data flow; returned rows go to the driver after executor computation.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jobs/retrieval.py; reports/GOVERNANCE_REPORT.md.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ontology/customer-intelligence.ttl; ontology/shapes.ttl; policies/analytics.rego; jobs/semantic_contracts.py; jobs/result_contracts.py; jobs/evaluate_acceptance.py; reports/GOVERNANCE_REPORT.md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ontology/customer-intelligence.ttl; ontology/shapes.ttl; jobs/ontology.py.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jobs/context_engine.py; reports/GOVERNANCE_REPORT.md.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ontology/customer-intelligence.ttl; ontology/shapes.ttl; policies/analytics.rego; jobs/semantic_contracts.py; jobs/result_contracts.py; jobs/evaluate_acceptance.py; reports/GOVERNANCE_REPORT.md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jobs/semantic_contracts.py; jobs/result_contracts.py; tests/test_governance.py.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policies/analytics.rego; jobs/result_contracts.py; tests/integration_governance.py.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reports/governance-web-verification.json. Actual current HTTP + ontology + OPA pre/post + Qwen + Spark/HDFS verification passed. This slide is an editable workflow diagram, not a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reports/governance-web-verification.json; jobs/web_app.py.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ontology/customer-intelligence.ttl; ontology/shapes.ttl; policies/analytics.rego; jobs/semantic_contracts.py; jobs/result_contracts.py; jobs/evaluate_acceptance.py; reports/GOVERNANCE_REPORT.md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jobs/evaluate_acceptance.py; jobs/evaluate.py; reports/GOVERNANCE_REPORT.md.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reports/GOVERNANCE_REPORT.md; reports/acceptance-376b19a376714e218c6197ab5c9b27c4.json; reports/governance-unit-tests.txt; reports/governance-opa-integration.txt. Developer-authored combinations, not an external benchmark. All context conditions use RAG. Timing excludes Spark startup; gold queries execute before candidates.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ontology/customer-intelligence.ttl; ontology/shapes.ttl; policies/analytics.rego; jobs/semantic_contracts.py; jobs/result_contracts.py; jobs/evaluate_acceptance.py; reports/GOVERNANCE_REPORT.md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reports/GOVERNANCE_REPORT.md; reports/acceptance-376b19a376714e218c6197ab5c9b27c4.json; reports/governance-unit-tests.txt; reports/governance-opa-integration.txt. Developer-authored combinations, not an external benchmark. All context conditions use RAG. Timing excludes Spark startup; gold queries execute before candidates.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reports/GOVERNANCE_REPORT.md; reports/acceptance-376b19a376714e218c6197ab5c9b27c4.json; reports/governance-unit-tests.txt; reports/governance-opa-integration.txt. Developer-authored combinations, not an external benchmark. All context conditions use RAG. Timing excludes Spark startup; gold queries execute before candidates.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ontology/customer-intelligence.ttl; ontology/shapes.ttl; policies/analytics.rego; jobs/semantic_contracts.py; jobs/result_contracts.py; jobs/evaluate_acceptance.py; reports/GOVERNANCE_REPORT.md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5e59ce7bb41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00d98dd8cf439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4375a6f1d4c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7046b4c21d44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a754b0e6541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aae0b00e74b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207940-D471-493F-8A94-2A16FA1653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916747-68BE-474F-948F-AB83BE20B5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70C309-36CB-4BC4-B9E4-838FF132DA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442EEF-11AD-4C5A-916F-D18083F51E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6E80EF-F051-47D4-8FED-4EB513CE1E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441840-F08C-4E59-BB98-DC1CD2FB59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1B4EDE-ACC9-4F89-A5E4-997924C4AD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CECFE7-64B2-4458-AF4E-38BBBB9B0A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E51DB8-39B3-44F4-BB05-68218F846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87230A-DCB8-4EA7-830A-9851268240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3a5b6f62624431" /><Relationship Type="http://schemas.openxmlformats.org/officeDocument/2006/relationships/slideLayout" Target="/ppt/slideLayouts/slideLayout1.xml" Id="R8e71a12f74c04945" /><Relationship Type="http://schemas.openxmlformats.org/officeDocument/2006/relationships/slideLayout" Target="/ppt/slideLayouts/slideLayout2.xml" Id="R6a65b8bfc1cb47eb" /><Relationship Type="http://schemas.openxmlformats.org/officeDocument/2006/relationships/slideLayout" Target="/ppt/slideLayouts/slideLayout3.xml" Id="R3707b54a567d4da1" /><Relationship Type="http://schemas.openxmlformats.org/officeDocument/2006/relationships/slideLayout" Target="/ppt/slideLayouts/slideLayout4.xml" Id="R7bff3e7ecaf042cf" /><Relationship Type="http://schemas.openxmlformats.org/officeDocument/2006/relationships/slideLayout" Target="/ppt/slideLayouts/slideLayout5.xml" Id="R84c5f5efe1df4bd6" /><Relationship Type="http://schemas.openxmlformats.org/officeDocument/2006/relationships/slideLayout" Target="/ppt/slideLayouts/slideLayout6.xml" Id="Rda9fa65245d44d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71a12f74c04945"/>
    <p:sldLayoutId xmlns:r="http://schemas.openxmlformats.org/officeDocument/2006/relationships" id="2147483650" r:id="R6a65b8bfc1cb47eb"/>
    <p:sldLayoutId xmlns:r="http://schemas.openxmlformats.org/officeDocument/2006/relationships" id="2147483651" r:id="R3707b54a567d4da1"/>
    <p:sldLayoutId xmlns:r="http://schemas.openxmlformats.org/officeDocument/2006/relationships" id="2147483652" r:id="R7bff3e7ecaf042cf"/>
    <p:sldLayoutId xmlns:r="http://schemas.openxmlformats.org/officeDocument/2006/relationships" id="2147483653" r:id="R84c5f5efe1df4bd6"/>
    <p:sldLayoutId xmlns:r="http://schemas.openxmlformats.org/officeDocument/2006/relationships" id="2147483654" r:id="Rda9fa65245d44d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2adbbbdcd545b2" /><Relationship Type="http://schemas.openxmlformats.org/officeDocument/2006/relationships/notesSlide" Target="/ppt/notesSlides/notesSlide1.xml" Id="R5cde0df3687944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adf875fc2b40ee" /><Relationship Type="http://schemas.openxmlformats.org/officeDocument/2006/relationships/notesSlide" Target="/ppt/notesSlides/notesSlide2.xml" Id="Raf8993d644ab4e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b1810ed1be421d" /><Relationship Type="http://schemas.openxmlformats.org/officeDocument/2006/relationships/notesSlide" Target="/ppt/notesSlides/notesSlide3.xml" Id="R4761ea7aa1b24c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e303d3aebb4134" /><Relationship Type="http://schemas.openxmlformats.org/officeDocument/2006/relationships/notesSlide" Target="/ppt/notesSlides/notesSlide4.xml" Id="R7d6e704ed7f64b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6c144479ac4529" /><Relationship Type="http://schemas.openxmlformats.org/officeDocument/2006/relationships/notesSlide" Target="/ppt/notesSlides/notesSlide5.xml" Id="R61a0b858ced44f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174c7f5ec64d66" /><Relationship Type="http://schemas.openxmlformats.org/officeDocument/2006/relationships/notesSlide" Target="/ppt/notesSlides/notesSlide6.xml" Id="Rf9849ea371ad46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de20a41e184123" /><Relationship Type="http://schemas.openxmlformats.org/officeDocument/2006/relationships/notesSlide" Target="/ppt/notesSlides/notesSlide7.xml" Id="Red8e020a0ecb4a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fbc5ca25cf4d3c" /><Relationship Type="http://schemas.openxmlformats.org/officeDocument/2006/relationships/notesSlide" Target="/ppt/notesSlides/notesSlide8.xml" Id="R99909abe4fbd4a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1342a5ac2c4f02" /><Relationship Type="http://schemas.openxmlformats.org/officeDocument/2006/relationships/notesSlide" Target="/ppt/notesSlides/notesSlide9.xml" Id="R61a98549eec542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40333f198945be" /><Relationship Type="http://schemas.openxmlformats.org/officeDocument/2006/relationships/notesSlide" Target="/ppt/notesSlides/notesSlide10.xml" Id="R75f6fef802f444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0b2fa93f6c4763" /><Relationship Type="http://schemas.openxmlformats.org/officeDocument/2006/relationships/notesSlide" Target="/ppt/notesSlides/notesSlide11.xml" Id="Ra9da62d332eb4a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59ca4422544f3d" /><Relationship Type="http://schemas.openxmlformats.org/officeDocument/2006/relationships/notesSlide" Target="/ppt/notesSlides/notesSlide12.xml" Id="R52f73550ea1c43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c74eadd8e743d9" /><Relationship Type="http://schemas.openxmlformats.org/officeDocument/2006/relationships/notesSlide" Target="/ppt/notesSlides/notesSlide13.xml" Id="R541573f5348e49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5491bcf18549f3" /><Relationship Type="http://schemas.openxmlformats.org/officeDocument/2006/relationships/notesSlide" Target="/ppt/notesSlides/notesSlide14.xml" Id="Rdcf4c4b1a0454c1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7c9f6ef2d14257" /><Relationship Type="http://schemas.openxmlformats.org/officeDocument/2006/relationships/notesSlide" Target="/ppt/notesSlides/notesSlide15.xml" Id="R3cdf63d62fd944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6753b94186409f" /><Relationship Type="http://schemas.openxmlformats.org/officeDocument/2006/relationships/notesSlide" Target="/ppt/notesSlides/notesSlide16.xml" Id="Rc52d4a078b3640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75220396cd40ff" /><Relationship Type="http://schemas.openxmlformats.org/officeDocument/2006/relationships/notesSlide" Target="/ppt/notesSlides/notesSlide17.xml" Id="Reee547a1eba547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79c117629a4def" /><Relationship Type="http://schemas.openxmlformats.org/officeDocument/2006/relationships/notesSlide" Target="/ppt/notesSlides/notesSlide18.xml" Id="Ra80b9e42c9cb47c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48bdc6c2354da4" /><Relationship Type="http://schemas.openxmlformats.org/officeDocument/2006/relationships/notesSlide" Target="/ppt/notesSlides/notesSlide19.xml" Id="R77471f91bab343c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8cd71875d34b3b" /><Relationship Type="http://schemas.openxmlformats.org/officeDocument/2006/relationships/notesSlide" Target="/ppt/notesSlides/notesSlide20.xml" Id="R4e513e55515a4f8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6a7ca5deec4e29" /><Relationship Type="http://schemas.openxmlformats.org/officeDocument/2006/relationships/notesSlide" Target="/ppt/notesSlides/notesSlide21.xml" Id="R11b5941b2860479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109f7a911e4ee6" /><Relationship Type="http://schemas.openxmlformats.org/officeDocument/2006/relationships/notesSlide" Target="/ppt/notesSlides/notesSlide22.xml" Id="R9b325cae475f4a8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e9ecaba8234c73" /><Relationship Type="http://schemas.openxmlformats.org/officeDocument/2006/relationships/notesSlide" Target="/ppt/notesSlides/notesSlide23.xml" Id="Rabde8521b9d84a1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954c70a4d84408" /><Relationship Type="http://schemas.openxmlformats.org/officeDocument/2006/relationships/notesSlide" Target="/ppt/notesSlides/notesSlide24.xml" Id="Rb6dc48f9deab4ba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3c8d25bff14be9" /><Relationship Type="http://schemas.openxmlformats.org/officeDocument/2006/relationships/notesSlide" Target="/ppt/notesSlides/notesSlide25.xml" Id="R1e7cc18eae03425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e34229171e4dad" /><Relationship Type="http://schemas.openxmlformats.org/officeDocument/2006/relationships/notesSlide" Target="/ppt/notesSlides/notesSlide26.xml" Id="Rb45a98616e90422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97f600b7cf4000" /><Relationship Type="http://schemas.openxmlformats.org/officeDocument/2006/relationships/notesSlide" Target="/ppt/notesSlides/notesSlide27.xml" Id="R379afa35dea346b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6d0dac76c04e73" /><Relationship Type="http://schemas.openxmlformats.org/officeDocument/2006/relationships/notesSlide" Target="/ppt/notesSlides/notesSlide28.xml" Id="R0c894db038af42d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680c6db9544d4e" /><Relationship Type="http://schemas.openxmlformats.org/officeDocument/2006/relationships/notesSlide" Target="/ppt/notesSlides/notesSlide29.xml" Id="Ra36e8950811a486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439b399e874527" /><Relationship Type="http://schemas.openxmlformats.org/officeDocument/2006/relationships/notesSlide" Target="/ppt/notesSlides/notesSlide30.xml" Id="Rb562e41bd97149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8EB0B-A853-4DDA-9EA4-749D2424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Customer Intelligence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87C82-D824-48B9-9043-7B7FF980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ถามข้อมูลยอดขายและลูกค้าด้วยภาษาธรรมชาติ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E7937-5BB4-4DF6-8892-6EC65D50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85CDA-BF7F-476F-AB48-BACC13C7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350" b="1">
                <a:solidFill>
                  <a:srgbClr val="102B46"/>
                </a:solidFill>
              </a:defRPr>
            </a:defPPr>
            <a:lvl1pPr>
              <a:defRPr sz="4350" b="1">
                <a:solidFill>
                  <a:srgbClr val="102B46"/>
                </a:solidFill>
              </a:defRPr>
            </a:lvl1pPr>
            <a:lvl2pPr>
              <a:defRPr sz="4350" b="1">
                <a:solidFill>
                  <a:srgbClr val="102B46"/>
                </a:solidFill>
              </a:defRPr>
            </a:lvl2pPr>
            <a:lvl3pPr>
              <a:defRPr sz="4350" b="1">
                <a:solidFill>
                  <a:srgbClr val="102B46"/>
                </a:solidFill>
              </a:defRPr>
            </a:lvl3pPr>
            <a:lvl4pPr>
              <a:defRPr sz="4350" b="1">
                <a:solidFill>
                  <a:srgbClr val="102B46"/>
                </a:solidFill>
              </a:defRPr>
            </a:lvl4pPr>
            <a:lvl5pPr>
              <a:defRPr sz="4350" b="1">
                <a:solidFill>
                  <a:srgbClr val="102B46"/>
                </a:solidFill>
              </a:defRPr>
            </a:lvl5pPr>
            <a:lvl6pPr>
              <a:defRPr sz="4350" b="1">
                <a:solidFill>
                  <a:srgbClr val="102B46"/>
                </a:solidFill>
              </a:defRPr>
            </a:lvl6pPr>
            <a:lvl7pPr>
              <a:defRPr sz="4350" b="1">
                <a:solidFill>
                  <a:srgbClr val="102B46"/>
                </a:solidFill>
              </a:defRPr>
            </a:lvl7pPr>
            <a:lvl8pPr>
              <a:defRPr sz="4350" b="1">
                <a:solidFill>
                  <a:srgbClr val="102B46"/>
                </a:solidFill>
              </a:defRPr>
            </a:lvl8pPr>
            <a:lvl9pPr>
              <a:defRPr sz="43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02B46"/>
                </a:solidFill>
              </a:defRPr>
            </a:pPr>
            <a:r>
              <a:rPr sz="4350" b="1">
                <a:solidFill>
                  <a:srgbClr val="102B46"/>
                </a:solidFill>
              </a:rPr>
              <a:t>Spark + HDFS + 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0F5C6-F011-4812-A03D-8B34D5C5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422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คำถามธุรกิจ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C840E-1D23-4F01-A1F4-2D0BBAC7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3380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969CA-8E41-4B16-AB10-5684940E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2422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ค้นนิยามธุรกิจ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สร้างคำสั่งค้นข้อมูล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B4F5F-9C71-4916-888A-BED72E03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73380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5D813-01D7-477A-99EF-415353DE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2422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ผลจากข้อมูลจริง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2E0C8-A2C6-4A45-8D4A-4AF65C81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SQL = คำสั่งค้นและคำนวณข้อมูล • หลักฐาน = นิยามธุรกิจและคำอธิบายตารางที่ค้นพบ</a:t>
            </a:r>
          </a:p>
        </p:txBody>
      </p:sp>
    </p:spTree>
    <p:extLst>
      <p:ext uri="{BB962C8B-B14F-4D97-AF65-F5344CB8AC3E}">
        <p14:creationId xmlns:p14="http://schemas.microsoft.com/office/powerpoint/2010/main" val="8959527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0EE62-B046-4395-87FE-D595C1DB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จากคำถามธุรกิจสู่คำตอบที่ตรวจสอบได้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C704F-99C6-4A4D-8B76-83886631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ผู้ใช้ไม่ต้องเริ่มจากการเขียน SQL เอง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EF75B-95B6-43D7-932A-D7371E28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746E8-578B-4AFC-86C8-8E4E60B9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5475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ผู้ใช้ถาม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“เดือน ต.ค. 2011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มี invoice กี่ใบ?”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4AFD3-26B4-41C1-B12E-37A7AE47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00350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6E12A-E976-4DE6-8347-02E01EE9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95475"/>
            <a:ext cx="2952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Agent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ค้นนิยาม invoice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สร้างและตรวจ 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1534F-A4B1-409F-8535-595206A9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00350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AC980-BC66-4EAD-82FC-239C50CE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95475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Web application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ตารางผลลัพธ์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SQL + evidence +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83C5A-8331-42AD-A554-9D31C052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รองรับคำถามในนิยามข้อมูลที่เตรียมไว้ ยังไม่ได้วัดผลด้านเวลาทำงานของผู้ใช้หรือรายได้</a:t>
            </a:r>
          </a:p>
        </p:txBody>
      </p:sp>
    </p:spTree>
    <p:extLst>
      <p:ext uri="{BB962C8B-B14F-4D97-AF65-F5344CB8AC3E}">
        <p14:creationId xmlns:p14="http://schemas.microsoft.com/office/powerpoint/2010/main" val="3131944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8D496-0F0C-49AD-9362-957B907E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สิ่งที่พัฒนา และประโยชน์ที่แสดงได้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002B4-BBA2-4390-A068-9D095BF3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แยกความสามารถที่เพิ่มขึ้นออกจากผลที่วัดได้จริง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0DB97-C565-4B43-859D-F361AE25FCA5}"/>
              </a:ext>
            </a:extLst>
          </p:cNvPr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11252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810000"/>
                <a:gridCol w="4838700"/>
              </a:tblGrid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ส่วนที่พัฒนา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ประโยชน์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หลักฐานที่ใช้เล่า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RAG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ค้นนิยามก่อนสร้าง 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Recall@6 = 100% ใน 60 คำถามใหม่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Ontology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เชื่อมคำธุรกิจกับสูตรและตาราง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กราฟ 9 metrics / 3 ตาราง ตรวจ SHACL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Semantic checks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ตรวจ grain เวลา และประชากรลูกค้า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แก้ CTE ที่ถูกปฏิเสธเกินจำเป็นแล้ว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OPA + ตรวจผล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บังคับกฎก่อนรันและก่อนส่งคำตอบ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3 integration tests ใช้ OPA จริงผ่าน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Context engineering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คุม input และลดประวัติสะสม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ตัดข้อความรบกวน 12/12; เก็บทั้งหมด 10/12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Web application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ถามและตรวจคำตอบผ่านหน้าเดียว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HTTP จริงได้ 2,040 invoices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Evaluation harness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ตรวจคำตอบและการถดถอย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ชุดใหม่ 60/60; โจทย์เดิม 80/80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522F7-0AF1-4335-B1D3-E66172CC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ผลรวมยังแยกไม่ได้ว่าแต่ละส่วนเพิ่ม accuracy เท่าไร • ยังไม่รับรองว่าแก้ context rot ได้ทั่วไป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E196D-9BD0-4A0E-982F-BE17FB71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16599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7D736-6A3B-4076-9F3D-73F8EFAE7952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1643063" y="2828925"/>
            <a:ext cx="323850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EBF97-7F2B-4764-868D-73D272F71940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8334375" y="4438650"/>
            <a:ext cx="500063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1D412-D1DB-4EFF-A1CE-384625BA1AF4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238875" y="2314575"/>
            <a:ext cx="2095500" cy="1181100"/>
          </a:xfrm>
          <a:prstGeom xmlns:a="http://schemas.openxmlformats.org/drawingml/2006/main" prst="bentConnector4">
            <a:avLst>
              <a:gd name="adj1" fmla="val 10909"/>
              <a:gd name="adj2" fmla="val 80645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0F1CD-F38B-4B49-9F22-93D2F6D460DC}"/>
              </a:ext>
            </a:extLst>
          </p:cNvPr>
          <p:cNvCxnSpPr>
            <a:stCxn xmlns:a="http://schemas.openxmlformats.org/drawingml/2006/main" id="14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4881563" y="28289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9A945-DAE4-43F3-AF6C-9D0D8AFBF19B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238875" y="23145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1A621-AFC9-4E6E-A786-89AFC0E3F1F1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62250" y="23145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7F065-129F-470A-B0CE-FECA00DB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Architecture: เส้นทางคำถามและเส้นทางข้อมูล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388F3-10CC-4086-83C2-08948133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Custom Python single-agent harness เชื่อมโมเดลกับ Spark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21A8D-9625-4699-8B00-8CF1DADE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10CE4-7F93-483A-9325-4951916E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0225"/>
            <a:ext cx="223837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Web UI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Python HTTP + 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01914-A10F-42AE-B070-B41A79EF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0225"/>
            <a:ext cx="2714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Agent harness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RAG / policy / repair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FAFAE-38DA-42FF-A2A8-D9EB826F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00225"/>
            <a:ext cx="2476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Ollama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Qwen 9B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A2C58-B960-4922-A3F3-EFC3560E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95675"/>
            <a:ext cx="2714625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knowledge/*.md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นิยาม / schema /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2DB4B-7901-4CE4-A47F-9E5FC223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95675"/>
            <a:ext cx="2476500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Spark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Master + 2 workers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EF79B-2B4B-418E-BBEC-13E61141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00600"/>
            <a:ext cx="3476625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HDFS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NameNode + 2 DataNodes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9994A-C36D-42FF-BE0E-ACDB747B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00425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SQL หลังตรวจ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8D2408-2D2E-4225-B9BF-7626C265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Docker บนเครื่องเดียว • HDFS replication 2 • การเชื่อม tool เป็น Python โดยตรง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7892B1-EC9C-44C7-A6FF-C30297C9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95675"/>
            <a:ext cx="2238375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OPA/Rego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กฎอนุญาตใช้ Spark</a:t>
            </a:r>
          </a:p>
        </p:txBody>
      </p:sp>
    </p:spTree>
    <p:extLst>
      <p:ext uri="{BB962C8B-B14F-4D97-AF65-F5344CB8AC3E}">
        <p14:creationId xmlns:p14="http://schemas.microsoft.com/office/powerpoint/2010/main" val="2535785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59699-D975-4D21-8A59-83627DE2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ภายใน Docker: ใครทำหน้าที่อะไร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DA9AE-A2EE-42AA-BBE0-21B36909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ใช้งานประจำ 8 containers บนเครื่องเดียว และมี 2 services ที่เรียกเมื่อทำงานเฉพาะ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69A91-6801-4002-A9E0-A2F601923BAC}"/>
              </a:ext>
            </a:extLst>
          </p:cNvPr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11252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191000"/>
                <a:gridCol w="4457700"/>
              </a:tblGrid>
              <a:tr h="4360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Service / จำนวน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หน้าที่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สิ่งที่เก็บหรือใช้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</a:tr>
              <a:tr h="43603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NameNode /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ดูสารบัญไฟล์ HDFS และตำแหน่ง blocks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Metadata ของระบบไฟล์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603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DataNodes / 2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เก็บและส่ง blocks ของไฟล์จริง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ข้อมูล Parquet และสำเนา blocks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3603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Spark Master /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จัดสรรทรัพยากรให้ Spark applications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สถานะ workers / CPU / memory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603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Spark Workers / 2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รัน executors ตามแผนจาก driver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ข้อมูลชั่วคราวระหว่างคำนวณ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3603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OPA /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ตัดสินนโยบายอนุญาตหรือปฏิเสธ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อ่านกฎ Rego จากโฟลเดอร์ policies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603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Web / 1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HTTP API + agent + Spark driver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อ่าน knowledge/ontology และเขียน trace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3603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spark-job / ชั่วคราว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รัน ETL, smoke test และ 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อ่าน data / เขียน HDFS และ reports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603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prepare-data / ชั่วคราว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ดาวน์โหลดและเตรียมข้อมูลต้นทาง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เขียนไฟล์ต้นทางและ CSV ใน data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0BA38-F5FA-4704-8A88-4AE2714B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02B46"/>
                </a:solidFill>
              </a:defRPr>
            </a:defPPr>
            <a:lvl1pPr>
              <a:defRPr sz="1575" b="0">
                <a:solidFill>
                  <a:srgbClr val="102B46"/>
                </a:solidFill>
              </a:defRPr>
            </a:lvl1pPr>
            <a:lvl2pPr>
              <a:defRPr sz="1575" b="0">
                <a:solidFill>
                  <a:srgbClr val="102B46"/>
                </a:solidFill>
              </a:defRPr>
            </a:lvl2pPr>
            <a:lvl3pPr>
              <a:defRPr sz="1575" b="0">
                <a:solidFill>
                  <a:srgbClr val="102B46"/>
                </a:solidFill>
              </a:defRPr>
            </a:lvl3pPr>
            <a:lvl4pPr>
              <a:defRPr sz="1575" b="0">
                <a:solidFill>
                  <a:srgbClr val="102B46"/>
                </a:solidFill>
              </a:defRPr>
            </a:lvl4pPr>
            <a:lvl5pPr>
              <a:defRPr sz="1575" b="0">
                <a:solidFill>
                  <a:srgbClr val="102B46"/>
                </a:solidFill>
              </a:defRPr>
            </a:lvl5pPr>
            <a:lvl6pPr>
              <a:defRPr sz="1575" b="0">
                <a:solidFill>
                  <a:srgbClr val="102B46"/>
                </a:solidFill>
              </a:defRPr>
            </a:lvl6pPr>
            <a:lvl7pPr>
              <a:defRPr sz="1575" b="0">
                <a:solidFill>
                  <a:srgbClr val="102B46"/>
                </a:solidFill>
              </a:defRPr>
            </a:lvl7pPr>
            <a:lvl8pPr>
              <a:defRPr sz="1575" b="0">
                <a:solidFill>
                  <a:srgbClr val="102B46"/>
                </a:solidFill>
              </a:defRPr>
            </a:lvl8pPr>
            <a:lvl9pPr>
              <a:defRPr sz="157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02B46"/>
                </a:solidFill>
              </a:defRPr>
            </a:pPr>
            <a:r>
              <a:rPr sz="1575" b="0">
                <a:solidFill>
                  <a:srgbClr val="102B46"/>
                </a:solidFill>
              </a:rPr>
              <a:t>Container = กระบวนการแยกสภาพแวดล้อม • Ollama และไฟล์โมเดลอยู่บน host นอก Docker</a:t>
            </a:r>
          </a:p>
          <a:p xmlns:a="http://schemas.openxmlformats.org/drawingml/2006/main">
            <a:pPr>
              <a:defRPr sz="1575" b="0">
                <a:solidFill>
                  <a:srgbClr val="102B46"/>
                </a:solidFill>
              </a:defRPr>
            </a:pPr>
            <a:r>
              <a:rPr sz="1575" b="0">
                <a:solidFill>
                  <a:srgbClr val="102B46"/>
                </a:solidFill>
              </a:rPr>
              <a:t>Master จัดทรัพยากร ส่วน driver วางแผน SQL และ workers คำนวณ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9611D-1476-41AC-BBE8-B7C74E45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90857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8A0F7-E3D3-4506-8E1C-E31BED9C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ข้อมูลอยู่ตรงไหน และอะไรอยู่ต่อเมื่อปิด container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62EAB-1F3D-46C1-B892-8EFA932D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แยกข้อมูลถาวรออกจากไฟล์ที่ใช้ร่วมกับเครื่อง host และข้อมูลคำนวณชั่วคราว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5F2AB-65CB-4E59-91C6-036B8DC93D36}"/>
              </a:ext>
            </a:extLst>
          </p:cNvPr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11252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4143375"/>
                <a:gridCol w="3600450"/>
              </a:tblGrid>
              <a:tr h="4905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ที่เก็บ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มีอะไรอยู่ข้างใน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</a:rPr>
                        <a:t>วิธีเชื่อมกับ container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Docker volume: namenode-data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สารบัญไฟล์ HDFS และ metadata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NameNode: /data/name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Docker volumes: datanode-1/2-data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blocks ของ Parquet และสำเนาข้อมูล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DataNodes: /data/data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โฟลเดอร์ data บน host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ไฟล์ต้นทางและ CSV staging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prepare-data เขียน / Spark อ่าน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knowledge / ontology / policies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นิยามธุรกิจ กราฟความหมาย และกฎ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bind mount อ่านอย่างเดียว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โฟลเดอร์ reports บน host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ผล build, evaluation และ trace คำตอบ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spark-job และ web เขียนได้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jobs / sql / web บน host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โค้ด pipeline, agent และหน้าเว็บ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mount ให้ container อ่าน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หน่วยความจำ / พื้นที่ชั่วคราวของ Spark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cache, shuffle และผลระหว่างคำนวณ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02B46"/>
                          </a:solidFill>
                        </a:rPr>
                        <a:t>ใช้ขณะทำงาน ไม่ใช่แหล่งเก็บข้อมูลหลัก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BC02C-07F3-48A5-86C7-CEC60BFA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02B46"/>
                </a:solidFill>
              </a:defRPr>
            </a:defPPr>
            <a:lvl1pPr>
              <a:defRPr sz="1575" b="0">
                <a:solidFill>
                  <a:srgbClr val="102B46"/>
                </a:solidFill>
              </a:defRPr>
            </a:lvl1pPr>
            <a:lvl2pPr>
              <a:defRPr sz="1575" b="0">
                <a:solidFill>
                  <a:srgbClr val="102B46"/>
                </a:solidFill>
              </a:defRPr>
            </a:lvl2pPr>
            <a:lvl3pPr>
              <a:defRPr sz="1575" b="0">
                <a:solidFill>
                  <a:srgbClr val="102B46"/>
                </a:solidFill>
              </a:defRPr>
            </a:lvl3pPr>
            <a:lvl4pPr>
              <a:defRPr sz="1575" b="0">
                <a:solidFill>
                  <a:srgbClr val="102B46"/>
                </a:solidFill>
              </a:defRPr>
            </a:lvl4pPr>
            <a:lvl5pPr>
              <a:defRPr sz="1575" b="0">
                <a:solidFill>
                  <a:srgbClr val="102B46"/>
                </a:solidFill>
              </a:defRPr>
            </a:lvl5pPr>
            <a:lvl6pPr>
              <a:defRPr sz="1575" b="0">
                <a:solidFill>
                  <a:srgbClr val="102B46"/>
                </a:solidFill>
              </a:defRPr>
            </a:lvl6pPr>
            <a:lvl7pPr>
              <a:defRPr sz="1575" b="0">
                <a:solidFill>
                  <a:srgbClr val="102B46"/>
                </a:solidFill>
              </a:defRPr>
            </a:lvl7pPr>
            <a:lvl8pPr>
              <a:defRPr sz="1575" b="0">
                <a:solidFill>
                  <a:srgbClr val="102B46"/>
                </a:solidFill>
              </a:defRPr>
            </a:lvl8pPr>
            <a:lvl9pPr>
              <a:defRPr sz="157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02B46"/>
                </a:solidFill>
              </a:defRPr>
            </a:pPr>
            <a:r>
              <a:rPr sz="1575" b="0">
                <a:solidFill>
                  <a:srgbClr val="102B46"/>
                </a:solidFill>
              </a:rPr>
              <a:t>Volume = พื้นที่เก็บข้อมูลที่แยกจากอายุ container • Bind mount = ใช้โฟลเดอร์ host ร่วมกัน</a:t>
            </a:r>
          </a:p>
          <a:p xmlns:a="http://schemas.openxmlformats.org/drawingml/2006/main">
            <a:pPr>
              <a:defRPr sz="1575" b="0">
                <a:solidFill>
                  <a:srgbClr val="102B46"/>
                </a:solidFill>
              </a:defRPr>
            </a:pPr>
            <a:r>
              <a:rPr sz="1575" b="0">
                <a:solidFill>
                  <a:srgbClr val="102B46"/>
                </a:solidFill>
              </a:rPr>
              <a:t>การลบ volumes จะลบข้อมูล HDFS • replication 2 บน host เดียวไม่ป้องกันเครื่องเสียทั้งเครื่อง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70BE9-91D2-44DD-BFC6-9451D35A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283045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1AE72-94EF-4ACC-BFDD-82B1E4C10697}"/>
              </a:ext>
            </a:extLst>
          </p:cNvPr>
          <p:cNvCxnSpPr>
            <a:stCxn xmlns:a="http://schemas.openxmlformats.org/drawingml/2006/main" id="12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5810250" y="3905250"/>
            <a:ext cx="1428750" cy="1328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8319D-FDA1-4AA3-BA9C-2042FEAC2089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9429750" y="440055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1F762-0564-4030-8775-3B36ED7C2C8E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10250" y="39052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B7969-DD87-47E2-9C49-B85983099105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190875" y="2809875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D301F-1939-43A9-9AE0-A291DE7CF03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23145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79955-4875-4AF9-B1BE-BFE419C5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ตัวอย่างหนึ่งคำถามเดินทางผ่าน Docker อย่างไร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EFA95-6BC5-4F68-BDB9-F7211DE9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“เดือนตุลาคม 2011 มี invoice สำเร็จกี่ใบ?”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4116C-D9E3-4CB0-9B19-06C5B2F4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523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1  Web + agent + driver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RAG / สร้าง SQL / ตรวจคำสั่ง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1F18C-322E-4AC8-8160-7A37E654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19275"/>
            <a:ext cx="4381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OPA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ตัดสินก่อนและหลัง Spark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C5574-4C3A-4504-9276-D9F3AB01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9950"/>
            <a:ext cx="523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2  Spark Master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จัดสรร executors บน workers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BAD1D-D1BB-4052-A48E-F842C8AD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4381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3  Workers / executors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อ่านและคำนวณจากข้อมูล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1F727C-84B3-4564-A340-EC5820DC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91075"/>
            <a:ext cx="438150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HDFS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NameNode บอกตำแหน่ง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DataNodes ส่ง blocks ของ orders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F4139-EA52-4834-ACBA-43FA4386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91075"/>
            <a:ext cx="523875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4  ผลกลับมาที่ driver / Web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ตรวจผล แล้วแสดง 2,040 invoices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พร้อม SQL เอกสารอ้างอิง และ trace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A0C5E-805B-48B8-8C2E-A1A13DB9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Driver เป็นผู้วางแผนและประสานงาน SQL • Master จัดทรัพยากร ไม่ได้เก็บข้อมูลธุรกรรม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ตัวเลข 2,040 มาจาก HTTP test ที่รันจริง ไม่ใช่ตัวเลขสมมติในแผนภาพ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F4E84-440D-4B06-B1F6-02DE6660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862646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3FC8F-544B-4C54-A49E-545C430947AD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9772650" y="2886075"/>
            <a:ext cx="180975" cy="685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FA290-1DF8-415D-A545-095081FA784D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6096000" y="2886075"/>
            <a:ext cx="3676650" cy="685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C7730-A1BA-4046-9D44-ED40DF8457A5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2238375" y="2886075"/>
            <a:ext cx="7534275" cy="685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29DCA-4FB9-40DB-BCDA-10036F10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Data pipeline: ข้อมูลดิบกลายเป็นตารางวิเคราะห์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185DC-42ED-4642-8BE5-F6068784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UCI Online Retail II ข้อมูลธุรกรรมปี 2009–2011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6794D-B947-4BE6-9CC3-B823F42B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8EB70-6822-4D0C-BCFF-25CFFDE1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ไฟล์ต้นทาง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1,067,371 แถว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5B430-A723-4AA1-9D68-029AE587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2288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A3F43-1BB1-4D89-853D-5C3F6D76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192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Spark ETL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แยกประเภทธุรกรรม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71A65-DE38-4A0C-B56D-6F6EE04D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288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4518E-F8E8-4C12-AEB2-2A8FAB09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192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Parquet บน HDFS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จัดเก็บเป็นชุดข้อมูล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BFE5D-B655-4F3D-AE04-503D5F8A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sales_lines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1,067,371 แถว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หนึ่งรายการสินค้าเดิม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14FAA-9E24-4471-8981-F8FC54B7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71875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orders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40,077 แถว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หนึ่ง completed-sale invoice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8AE07C-DE2B-4A13-BFA4-40F0F169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customer_summary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3,450 แถว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หนึ่งลูกค้าที่ระบุ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E7ED7-305A-4200-8483-786A2E24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Grain = หนึ่งแถวแทนอะไร เช่น 1 invoice หรือ 1 รายการสินค้า</a:t>
            </a:r>
          </a:p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ตารางลูกค้าสรุปย้อนหลัง 180 วัน ณ 2011-12-01</a:t>
            </a:r>
          </a:p>
        </p:txBody>
      </p:sp>
    </p:spTree>
    <p:extLst>
      <p:ext uri="{BB962C8B-B14F-4D97-AF65-F5344CB8AC3E}">
        <p14:creationId xmlns:p14="http://schemas.microsoft.com/office/powerpoint/2010/main" val="6407402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5ECA3-99E4-42DB-B905-B5BF23CD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4 ชั้นที่ประกอบเป็น Agent ของโปรเจกต์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AFDA1-B3B7-4242-A0FE-0DC5C19D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แต่ละชั้นเพิ่มสิ่งที่ต้องควบคุมรอบโมเดล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022A2-0F36-4C12-AC77-D74F1DD5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7ED35-2689-45D5-9D24-2A85788D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533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1  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20ABE-3AC4-45D7-B85A-8B5C2DCA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บทบาท + กติกา + รูปแบบ JSON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กำหนดสิ่งที่โมเดลต้องสร้าง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CE248-CD47-49F7-8A76-D6BC197E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533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2 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5EAE7-4B4C-4D1B-95C4-59493810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คำถาม + RAG evidence + สถานะล่าสุด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เลือกสิ่งที่โมเดลเห็นในแต่ละรอบ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2034A-D3F5-4E88-A4FA-5A866A14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533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3  Harness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46EE6-4F04-4912-A82D-F01B034B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OPA + SQL guards + Spark tool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ตรวจผลลัพธ์และบันทึก trace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4F04D-7663-43C8-993E-6F32A61C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9975"/>
            <a:ext cx="533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4 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3FA0D-B50E-4680-9003-A678C617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ผ่าน / แก้ใหม่ / ถามกลับ / หยุด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กำหนดการจบงาน สูงสุด 3 attempts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7FC41-D81E-48FF-AB8E-989C72D6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แต่ละชั้นเชื่อมกันใน custom Python harness ของโปรเจกต์</a:t>
            </a:r>
          </a:p>
        </p:txBody>
      </p:sp>
    </p:spTree>
    <p:extLst>
      <p:ext uri="{BB962C8B-B14F-4D97-AF65-F5344CB8AC3E}">
        <p14:creationId xmlns:p14="http://schemas.microsoft.com/office/powerpoint/2010/main" val="4061881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7B874-50C9-4070-93B7-C20B43AA616E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6096000" y="2876550"/>
            <a:ext cx="3676650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03C71-B26E-4877-A7FD-71ECBA7F35AD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00750" y="2876550"/>
            <a:ext cx="95250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4B997-5AB4-419F-AB98-53F6E63D3EA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2228850" y="2876550"/>
            <a:ext cx="3867150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F6AA2-48C3-4DA8-A8EA-84F9C648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Prompt: จากข้อกำหนดสู่ SQL ที่มีโครงสร้าง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23545-1C23-4BF6-8944-6E9F4149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โมเดลสร้างข้อเสนอ SQL ส่วน harness เป็นผู้อนุญาตให้รัน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928E0-4D1E-4700-83B9-C9D7D4DA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939C5-841B-4DEE-A68B-C582A7DB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Role + rules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วิเคราะห์ข้อมูลตามนิยาม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4D792-E353-485A-90F7-CFBCFBE3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Question + evidence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คำถามและหลักฐาน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EC37F-2745-4329-9F77-5DCCB180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Output schema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JSON ที่ตรวจต่อได้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A1788-3B43-49AA-9803-9FEF6236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86150"/>
            <a:ext cx="48577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Qwen 9B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สร้าง SQL ตามบริบทที่ได้รับ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D9C75-021F-4DC2-88B8-28575653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57700"/>
            <a:ext cx="2286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12140-E836-410D-ACCC-1F2F2CA6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95850"/>
            <a:ext cx="8096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SQL + explanation + grain + citation IDs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B3497-054B-406A-B074-E90EF7B5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รูปแบบถูกต้องเพียงอย่างเดียวยังไม่รับประกันว่าความหมายของคำตอบถูกต้อง</a:t>
            </a:r>
          </a:p>
        </p:txBody>
      </p:sp>
    </p:spTree>
    <p:extLst>
      <p:ext uri="{BB962C8B-B14F-4D97-AF65-F5344CB8AC3E}">
        <p14:creationId xmlns:p14="http://schemas.microsoft.com/office/powerpoint/2010/main" val="18837922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E652A-FFEB-45D1-8877-4A611474942E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8858250" y="2876550"/>
            <a:ext cx="914400" cy="1128713"/>
          </a:xfrm>
          <a:prstGeom xmlns:a="http://schemas.openxmlformats.org/drawingml/2006/main" prst="bentConnector5">
            <a:avLst>
              <a:gd name="adj1" fmla="val 0"/>
              <a:gd name="adj2" fmla="val 20253"/>
              <a:gd name="adj3" fmla="val 75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62BCB-C4E0-4E85-9587-DDDDE070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RAG: ค้นนิยามก่อนสร้าง SQL ทุกคำถาม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85447-1DE1-4E64-9F0E-56F3BB0C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BM25 และคำศัพท์ไทย/อังกฤษ ทำงานบน knowledge corpus ขนาดเล็ก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4F11D-77F9-4240-80FD-6FC9184E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A507D-23A4-4F8A-96DF-163AB624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“ลูกค้าซื้อซ้ำ”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4D531-C182-468E-913F-6BCA22FF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2193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DF909-4ECA-4206-A945-9FBB604D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ขยายคำค้น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metric / schema / syntax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63DB3-D617-4680-8F07-D786BD79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193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17A5F-FBF5-47D0-B384-10C93D29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จัดอันดับ BM25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เลือก top 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9F7B1-E628-4BB4-ADF8-2BAD2B73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14725"/>
            <a:ext cx="55245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เพิ่ม global policies ที่จำเป็น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ประกอบ evidence พร้อม section 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6BC06-B22B-49AD-8FC2-72F8EFDA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00575"/>
            <a:ext cx="2286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75BDA-75FE-498D-AE48-3212E98F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70485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ส่งหลักฐานเข้า prompt เพื่อสร้าง 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BA4BF-6A20-4E53-87BC-428231D4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Atomic section = หนึ่งหัวข้อความรู้ที่อ้างอิงได้ มี ID เช่น metric.orders</a:t>
            </a:r>
          </a:p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มี 20 หัวข้อ • ค้นด้วย BM25 และคำไทย/อังกฤษ • ontology ช่วยเติมนิยามที่เกี่ยวข้อง</a:t>
            </a:r>
          </a:p>
        </p:txBody>
      </p:sp>
    </p:spTree>
    <p:extLst>
      <p:ext uri="{BB962C8B-B14F-4D97-AF65-F5344CB8AC3E}">
        <p14:creationId xmlns:p14="http://schemas.microsoft.com/office/powerpoint/2010/main" val="4282598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34BA1-E203-4D9C-B6A5-FC78BE0E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 RAG: ค้นนิยามก่อนให้โมเดลเขียน 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02913-DA1A-4425-9F95-1D0E52A6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คำถาม: เดือนตุลาคม 2011 มี invoice สำเร็จกี่ใบ?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8ABEF-57FD-427F-AC4C-280A5A9E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64B3A-475A-44F7-827A-7E90F914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02B46"/>
                </a:solidFill>
              </a:defRPr>
            </a:defPPr>
            <a:lvl1pPr>
              <a:defRPr sz="2100" b="0">
                <a:solidFill>
                  <a:srgbClr val="102B46"/>
                </a:solidFill>
              </a:defRPr>
            </a:lvl1pPr>
            <a:lvl2pPr>
              <a:defRPr sz="2100" b="0">
                <a:solidFill>
                  <a:srgbClr val="102B46"/>
                </a:solidFill>
              </a:defRPr>
            </a:lvl2pPr>
            <a:lvl3pPr>
              <a:defRPr sz="2100" b="0">
                <a:solidFill>
                  <a:srgbClr val="102B46"/>
                </a:solidFill>
              </a:defRPr>
            </a:lvl3pPr>
            <a:lvl4pPr>
              <a:defRPr sz="2100" b="0">
                <a:solidFill>
                  <a:srgbClr val="102B46"/>
                </a:solidFill>
              </a:defRPr>
            </a:lvl4pPr>
            <a:lvl5pPr>
              <a:defRPr sz="2100" b="0">
                <a:solidFill>
                  <a:srgbClr val="102B46"/>
                </a:solidFill>
              </a:defRPr>
            </a:lvl5pPr>
            <a:lvl6pPr>
              <a:defRPr sz="2100" b="0">
                <a:solidFill>
                  <a:srgbClr val="102B46"/>
                </a:solidFill>
              </a:defRPr>
            </a:lvl6pPr>
            <a:lvl7pPr>
              <a:defRPr sz="2100" b="0">
                <a:solidFill>
                  <a:srgbClr val="102B46"/>
                </a:solidFill>
              </a:defRPr>
            </a:lvl7pPr>
            <a:lvl8pPr>
              <a:defRPr sz="2100" b="0">
                <a:solidFill>
                  <a:srgbClr val="102B46"/>
                </a:solidFill>
              </a:defRPr>
            </a:lvl8pPr>
            <a:lvl9pPr>
              <a:defRPr sz="21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context, trace = retrieve_context(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    question, knowledge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# Relevant knowledge IDs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"metric.orders"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"schema.orders"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7A002-B8B3-42E0-87AE-7FFE6BEA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50ACC-1938-4E1C-8402-4FD9550C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ค้นว่า invoice ต้องนับอย่างไร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และควรอ่านจากตารางไหน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แล้วส่งนิยามให้โมเดล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1FE5A-7F79-4003-80D7-45444842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B16C2-1030-4A00-9930-09FBBF95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ลดการสร้าง SQL จากการเดา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มี ID เอกสารให้ตรวจย้อนกลับ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CEF28-C438-4D87-A3B7-2A7EBBD0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ผลจริง: Recall@6 = 100% ในชุดใหม่ 60 ข้อ • ยังไม่ได้แยกวัดผลเพิ่ม accuracy ของ RAG เพียงส่วนเดียว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AD019-B29C-4358-9B8A-B7925061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823266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2D85D-FF87-4F4D-A06B-BC3474F2A201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691063" y="3114675"/>
            <a:ext cx="1452563" cy="742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F59E0-277C-4E25-B0CE-6804CE183C2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05500" y="2581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89BAC-73C7-406A-AB36-8F8D0AE1FC6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00375" y="2581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C1998-A462-4433-A9D3-32EC4084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Ontology: แผนที่ความหมายที่คอมพิวเตอร์อ่านได้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52249-66C5-4A3C-894C-A27967F7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มีกราฟ RDF/OWL สำหรับ 9 metrics และ 3 ตาราง พร้อมตัวตรวจ SHACL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E7632-2C00-46E1-A0E2-FB595CEC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D9602-9A3F-4912-B9FB-64C10FE5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2428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คำธุรกิจ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“จำนวนคำสั่งซื้อ”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BB24B-1310-4E88-9CBF-AD2CE3A5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2428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Metric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invoice 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6AC60-018F-4791-A062-899855ED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2428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สูตรคำนวณ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COUNT(*)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41842-2AC9-4B56-BA22-792F3FCB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57625"/>
            <a:ext cx="533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ตาราง orders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หนึ่งแถว = หนึ่ง invoice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49AE5-EDDB-4D5B-8498-1AC03842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RAG ใช้ความสัมพันธ์นี้ดึง metric.orders และ schema.orders</a:t>
            </a:r>
          </a:p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SHACL ตรวจว่าทุก metric มีตาราง สูตร และระดับข้อมูลครบ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2794F-71B9-473B-B62B-2A0C4EE8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Ontology = แผนที่คำศัพท์และความสัมพันธ์ • SHACL = กฎตรวจโครงสร้างกราฟ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ครอบคลุมโดเมนของโปรเจกต์นี้ ยังไม่ใช่ระบบจับคู่ฐานข้อมูลทุกองค์กรอัตโนมัติ</a:t>
            </a:r>
          </a:p>
        </p:txBody>
      </p:sp>
    </p:spTree>
    <p:extLst>
      <p:ext uri="{BB962C8B-B14F-4D97-AF65-F5344CB8AC3E}">
        <p14:creationId xmlns:p14="http://schemas.microsoft.com/office/powerpoint/2010/main" val="7857621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C0C5F-214C-4013-BFC3-FD095700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 Ontology: คำธุรกิจเชื่อมถึงระดับแถว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89765-B41E-4FA9-986F-FAEC54D4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ตัวอย่างความสัมพันธ์จริงในกราฟ โดยละ prefix declarations เพื่อให้อ่านง่าย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D65DD-4FDA-4DEF-8631-41D918C6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AE88A-2342-424E-A501-B4E3737D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02B46"/>
                </a:solidFill>
              </a:defRPr>
            </a:defPPr>
            <a:lvl1pPr>
              <a:defRPr sz="1875" b="0">
                <a:solidFill>
                  <a:srgbClr val="102B46"/>
                </a:solidFill>
              </a:defRPr>
            </a:lvl1pPr>
            <a:lvl2pPr>
              <a:defRPr sz="1875" b="0">
                <a:solidFill>
                  <a:srgbClr val="102B46"/>
                </a:solidFill>
              </a:defRPr>
            </a:lvl2pPr>
            <a:lvl3pPr>
              <a:defRPr sz="1875" b="0">
                <a:solidFill>
                  <a:srgbClr val="102B46"/>
                </a:solidFill>
              </a:defRPr>
            </a:lvl3pPr>
            <a:lvl4pPr>
              <a:defRPr sz="1875" b="0">
                <a:solidFill>
                  <a:srgbClr val="102B46"/>
                </a:solidFill>
              </a:defRPr>
            </a:lvl4pPr>
            <a:lvl5pPr>
              <a:defRPr sz="1875" b="0">
                <a:solidFill>
                  <a:srgbClr val="102B46"/>
                </a:solidFill>
              </a:defRPr>
            </a:lvl5pPr>
            <a:lvl6pPr>
              <a:defRPr sz="1875" b="0">
                <a:solidFill>
                  <a:srgbClr val="102B46"/>
                </a:solidFill>
              </a:defRPr>
            </a:lvl6pPr>
            <a:lvl7pPr>
              <a:defRPr sz="1875" b="0">
                <a:solidFill>
                  <a:srgbClr val="102B46"/>
                </a:solidFill>
              </a:defRPr>
            </a:lvl7pPr>
            <a:lvl8pPr>
              <a:defRPr sz="1875" b="0">
                <a:solidFill>
                  <a:srgbClr val="102B46"/>
                </a:solidFill>
              </a:defRPr>
            </a:lvl8pPr>
            <a:lvl9pPr>
              <a:defRPr sz="187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ci:invoices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    ci:sourceTable ci:orders ;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    ci:hasGrain ci:invoice ;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    ci:definedBy ci:invoicesEvidence ;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    ci:formula "COUNT(*)" 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1CBB3-F39D-4221-A0AE-37BF8DF1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9B7D2-3CDD-448C-A146-2E47FDB6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จำนวนคำสั่งซื้อใช้ COUNT(*)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จาก orders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หนึ่งแถวคือหนึ่ง invoice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63172-370E-4AB8-8423-5419777A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BF614-0BB4-43AA-9CD3-D812C037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ความหมายอยู่ในกราฟที่ตรวจได้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RAG ใช้เติมเอกสาร metric/schema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ที่จำเป็น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D8A24-E359-477C-A9EA-9F51FA2E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มี RDF/OWL และ SHACL ทำงานจริง • ประโยชน์ที่ยืนยันคือโครงสร้างนิยามตรวจได้ ยังไม่แยกคะแนน accuracy จาก ontology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219BC-8137-4C64-A658-937FCBB5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460580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E3C6A-4345-4629-AF28-40468C8B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Context engineering: เลือกสิ่งที่โมเดลเห็น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006CD-F192-4A55-A6CD-53B52B67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รักษาหลักฐานที่เลือกไว้ และลดสิ่งที่สะสมระหว่างการแก้ 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9FAE5-7F51-4C72-8405-FE71947F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326D6-4E6C-41F1-9D11-DBBE4CE8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857500" cy="1590675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Inputs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คำถาม + evidence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optional background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BCABD-41CC-4F07-A7D0-F12D8E00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622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D4B91-768B-4510-AF50-6AA86E70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05000"/>
            <a:ext cx="3762375" cy="1590675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Context curator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ตัด background ที่ระบุว่าไม่จำเป็น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รวมหลักฐานซ้ำ ตรวจ ID ขัดแย้ง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3D97D-D910-4C46-A64F-4F88A424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622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2F935-E909-4F51-BDDB-AE0499A4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05000"/>
            <a:ext cx="2809875" cy="1590675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Model input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หลักฐานเดิมครบ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สถานะซ่อมล่าสุด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639AC-4466-4443-97C4-E483010C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10287000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Repair memory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คำถาม/หลักฐานเดิม + SQL/citations ล่าสุด + error บรรทัดแรก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ไม่สะสมคำอธิบายเก่าหรือ Spark plan ทั้งก้อน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55F35-B804-4F2C-87C7-240D90D1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Input budget ประมาณ 6,000 tokens ใน window 8,192 • เก็บ token usage จริงหลังเรียก Ollama</a:t>
            </a:r>
          </a:p>
        </p:txBody>
      </p:sp>
    </p:spTree>
    <p:extLst>
      <p:ext uri="{BB962C8B-B14F-4D97-AF65-F5344CB8AC3E}">
        <p14:creationId xmlns:p14="http://schemas.microsoft.com/office/powerpoint/2010/main" val="11956454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F5E27-8A43-4A33-BF56-99D7AC1B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 Context: เก็บโจทย์เดิมและสถานะซ่อมล่าสุด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E6FE3-8804-4EAB-B005-456C36E6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ย่อแนวทางของ repair_messages โดยไม่แสดงการประกอบข้อความทั้งหมด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2FE02-503F-432A-8FAC-41B29A9B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C67DA-30D7-427B-AA5D-5360B5B9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02B46"/>
                </a:solidFill>
              </a:defRPr>
            </a:defPPr>
            <a:lvl1pPr>
              <a:defRPr sz="1875" b="0">
                <a:solidFill>
                  <a:srgbClr val="102B46"/>
                </a:solidFill>
              </a:defRPr>
            </a:lvl1pPr>
            <a:lvl2pPr>
              <a:defRPr sz="1875" b="0">
                <a:solidFill>
                  <a:srgbClr val="102B46"/>
                </a:solidFill>
              </a:defRPr>
            </a:lvl2pPr>
            <a:lvl3pPr>
              <a:defRPr sz="1875" b="0">
                <a:solidFill>
                  <a:srgbClr val="102B46"/>
                </a:solidFill>
              </a:defRPr>
            </a:lvl3pPr>
            <a:lvl4pPr>
              <a:defRPr sz="1875" b="0">
                <a:solidFill>
                  <a:srgbClr val="102B46"/>
                </a:solidFill>
              </a:defRPr>
            </a:lvl4pPr>
            <a:lvl5pPr>
              <a:defRPr sz="1875" b="0">
                <a:solidFill>
                  <a:srgbClr val="102B46"/>
                </a:solidFill>
              </a:defRPr>
            </a:lvl5pPr>
            <a:lvl6pPr>
              <a:defRPr sz="1875" b="0">
                <a:solidFill>
                  <a:srgbClr val="102B46"/>
                </a:solidFill>
              </a:defRPr>
            </a:lvl6pPr>
            <a:lvl7pPr>
              <a:defRPr sz="1875" b="0">
                <a:solidFill>
                  <a:srgbClr val="102B46"/>
                </a:solidFill>
              </a:defRPr>
            </a:lvl7pPr>
            <a:lvl8pPr>
              <a:defRPr sz="1875" b="0">
                <a:solidFill>
                  <a:srgbClr val="102B46"/>
                </a:solidFill>
              </a:defRPr>
            </a:lvl8pPr>
            <a:lvl9pPr>
              <a:defRPr sz="187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# Keep original instructions + task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base = original[:2]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# Keep only the latest repair state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state = {"sql": latest_sql,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         "error": latest_error}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# Do not append every old attempt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FFCF5-45A1-4FBA-84E4-C0F9624D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0FDFD-5D0B-472B-AB15-B860A2A4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เก็บคำถามและเอกสารเดิมไว้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รอบแก้ SQL ใช้ข้อผิดพลาดล่าสุด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ไม่พ่วงคำอธิบายเก่าทั้งหมด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BD0D3-A3F7-4EEE-BBB2-1A83E383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BE4E9-88A9-4A0D-A5C0-5828670E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ควบคุมการสะสมบริบทในลูป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ข้อความประกอบที่ระบุว่าไม่จำเป็น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ตัดออกได้โดยไม่ตัดนิยามหลัก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A8B28-3FD5-457F-B804-E9B73AB0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หลักฐานที่วัดแยกต่างหาก: ตัดข้อความรบกวนสำเร็จ 12/12; เก็บทั้งหมด 10/12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อีกสองข้อหยุดเพราะงบ input • ไม่ใช่การพิสูจน์ว่าโมเดลคิดถูกขึ้นหรือแก้ context rot ทั่วไป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480A1-779F-4C8A-ABAE-1ABF456D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427314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BFC1B-D0BF-4E0C-9C4E-3844A0F3E46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0250" y="27813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D40B2-F627-46FD-8C7A-01F426D2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จุดตรวจ SQL และผลลัพธ์ด้วย OPA/Rego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D49B4-BE26-4240-A01A-0B351C51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OPA ตัดสินอนุญาตหรือปฏิเสธ ส่วน Python บังคับใช้คำตัดสิน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3AAD1-4CF6-4246-9E1B-A8F5DE9F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57130-C870-491D-8005-5583D1F8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5238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ก่อนเรียก Spark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อ่านข้อมูลเท่านั้น / 3 ตาราง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ไม่เกิน 3 รอบ / จำกัด 200 แถว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D641E-690E-4D25-BAAE-41B923A5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71675"/>
            <a:ext cx="5238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หลังรัน SQL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รูปแบบตารางและจำนวนแถว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ค่าตัวเลข / ID / สัดส่วน / กลุ่มซ้ำ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95A7D-38F6-4192-9A91-0BCD7DFF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67175"/>
            <a:ext cx="1009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ตรวจความหมายเพิ่มก่อนรัน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จำนวน invoice ต้องใช้ orders • ช่วงเวลาตรงคำถาม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วันสรุปลูกค้าและประเภท sale / return / cancellation ต้องตรง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267B3-0689-4CEA-9798-975D0A9B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Rego = ภาษาที่ใช้เขียนกฎให้ OPA • OPA ติดต่อไม่ได้ให้หยุด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Post-tool checks ตรวจเงื่อนไขที่กำหนด ส่วนความถูกต้องทั้งคำตอบวัดเทียบผลอ้างอิง</a:t>
            </a:r>
          </a:p>
        </p:txBody>
      </p:sp>
    </p:spTree>
    <p:extLst>
      <p:ext uri="{BB962C8B-B14F-4D97-AF65-F5344CB8AC3E}">
        <p14:creationId xmlns:p14="http://schemas.microsoft.com/office/powerpoint/2010/main" val="14135586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FC163-12C9-4BB2-B431-49D052BC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ตัวอย่างการตรวจความหมาย: นับ invoice ให้ถูกตาราง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C1ADF-3F38-4F1B-923C-978CF89C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คำถามเดียวกัน แต่ใช้ตารางต่างกันจะนับคนละสิ่ง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4656B-2A56-40DA-822C-5CBC9611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E7164-BAC2-4AAD-B729-0DABD286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-- Wrong grain: product lines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SELECT COUNT(*) FROM sales_lines;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-- Invoice grain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SELECT COUNT(*) FROM orders;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3FE39-61B9-47D6-A3E5-C4205714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D118B-3865-4B29-A865-B39C9D94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sales_lines นับรายการสินค้า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orders นับใบสั่งซื้อ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ตัวตรวจปฏิเสธการนับผิด grain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49348-61F2-4A8F-883D-0B367354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F0FD3-9D02-44C3-9453-183904FC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ตรวจผิดตารางก่อนใช้ Spark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และให้ feedback เพื่อแก้ SQL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แทนการส่งตัวเลขผิดชนิด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29C15-2AB0-44A1-A6CC-CD657C22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โค้ดแสดงเฉพาะ grain เพื่ออธิบาย • คำถามรายเดือนยังต้องมี WHERE ตามช่วงเวลา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กรณี CTE ที่เคยไม่ผ่าน แก้แล้วผ่านในโจทย์เดิม 80/80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B8EDF-96D4-462F-9A37-D4D87001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603719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3EA35-0FD5-4DD4-92BE-50C42CB8FF72}"/>
              </a:ext>
            </a:extLst>
          </p:cNvPr>
          <p:cNvCxnSpPr>
            <a:stCxn xmlns:a="http://schemas.openxmlformats.org/drawingml/2006/main" id="15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9310688" y="387667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dash"/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614E0-32F6-4520-A734-AC9720AA3640}"/>
              </a:ext>
            </a:extLst>
          </p:cNvPr>
          <p:cNvCxnSpPr>
            <a:stCxn xmlns:a="http://schemas.openxmlformats.org/drawingml/2006/main" id="16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 flipV="1">
            <a:off x="5238750" y="3286125"/>
            <a:ext cx="1762125" cy="90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dash"/>
            <a:tailEnd type="arrow" w="med" len="me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1582D-0A54-4595-A1E2-1C1E1352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Agent loop: ตรวจ แก้ และตัดสินใจจบงาน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2E3C1-F657-470E-AA21-DBD8D150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วงรอบมีขอบเขต สูงสุด 3 attempts ต่อคำถาม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B1CD3-F273-4E3B-8C6C-4DB7BCF1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9877C-A33B-4540-AA7C-A0058A56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4667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1  Retrieve + policy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49168-F84B-4B86-8AB5-8F9CC961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33550"/>
            <a:ext cx="4619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ข้อมูลไม่พอ / ใช้ไม่ได้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ส่ง clarification และจบ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BAE3B-6988-4D1F-9DBF-D6ACC54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52625"/>
            <a:ext cx="904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BDC5C-A0E2-4C47-955B-3A43003C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43175"/>
            <a:ext cx="2286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D1B64-5662-4185-ACF1-1C5D1D0D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4667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2  Generate SQL + citations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70BFA-79C1-484F-B107-4C0B00B7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4332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4E554-CE07-4565-A0CC-F5701DB4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24325"/>
            <a:ext cx="4667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3  AST / contracts / OPA /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002CD-3897-41A3-9293-F5E3EE75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33875"/>
            <a:ext cx="904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D1A3D-7E9B-414D-943F-F6E3ACE7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24325"/>
            <a:ext cx="4619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4  Spark + result checks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ผ่าน: ส่งตารางและ 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F5BFA-C94E-4D2B-92C0-5941D446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4619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ไม่ผ่าน: ส่ง SQL + error ล่าสุดกลับไปแก้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ครบ 3 attempts หรือเกิน budget: หยุดพร้อมสถานะ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23EA9-D04B-490D-B22B-C39BA747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กลับไปขั้น 2 เมื่อแก้ได้ • ใช้โมเดลเดิม review • ไม่มีการวางแผน sub-agent หรือเลือก tools แบบอิสระ</a:t>
            </a:r>
          </a:p>
        </p:txBody>
      </p:sp>
    </p:spTree>
    <p:extLst>
      <p:ext uri="{BB962C8B-B14F-4D97-AF65-F5344CB8AC3E}">
        <p14:creationId xmlns:p14="http://schemas.microsoft.com/office/powerpoint/2010/main" val="19284878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5EC45-C14C-46B6-A19C-DE6ED988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 OPA และการตรวจผล: ปฏิเสธพร้อมเหตุผล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071C4-2129-4D60-B6D2-58F956A1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Python ตรวจข้อเท็จจริงและผลลัพธ์ ส่วน Rego ตัดสินนโยบาย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1F15D-179A-4774-9AA0-45F76C74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63785-601D-473A-A9C8-8CF5E79F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# Rego policy excerpt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deny contains "write_forbidden" if {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    input.read_only != true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# Post-tool example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COUNT result = -1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=&gt; count_must_be_nonnegative_integer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61EE6-924A-47AA-97DD-DF367780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5A26C-4FCF-4EC9-B8C9-901461A2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คำสั่งเขียนข้อมูลต้องไม่ผ่าน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COUNT ติดลบต้องไม่ส่งให้ผู้ใช้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เมื่อผิดกฎให้แก้หรือหยุด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C2834-1FDF-49DA-A6F9-2C87C103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4F958-81D6-4885-A618-2AA7C9E9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บังคับกฎที่ตรวจสอบได้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OPA ติดต่อไม่ได้ก็หยุด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มีเหตุผลอยู่ใน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8CE21-F247-4B81-BB90-3713C8EE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3 OPA integration tests ผ่านจริง รวมการปฏิเสธผลผิดกฎและกรณีติดต่อ OPA ไม่ได้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ส่วนตัวอย่างผล COUNT เป็นรูปแบบอธิบาย ไม่ใช่ Python ที่รันได้ทั้งก้อน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DD26F-AA96-4A27-8663-64B56D67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559991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EB6CE-504F-43E9-9FF7-8F7A26E2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Web application: เห็นคำตอบพร้อมเส้นทางตรวจสอบ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FF409-0F80-4C57-9D98-A444FC61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Local web app ที่ localhost:8090 เรียก agent และ Spark 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BAFCA-0AF7-4525-99B1-4983E38A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6C183-11F6-43AB-BA12-E0669217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110490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1  ระบุคำถามและเวลา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เดือน ต.ค. 2011 มี invoice กี่ใบ?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3A045-631B-42AB-AFFC-C340A023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62250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365C7-ED6E-4DC9-ADED-0A3A19E3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110490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2  สถานะการทำงาน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กำลังประมวลผล / ถามกลับ / error / สำเร็จ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A942F-15B9-400B-A0C1-69E08F6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38600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64DB9-0FF1-4350-B408-4B4D08F8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62865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>
                <a:solidFill>
                  <a:srgbClr val="102B46"/>
                </a:solidFill>
              </a:defRPr>
            </a:defPPr>
            <a:lvl1pPr algn="ctr">
              <a:defRPr sz="2325">
                <a:solidFill>
                  <a:srgbClr val="102B46"/>
                </a:solidFill>
              </a:defRPr>
            </a:lvl1pPr>
            <a:lvl2pPr algn="ctr">
              <a:defRPr sz="2325">
                <a:solidFill>
                  <a:srgbClr val="102B46"/>
                </a:solidFill>
              </a:defRPr>
            </a:lvl2pPr>
            <a:lvl3pPr algn="ctr">
              <a:defRPr sz="2325">
                <a:solidFill>
                  <a:srgbClr val="102B46"/>
                </a:solidFill>
              </a:defRPr>
            </a:lvl3pPr>
            <a:lvl4pPr algn="ctr">
              <a:defRPr sz="2325">
                <a:solidFill>
                  <a:srgbClr val="102B46"/>
                </a:solidFill>
              </a:defRPr>
            </a:lvl4pPr>
            <a:lvl5pPr algn="ctr">
              <a:defRPr sz="2325">
                <a:solidFill>
                  <a:srgbClr val="102B46"/>
                </a:solidFill>
              </a:defRPr>
            </a:lvl5pPr>
            <a:lvl6pPr algn="ctr">
              <a:defRPr sz="2325">
                <a:solidFill>
                  <a:srgbClr val="102B46"/>
                </a:solidFill>
              </a:defRPr>
            </a:lvl6pPr>
            <a:lvl7pPr algn="ctr">
              <a:defRPr sz="2325">
                <a:solidFill>
                  <a:srgbClr val="102B46"/>
                </a:solidFill>
              </a:defRPr>
            </a:lvl7pPr>
            <a:lvl8pPr algn="ctr">
              <a:defRPr sz="2325">
                <a:solidFill>
                  <a:srgbClr val="102B46"/>
                </a:solidFill>
              </a:defRPr>
            </a:lvl8pPr>
            <a:lvl9pPr algn="ctr">
              <a:defRPr sz="23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325">
                <a:solidFill>
                  <a:srgbClr val="102B46"/>
                </a:solidFill>
              </a:defRPr>
            </a:pPr>
            <a:r>
              <a:rPr sz="2325">
                <a:solidFill>
                  <a:srgbClr val="102B46"/>
                </a:solidFill>
              </a:rPr>
              <a:t>3  ผลทดสอบผ่าน HTTP จริง</a:t>
            </a:r>
          </a:p>
          <a:p xmlns:a="http://schemas.openxmlformats.org/drawingml/2006/main">
            <a:pPr algn="ctr">
              <a:defRPr sz="2325">
                <a:solidFill>
                  <a:srgbClr val="102B46"/>
                </a:solidFill>
              </a:defRPr>
            </a:pPr>
            <a:r>
              <a:rPr sz="2325">
                <a:solidFill>
                  <a:srgbClr val="102B46"/>
                </a:solidFill>
              </a:rPr>
              <a:t>invoice count = 2,040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DE657-029B-4D2C-B061-BB7601CB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43815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102B46"/>
                </a:solidFill>
              </a:defRPr>
            </a:defPPr>
            <a:lvl1pPr algn="ctr">
              <a:defRPr sz="1725">
                <a:solidFill>
                  <a:srgbClr val="102B46"/>
                </a:solidFill>
              </a:defRPr>
            </a:lvl1pPr>
            <a:lvl2pPr algn="ctr">
              <a:defRPr sz="1725">
                <a:solidFill>
                  <a:srgbClr val="102B46"/>
                </a:solidFill>
              </a:defRPr>
            </a:lvl2pPr>
            <a:lvl3pPr algn="ctr">
              <a:defRPr sz="1725">
                <a:solidFill>
                  <a:srgbClr val="102B46"/>
                </a:solidFill>
              </a:defRPr>
            </a:lvl3pPr>
            <a:lvl4pPr algn="ctr">
              <a:defRPr sz="1725">
                <a:solidFill>
                  <a:srgbClr val="102B46"/>
                </a:solidFill>
              </a:defRPr>
            </a:lvl4pPr>
            <a:lvl5pPr algn="ctr">
              <a:defRPr sz="1725">
                <a:solidFill>
                  <a:srgbClr val="102B46"/>
                </a:solidFill>
              </a:defRPr>
            </a:lvl5pPr>
            <a:lvl6pPr algn="ctr">
              <a:defRPr sz="1725">
                <a:solidFill>
                  <a:srgbClr val="102B46"/>
                </a:solidFill>
              </a:defRPr>
            </a:lvl6pPr>
            <a:lvl7pPr algn="ctr">
              <a:defRPr sz="1725">
                <a:solidFill>
                  <a:srgbClr val="102B46"/>
                </a:solidFill>
              </a:defRPr>
            </a:lvl7pPr>
            <a:lvl8pPr algn="ctr">
              <a:defRPr sz="1725">
                <a:solidFill>
                  <a:srgbClr val="102B46"/>
                </a:solidFill>
              </a:defRPr>
            </a:lvl8pPr>
            <a:lvl9pPr algn="ctr">
              <a:defRPr sz="17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เปิดตรวจต่อได้</a:t>
            </a:r>
          </a:p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SQL / evidence / trace</a:t>
            </a:r>
          </a:p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context plan / token usage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A4FDF-5C97-4161-8178-63A26AB4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หน้านี้เป็นแผนภาพการใช้งาน ไม่ใช่ภาพหน้าจอ • แต่ละคำถามแยก context และรับทีละคำถาม</a:t>
            </a:r>
          </a:p>
        </p:txBody>
      </p:sp>
    </p:spTree>
    <p:extLst>
      <p:ext uri="{BB962C8B-B14F-4D97-AF65-F5344CB8AC3E}">
        <p14:creationId xmlns:p14="http://schemas.microsoft.com/office/powerpoint/2010/main" val="13411726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56796-D35D-4E8A-9ACD-37499657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 Web app: คำถามเดียว ตรวจคำตอบต่อได้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61C81-0E0C-440E-977D-796F6F62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ตัวอย่าง request/response จากการทดสอบ HTTP ปัจจุบัน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EA192-C6E9-488D-A8AA-A9B52C9A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12673-E5B4-4D50-8FAD-CD6C2427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02B46"/>
                </a:solidFill>
              </a:defRPr>
            </a:defPPr>
            <a:lvl1pPr>
              <a:defRPr sz="1875" b="0">
                <a:solidFill>
                  <a:srgbClr val="102B46"/>
                </a:solidFill>
              </a:defRPr>
            </a:lvl1pPr>
            <a:lvl2pPr>
              <a:defRPr sz="1875" b="0">
                <a:solidFill>
                  <a:srgbClr val="102B46"/>
                </a:solidFill>
              </a:defRPr>
            </a:lvl2pPr>
            <a:lvl3pPr>
              <a:defRPr sz="1875" b="0">
                <a:solidFill>
                  <a:srgbClr val="102B46"/>
                </a:solidFill>
              </a:defRPr>
            </a:lvl3pPr>
            <a:lvl4pPr>
              <a:defRPr sz="1875" b="0">
                <a:solidFill>
                  <a:srgbClr val="102B46"/>
                </a:solidFill>
              </a:defRPr>
            </a:lvl4pPr>
            <a:lvl5pPr>
              <a:defRPr sz="1875" b="0">
                <a:solidFill>
                  <a:srgbClr val="102B46"/>
                </a:solidFill>
              </a:defRPr>
            </a:lvl5pPr>
            <a:lvl6pPr>
              <a:defRPr sz="1875" b="0">
                <a:solidFill>
                  <a:srgbClr val="102B46"/>
                </a:solidFill>
              </a:defRPr>
            </a:lvl6pPr>
            <a:lvl7pPr>
              <a:defRPr sz="1875" b="0">
                <a:solidFill>
                  <a:srgbClr val="102B46"/>
                </a:solidFill>
              </a:defRPr>
            </a:lvl7pPr>
            <a:lvl8pPr>
              <a:defRPr sz="1875" b="0">
                <a:solidFill>
                  <a:srgbClr val="102B46"/>
                </a:solidFill>
              </a:defRPr>
            </a:lvl8pPr>
            <a:lvl9pPr>
              <a:defRPr sz="187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POST /api/query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Origin: http://localhost:8090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Content-Type: application/json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{"question": "How many completed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 invoices in October 2011?"}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Result: invoice_count = 2040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D3BE0-B66B-4F3E-965F-BBFC5C67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7DEFB-8C07-4131-8702-26DAC569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เว็บส่งคำถามให้ agent ตัวเดียว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ผลคืนเป็นตารางพร้อม SQL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เอกสารอ้างอิง และ 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175BB-44B0-452F-A8DF-8DCCE825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2ED0D-277F-4A29-B2C2-4DF2CAFF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ผู้ใช้ตรวจที่มาของตัวเลขได้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ผ่านหน้าเดียว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ยังไม่ได้วัด usability กับผู้ใช้ใหม่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F94A7-7F63-46F9-81EE-75B39BE0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ทดสอบ HTTP + Qwen + ontology + OPA + Spark/HDFS จริง ได้ 2,040 invoices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JSON ในภาพตัดบรรทัดเพื่ออ่าน ไม่ใช่ raw request สำหรับคัดลอกทั้งก้อน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7ADCC-E038-4E13-8CC7-B1D2B5FF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936101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0D6F4-B7A5-44DA-8D5B-FB7B62F0B86F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6096000" y="3905250"/>
            <a:ext cx="3000375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02062-8688-4693-9D46-21ED5EF52E15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095625" y="3905250"/>
            <a:ext cx="3000375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02554-AC89-405E-81C2-AF23AE7BBF32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96000" y="2324100"/>
            <a:ext cx="3000375" cy="628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9FF7F-6CBB-46BA-8EE2-37A13721A1C1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3095625" y="2324100"/>
            <a:ext cx="3000375" cy="628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540F0-8B36-45A5-839C-7E8A4B44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การวัดผล: มีคำตอบอ้างอิงก่อนให้ Agent ทำ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31C67-9C17-46CD-932D-4DE5A7CD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ผู้พัฒนาเตรียม SQL อ้างอิงและเอกสารที่ควรค้นพบ โดยไม่ส่งเฉลยให้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2EB17-FA57-44F8-9687-178F1497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7275F-871D-4650-A7C9-10B2AE1E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14500"/>
            <a:ext cx="457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คำถามทดสอบเดียวกัน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8E2AC-CAB4-4794-82A8-1E3706F9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Agent สร้าง SQL เอง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ผ่าน guard แล้วรัน Spark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35234-21C9-40DB-8C29-122A35B9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Gold SQL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SQL อ้างอิงที่ผู้พัฒนาเขียน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ผ่าน guard แล้วรัน Spark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4F444-FAA6-4D87-8B58-8B2BC9B4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89535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เปรียบเทียบตารางคำตอบจริงกับตารางเฉลย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คำสั่ง SQL เขียนต่างกันได้ ถ้าผลตรงกันตามเกณฑ์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086A5-2BCA-44E6-9B49-97F64DFC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Expected evidence = IDs ของหัวข้อความรู้ที่โจทย์นั้นควรค้นเจอ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Guard ป้องกันคำสั่งเสี่ยงก่อนรัน • การเทียบเฉลยเป็นอีกขั้นหนึ่งที่ตรวจว่าตอบถูกหรือไม่</a:t>
            </a:r>
          </a:p>
        </p:txBody>
      </p:sp>
    </p:spTree>
    <p:extLst>
      <p:ext uri="{BB962C8B-B14F-4D97-AF65-F5344CB8AC3E}">
        <p14:creationId xmlns:p14="http://schemas.microsoft.com/office/powerpoint/2010/main" val="13091583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D46F5-FD20-494B-9C4D-F63E1A25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 Evaluation: เทียบผลลัพธ์กับเฉลย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BE65B-DE58-42C2-A1CE-AF796A4F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ตัวอย่างย่อสำหรับโจทย์ที่ต้องคืนตาราง ไม่รวมแขนการถามกลับ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F80B9-5015-4288-A1AA-56D58BC9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7BD70-A1EF-4D2D-879F-21CA4BED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correct = (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    result["status"] == "executed"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    and same_result(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        result["result"], gold,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        ordered=case["ordered"]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    )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00FF9-EA9A-4C61-831D-07A5541A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90E5D-E324-4E58-83AE-77179CEC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Agent เขียน SQL เอง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ผู้ประเมินรัน SQL อ้างอิงแยก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แล้วเทียบแถวคำตอบจริง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7BAAA-7AEA-4C47-B542-2371CED8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E3ACE-D871-4D71-AD14-ABD4EDC3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SQL เขียนต่างกันแต่ผลตรงได้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ข้อผิดพลาดและการหยุดนับว่าผิด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ตรวจของเดิมซ้ำหลังแก้ระบบ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60044-C3CD-41A8-88FD-0FFD983F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ชุดใหม่ 60/60 และโจทย์เดิม 80/80 • gold ไม่ถูกส่งให้ Agent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เป็นโจทย์ผู้พัฒนาสร้างในกลุ่มงานที่รองรับ ไม่ใช่ external benchmark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52AE8-1AEE-4F36-B561-AEB553DF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01971952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16883-155A-492B-A0B9-9E57B28E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ผลทดสอบระบบปัจจุบันด้วยคำถามใหม่ 60 ข้อ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F3641-FBD6-486A-82E8-997201B0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ล็อกโค้ด โมเดล ชุดคำถาม และเกณฑ์ก่อนรันจริง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67718-A779-49AF-974D-78534B7B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D6546-BA75-4E97-8A7D-2440673335E6}"/>
              </a:ext>
            </a:extLst>
          </p:cNvPr>
          <p:cNvGraphicFramePr/>
          <p:nvPr/>
        </p:nvGraphicFramePr>
        <p:xfrm>
          <a:off xmlns:a="http://schemas.openxmlformats.org/drawingml/2006/main" x="533400" y="1771650"/>
          <a:ext xmlns:a="http://schemas.openxmlformats.org/drawingml/2006/main" cx="111252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333625"/>
                <a:gridCol w="4600575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สิ่งที่วัด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ผลจริง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หมายความว่าอย่างไร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คำถามใหม่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60/60 ถูก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52 คำตอบ SQL + 8 ถามกลับ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โจทย์เดิมหลังแก้ระบบ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80/80 ถูก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ตรวจว่าการแก้ไม่ทำของเดิมพัง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ค้นเอกสารที่ควรเจอใน 6 อันดับแรก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Recall@6 ในชุดใหม่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เวลาตอบ p95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4.87 วินาที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95% ของชุดใหม่ใช้เวลาไม่เกินค่านี้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9B91A-862D-4BC5-B221-2F2B0F11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53 unit tests และ 3 OPA integration tests ผ่านจริง • โค้ด/โมเดลก่อนและหลังวัดตรงกัน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โจทย์ผู้พัฒนาสร้างในกลุ่มงานที่รองรับ • เวลาไม่รวมเปิด Spark และรัน gold ก่อนคำตอบทดสอบ</a:t>
            </a:r>
          </a:p>
        </p:txBody>
      </p:sp>
    </p:spTree>
    <p:extLst>
      <p:ext uri="{BB962C8B-B14F-4D97-AF65-F5344CB8AC3E}">
        <p14:creationId xmlns:p14="http://schemas.microsoft.com/office/powerpoint/2010/main" val="48912082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CE918-2F76-4994-95CF-48A3477B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การทดลอง Context: ข้อความที่ส่งเข้าโมเดล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E53CB-E125-4EC9-BFE1-99B75EF1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Context = คำถาม เอกสารอ้างอิง และสถานะล่าสุดที่โมเดลเห็น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50CD4-3259-4B5F-8F41-97C9D2D1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585B0-8DDB-4BE8-B487-F74D1E2A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238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เอกสารที่จำเป็น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นิยาม invoice + ตาราง orders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FCE5C-96B1-4E7C-A7FD-BCDD859D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5238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ข้อความประกอบที่ไม่เกี่ยวกับงาน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บันทึกอากาศและเฟอร์นิเจอร์ 3,000 ตัวอักษร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2D852-CA8D-496D-8842-D353EE29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333375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ไม่มีข้อความรบกวน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คำถาม + เอกสารจำเป็น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846B3-13F7-495F-9C2C-C3488893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38550"/>
            <a:ext cx="333375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ตัดข้อความรบกวน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 + เอกสารจำเป็น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ตัดเฉพาะข้อความประกอบ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31C46-347F-4735-8F00-6513091D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333375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เก็บข้อความทั้งหมด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 + เอกสารจำเป็น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+ ข้อความประกอบ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02693-1780-4C59-B3E2-75D552F4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12 คำถาม × 3 เงื่อนไข = 36 รอบทดลอง • ทุกเงื่อนไขใช้ RAG และเก็บเอกสารที่จำเป็นครบ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Web app ปกติไม่ได้ส่งบันทึกประกอบเหล่านี้ การเติมข้อความทำเพื่อทดสอบ</a:t>
            </a:r>
          </a:p>
        </p:txBody>
      </p:sp>
    </p:spTree>
    <p:extLst>
      <p:ext uri="{BB962C8B-B14F-4D97-AF65-F5344CB8AC3E}">
        <p14:creationId xmlns:p14="http://schemas.microsoft.com/office/powerpoint/2010/main" val="51218857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7059E-70AE-4296-8B21-0A6E0C31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ผลทดลอง Context: 12 คำถามในแต่ละเงื่อนไข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29826-A660-4671-8D53-EE76E4C9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ทุกข้อเทียบตารางคำตอบกับเฉลยจริง การหยุดหรือล้มเหลวนับว่าไม่ถูก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3ACEE-BFAE-4E6D-A8D3-6E5DB8F4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70D91-5B29-462E-A613-2D31E26D3B6D}"/>
              </a:ext>
            </a:extLst>
          </p:cNvPr>
          <p:cNvGraphicFramePr/>
          <p:nvPr/>
        </p:nvGraphicFramePr>
        <p:xfrm>
          <a:off xmlns:a="http://schemas.openxmlformats.org/drawingml/2006/main" x="533400" y="1771650"/>
          <a:ext xmlns:a="http://schemas.openxmlformats.org/drawingml/2006/main" cx="111252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905000"/>
                <a:gridCol w="2133600"/>
                <a:gridCol w="2133600"/>
              </a:tblGrid>
              <a:tr h="833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สิ่งที่ส่งเข้าโมเดล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ตอบถูก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หยุดก่อนโมเดล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หยุดระหว่างซ่อม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ไม่มีข้อความรบกวน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12/12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ตัดเฉพาะข้อความรบกวน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12/12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เก็บข้อความประกอบทั้งหมด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10/12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B8047-D65B-49B6-8FC5-EFF00D23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เอกสารจำเป็นเก็บครบ 12/12 ทุกเงื่อนไข • ไม่มีคำตอบที่ส่งแล้วผิดใน 36 รอบนี้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สองข้อที่ไม่สำเร็จหยุดเพราะงบ input ของโปรแกรม จึงยังไม่ใช่หลักฐานว่าโมเดลเกิด context rot</a:t>
            </a:r>
          </a:p>
        </p:txBody>
      </p:sp>
    </p:spTree>
    <p:extLst>
      <p:ext uri="{BB962C8B-B14F-4D97-AF65-F5344CB8AC3E}">
        <p14:creationId xmlns:p14="http://schemas.microsoft.com/office/powerpoint/2010/main" val="3881113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BE90E-8481-4A7A-8DB9-8C32D98D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Context: ลดข้อความส่วนเกินได้ โดยเก็บนิยามที่ต้องใช้ครบ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6A781-7A5E-4FBE-9F45-841F4C1B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Tokens คือหน่วยข้อความที่โมเดลนับ ตัวเลขด้านล่างเป็น input ที่ Ollama รายงานจริง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85CBB-D614-4224-B180-BE606A23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0E7BE-6903-475C-A6BC-53BEE806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11049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ไม่มีข้อความรบกวน / ตัดข้อความรบกวน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2,017–2,470 tokens ต่อการเรียก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ตอบถูก 12/12 ในแต่ละเงื่อนไข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5E860-C0AA-4C87-9C8C-13727E70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11049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เก็บข้อความรบกวนทั้งหมด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2,503–2,863 tokens ต่อการเรียกที่เกิดขึ้น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ตอบถูก 10/12 อีก 2 ข้อหยุดเพราะงบของโปรแกรม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B02FB-AE38-49A6-B51D-7D71C6DB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149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02B46"/>
                </a:solidFill>
              </a:defRPr>
            </a:defPPr>
            <a:lvl1pPr>
              <a:defRPr sz="2025" b="1">
                <a:solidFill>
                  <a:srgbClr val="102B46"/>
                </a:solidFill>
              </a:defRPr>
            </a:lvl1pPr>
            <a:lvl2pPr>
              <a:defRPr sz="2025" b="1">
                <a:solidFill>
                  <a:srgbClr val="102B46"/>
                </a:solidFill>
              </a:defRPr>
            </a:lvl2pPr>
            <a:lvl3pPr>
              <a:defRPr sz="2025" b="1">
                <a:solidFill>
                  <a:srgbClr val="102B46"/>
                </a:solidFill>
              </a:defRPr>
            </a:lvl3pPr>
            <a:lvl4pPr>
              <a:defRPr sz="2025" b="1">
                <a:solidFill>
                  <a:srgbClr val="102B46"/>
                </a:solidFill>
              </a:defRPr>
            </a:lvl4pPr>
            <a:lvl5pPr>
              <a:defRPr sz="2025" b="1">
                <a:solidFill>
                  <a:srgbClr val="102B46"/>
                </a:solidFill>
              </a:defRPr>
            </a:lvl5pPr>
            <a:lvl6pPr>
              <a:defRPr sz="2025" b="1">
                <a:solidFill>
                  <a:srgbClr val="102B46"/>
                </a:solidFill>
              </a:defRPr>
            </a:lvl6pPr>
            <a:lvl7pPr>
              <a:defRPr sz="2025" b="1">
                <a:solidFill>
                  <a:srgbClr val="102B46"/>
                </a:solidFill>
              </a:defRPr>
            </a:lvl7pPr>
            <a:lvl8pPr>
              <a:defRPr sz="2025" b="1">
                <a:solidFill>
                  <a:srgbClr val="102B46"/>
                </a:solidFill>
              </a:defRPr>
            </a:lvl8pPr>
            <a:lvl9pPr>
              <a:defRPr sz="2025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B46"/>
                </a:solidFill>
              </a:defRPr>
            </a:pPr>
            <a:r>
              <a:rPr sz="2025" b="1">
                <a:solidFill>
                  <a:srgbClr val="102B46"/>
                </a:solidFill>
              </a:rPr>
              <a:t>สรุปได้: การตัดข้อความประกอบช่วยควบคุม input ในการทดลองนี้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22389-A74A-4F54-8EB2-F518299A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Context rot = คุณภาพคำตอบลดลงเมื่อบริบทยาวหรือมีสิ่งรบกวนสะสม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ยังทดสอบไม่ถึง window เต็ม 8,192 tokens หรือ noise ในเอกสารหลัก จึงยังรับรองว่าแก้ได้ทั่วไปไม่ได้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62866827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69D97-71E1-4EDF-B015-76F2E2D2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สิ่งที่พัฒนาแล้วและขอบเขตการใช้งาน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10C26-951C-4D62-811A-6BDCC822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เพิ่มส่วนที่ขาด แล้ววัดกับระบบจริงก่อนสรุปผล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3339D-3383-4D8B-AF43-5980786A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0A4CC-6A58-4301-BCD1-F09A6287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238750" cy="2371725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เพิ่มในระบบ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Domain ontology + SHACL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OPA/Rego ก่อนและหลัง Spark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Semantic checks + ชุดคำถามใหม่ 60 ข้อ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BF09D-AFFD-4A3B-BB95-34FDC4D8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5238750" cy="2371725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ขอบเขตที่ยังต้องบอกผู้ใช้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ทำงานบนเครื่องเดียว ทีละคำถาม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ยังไม่มีระบบบัญชีผู้ใช้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รองรับนิยามและรูปแบบ SQL ที่กำหนด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59A5B-049F-4D71-8568-065E1210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10287000" cy="847725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Semantic checks = ตรวจว่าคำสั่งใช้ความหมายตรงงาน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เช่น นับ invoice จากตาราง invoice และใช้ช่วงเวลาที่ผู้ใช้ขอ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C3D2A-84AC-4F27-82F6-5135BAC4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ผล benchmark บอกความสามารถในชุดที่วัด • การรับรองคำถามทุกแบบต้องใช้หลักฐานเพิ่ม</a:t>
            </a:r>
          </a:p>
        </p:txBody>
      </p:sp>
    </p:spTree>
    <p:extLst>
      <p:ext uri="{BB962C8B-B14F-4D97-AF65-F5344CB8AC3E}">
        <p14:creationId xmlns:p14="http://schemas.microsoft.com/office/powerpoint/2010/main" val="176008489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3166C-9909-4064-9AFD-0A3BA9FF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การสาธิตและการนำไปพัฒนาต่อ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DE4F8-ABEA-4977-B92D-F0902ECC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Source code และหลักฐานการวัดผลอยู่บน GitHub public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693B6-FAB8-456B-AA13-EBE43A36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F7A70-E215-4880-A35C-CF252190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54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เปิด Docker stack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สร้างข้อมูลบน HDFS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28FFD-A8CE-4D63-96FE-89C025CC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050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A8E1F-5877-42CD-81AD-F52358AC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954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เปิด Web app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ถามพร้อมช่วงเวลา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B93DD-8F20-4B04-942A-36504B93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050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3BD92-D7AD-40F6-B1F7-C4E1197E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954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ตรวจผล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SQL / evidence /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8FA66-8F29-472A-8618-B02D864C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814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75" b="1">
                <a:solidFill>
                  <a:srgbClr val="102B46"/>
                </a:solidFill>
              </a:defRPr>
            </a:defPPr>
            <a:lvl1pPr>
              <a:defRPr sz="2775" b="1">
                <a:solidFill>
                  <a:srgbClr val="102B46"/>
                </a:solidFill>
              </a:defRPr>
            </a:lvl1pPr>
            <a:lvl2pPr>
              <a:defRPr sz="2775" b="1">
                <a:solidFill>
                  <a:srgbClr val="102B46"/>
                </a:solidFill>
              </a:defRPr>
            </a:lvl2pPr>
            <a:lvl3pPr>
              <a:defRPr sz="2775" b="1">
                <a:solidFill>
                  <a:srgbClr val="102B46"/>
                </a:solidFill>
              </a:defRPr>
            </a:lvl3pPr>
            <a:lvl4pPr>
              <a:defRPr sz="2775" b="1">
                <a:solidFill>
                  <a:srgbClr val="102B46"/>
                </a:solidFill>
              </a:defRPr>
            </a:lvl4pPr>
            <a:lvl5pPr>
              <a:defRPr sz="2775" b="1">
                <a:solidFill>
                  <a:srgbClr val="102B46"/>
                </a:solidFill>
              </a:defRPr>
            </a:lvl5pPr>
            <a:lvl6pPr>
              <a:defRPr sz="2775" b="1">
                <a:solidFill>
                  <a:srgbClr val="102B46"/>
                </a:solidFill>
              </a:defRPr>
            </a:lvl6pPr>
            <a:lvl7pPr>
              <a:defRPr sz="2775" b="1">
                <a:solidFill>
                  <a:srgbClr val="102B46"/>
                </a:solidFill>
              </a:defRPr>
            </a:lvl7pPr>
            <a:lvl8pPr>
              <a:defRPr sz="2775" b="1">
                <a:solidFill>
                  <a:srgbClr val="102B46"/>
                </a:solidFill>
              </a:defRPr>
            </a:lvl8pPr>
            <a:lvl9pPr>
              <a:defRPr sz="2775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02B46"/>
                </a:solidFill>
              </a:defRPr>
            </a:pPr>
            <a:r>
              <a:rPr sz="2775" b="1">
                <a:solidFill>
                  <a:srgbClr val="102B46"/>
                </a:solidFill>
              </a:rPr>
              <a:t>customer-intelligence-agent-spark-hdfs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F7789-0A24-49D6-8D62-12B3130C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434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4D6577"/>
                </a:solidFill>
              </a:defRPr>
            </a:defPPr>
            <a:lvl1pPr>
              <a:defRPr sz="2025" b="0">
                <a:solidFill>
                  <a:srgbClr val="4D6577"/>
                </a:solidFill>
              </a:defRPr>
            </a:lvl1pPr>
            <a:lvl2pPr>
              <a:defRPr sz="2025" b="0">
                <a:solidFill>
                  <a:srgbClr val="4D6577"/>
                </a:solidFill>
              </a:defRPr>
            </a:lvl2pPr>
            <a:lvl3pPr>
              <a:defRPr sz="2025" b="0">
                <a:solidFill>
                  <a:srgbClr val="4D6577"/>
                </a:solidFill>
              </a:defRPr>
            </a:lvl3pPr>
            <a:lvl4pPr>
              <a:defRPr sz="2025" b="0">
                <a:solidFill>
                  <a:srgbClr val="4D6577"/>
                </a:solidFill>
              </a:defRPr>
            </a:lvl4pPr>
            <a:lvl5pPr>
              <a:defRPr sz="2025" b="0">
                <a:solidFill>
                  <a:srgbClr val="4D6577"/>
                </a:solidFill>
              </a:defRPr>
            </a:lvl5pPr>
            <a:lvl6pPr>
              <a:defRPr sz="2025" b="0">
                <a:solidFill>
                  <a:srgbClr val="4D6577"/>
                </a:solidFill>
              </a:defRPr>
            </a:lvl6pPr>
            <a:lvl7pPr>
              <a:defRPr sz="2025" b="0">
                <a:solidFill>
                  <a:srgbClr val="4D6577"/>
                </a:solidFill>
              </a:defRPr>
            </a:lvl7pPr>
            <a:lvl8pPr>
              <a:defRPr sz="2025" b="0">
                <a:solidFill>
                  <a:srgbClr val="4D6577"/>
                </a:solidFill>
              </a:defRPr>
            </a:lvl8pPr>
            <a:lvl9pPr>
              <a:defRPr sz="20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D6577"/>
                </a:solidFill>
              </a:defRPr>
            </a:pPr>
            <a:r>
              <a:rPr sz="2025" b="0">
                <a:solidFill>
                  <a:srgbClr val="4D6577"/>
                </a:solidFill>
              </a:rPr>
              <a:t>github.com/NATTAPAT-LEUNGRUNGSAP/</a:t>
            </a:r>
          </a:p>
          <a:p xmlns:a="http://schemas.openxmlformats.org/drawingml/2006/main">
            <a:pPr>
              <a:defRPr sz="2025" b="0">
                <a:solidFill>
                  <a:srgbClr val="4D6577"/>
                </a:solidFill>
              </a:defRPr>
            </a:pPr>
            <a:r>
              <a:rPr sz="2025" b="0">
                <a:solidFill>
                  <a:srgbClr val="4D6577"/>
                </a:solidFill>
              </a:rPr>
              <a:t>customer-intelligence-agent-spark-hdfs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89ADC-8B6F-4491-BE72-8FBFB95C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Repository เก็บ source, setup, tests และรายงาน • Web app รันบนเครื่องที่เปิด stack</a:t>
            </a:r>
          </a:p>
        </p:txBody>
      </p:sp>
    </p:spTree>
    <p:extLst>
      <p:ext uri="{BB962C8B-B14F-4D97-AF65-F5344CB8AC3E}">
        <p14:creationId xmlns:p14="http://schemas.microsoft.com/office/powerpoint/2010/main" val="12748050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2026-10-26T15:08:45.3290000Z</dcterms:created>
  <dcterms:modified xsi:type="dcterms:W3CDTF">2026-10-26T15:08:45.3290000Z</dcterms:modified>
</coreProperties>
</file>