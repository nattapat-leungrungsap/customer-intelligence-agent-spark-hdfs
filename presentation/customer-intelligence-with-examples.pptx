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d78752ebde4ddb" /><Relationship Type="http://schemas.openxmlformats.org/officeDocument/2006/relationships/extended-properties" Target="/docProps/app.xml" Id="Re2f66a0725be43ff" /><Relationship Type="http://schemas.openxmlformats.org/officeDocument/2006/relationships/officeDocument" Target="/ppt/presentation.xml" Id="Rbecf15a7fa9d401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d872c55425c4d37"/>
  </p:sldMasterIdLst>
  <p:notesMasterIdLst>
    <p:notesMasterId xmlns:r="http://schemas.openxmlformats.org/officeDocument/2006/relationships" r:id="Rc6e75394d7a34d59"/>
  </p:notesMasterIdLst>
  <p:sldIdLst>
    <p:sldId xmlns:r="http://schemas.openxmlformats.org/officeDocument/2006/relationships" id="256" r:id="Rba361e4a1f2f4b51"/>
    <p:sldId xmlns:r="http://schemas.openxmlformats.org/officeDocument/2006/relationships" id="257" r:id="Raa479330fea24eff"/>
    <p:sldId xmlns:r="http://schemas.openxmlformats.org/officeDocument/2006/relationships" id="258" r:id="R761af7d431264d24"/>
    <p:sldId xmlns:r="http://schemas.openxmlformats.org/officeDocument/2006/relationships" id="259" r:id="Ra92547ef3eb8407a"/>
    <p:sldId xmlns:r="http://schemas.openxmlformats.org/officeDocument/2006/relationships" id="260" r:id="R2c7fd99d665f4d28"/>
    <p:sldId xmlns:r="http://schemas.openxmlformats.org/officeDocument/2006/relationships" id="261" r:id="R4f8be6d5125e4606"/>
    <p:sldId xmlns:r="http://schemas.openxmlformats.org/officeDocument/2006/relationships" id="262" r:id="R5476a57b2adf4e44"/>
    <p:sldId xmlns:r="http://schemas.openxmlformats.org/officeDocument/2006/relationships" id="263" r:id="R4f728fde62044add"/>
    <p:sldId xmlns:r="http://schemas.openxmlformats.org/officeDocument/2006/relationships" id="264" r:id="R9cc6911bdec746a4"/>
    <p:sldId xmlns:r="http://schemas.openxmlformats.org/officeDocument/2006/relationships" id="265" r:id="R967c1b3deebe4a16"/>
    <p:sldId xmlns:r="http://schemas.openxmlformats.org/officeDocument/2006/relationships" id="266" r:id="R515f3d6c82134f5a"/>
    <p:sldId xmlns:r="http://schemas.openxmlformats.org/officeDocument/2006/relationships" id="267" r:id="Re25107d01f984ed4"/>
    <p:sldId xmlns:r="http://schemas.openxmlformats.org/officeDocument/2006/relationships" id="268" r:id="R03fb22a706cd4c11"/>
    <p:sldId xmlns:r="http://schemas.openxmlformats.org/officeDocument/2006/relationships" id="269" r:id="R58d0b053d0dd41a4"/>
    <p:sldId xmlns:r="http://schemas.openxmlformats.org/officeDocument/2006/relationships" id="270" r:id="R3d45418639e843df"/>
    <p:sldId xmlns:r="http://schemas.openxmlformats.org/officeDocument/2006/relationships" id="271" r:id="R087318cc52054721"/>
    <p:sldId xmlns:r="http://schemas.openxmlformats.org/officeDocument/2006/relationships" id="272" r:id="R1776db867fac473a"/>
    <p:sldId xmlns:r="http://schemas.openxmlformats.org/officeDocument/2006/relationships" id="273" r:id="Re3aa1b211818499b"/>
    <p:sldId xmlns:r="http://schemas.openxmlformats.org/officeDocument/2006/relationships" id="274" r:id="Rbac20c71712e47f1"/>
    <p:sldId xmlns:r="http://schemas.openxmlformats.org/officeDocument/2006/relationships" id="275" r:id="R564b16944dbd4f85"/>
    <p:sldId xmlns:r="http://schemas.openxmlformats.org/officeDocument/2006/relationships" id="276" r:id="R6571148e8fb34769"/>
    <p:sldId xmlns:r="http://schemas.openxmlformats.org/officeDocument/2006/relationships" id="277" r:id="R34f2862c5aba45db"/>
    <p:sldId xmlns:r="http://schemas.openxmlformats.org/officeDocument/2006/relationships" id="278" r:id="Rc58ee8d4d4944abc"/>
    <p:sldId xmlns:r="http://schemas.openxmlformats.org/officeDocument/2006/relationships" id="279" r:id="R77bf83663b2744aa"/>
    <p:sldId xmlns:r="http://schemas.openxmlformats.org/officeDocument/2006/relationships" id="280" r:id="Re9e7d4f266394662"/>
    <p:sldId xmlns:r="http://schemas.openxmlformats.org/officeDocument/2006/relationships" id="281" r:id="Rd703d9a2dbef454b"/>
    <p:sldId xmlns:r="http://schemas.openxmlformats.org/officeDocument/2006/relationships" id="282" r:id="Rab06232673dd49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a97a227e834107" /><Relationship Type="http://schemas.openxmlformats.org/officeDocument/2006/relationships/slideMaster" Target="/ppt/slideMasters/slideMaster1.xml" Id="Red872c55425c4d37" /><Relationship Type="http://schemas.openxmlformats.org/officeDocument/2006/relationships/notesMaster" Target="/ppt/notesMasters/notesMaster1.xml" Id="Rc6e75394d7a34d59" /><Relationship Type="http://schemas.openxmlformats.org/officeDocument/2006/relationships/presProps" Target="/ppt/presProps.xml" Id="Rffa0334642a94e0f" /><Relationship Type="http://schemas.openxmlformats.org/officeDocument/2006/relationships/tableStyles" Target="/ppt/tableStyles.xml" Id="Refdda4d8fa8f4e99" /><Relationship Type="http://schemas.openxmlformats.org/officeDocument/2006/relationships/slide" Target="/ppt/slides/slide1.xml" Id="Rba361e4a1f2f4b51" /><Relationship Type="http://schemas.openxmlformats.org/officeDocument/2006/relationships/slide" Target="/ppt/slides/slide2.xml" Id="Raa479330fea24eff" /><Relationship Type="http://schemas.openxmlformats.org/officeDocument/2006/relationships/slide" Target="/ppt/slides/slide3.xml" Id="R761af7d431264d24" /><Relationship Type="http://schemas.openxmlformats.org/officeDocument/2006/relationships/slide" Target="/ppt/slides/slide4.xml" Id="Ra92547ef3eb8407a" /><Relationship Type="http://schemas.openxmlformats.org/officeDocument/2006/relationships/slide" Target="/ppt/slides/slide5.xml" Id="R2c7fd99d665f4d28" /><Relationship Type="http://schemas.openxmlformats.org/officeDocument/2006/relationships/slide" Target="/ppt/slides/slide6.xml" Id="R4f8be6d5125e4606" /><Relationship Type="http://schemas.openxmlformats.org/officeDocument/2006/relationships/slide" Target="/ppt/slides/slide7.xml" Id="R5476a57b2adf4e44" /><Relationship Type="http://schemas.openxmlformats.org/officeDocument/2006/relationships/slide" Target="/ppt/slides/slide8.xml" Id="R4f728fde62044add" /><Relationship Type="http://schemas.openxmlformats.org/officeDocument/2006/relationships/slide" Target="/ppt/slides/slide9.xml" Id="R9cc6911bdec746a4" /><Relationship Type="http://schemas.openxmlformats.org/officeDocument/2006/relationships/slide" Target="/ppt/slides/slide10.xml" Id="R967c1b3deebe4a16" /><Relationship Type="http://schemas.openxmlformats.org/officeDocument/2006/relationships/slide" Target="/ppt/slides/slide11.xml" Id="R515f3d6c82134f5a" /><Relationship Type="http://schemas.openxmlformats.org/officeDocument/2006/relationships/slide" Target="/ppt/slides/slide12.xml" Id="Re25107d01f984ed4" /><Relationship Type="http://schemas.openxmlformats.org/officeDocument/2006/relationships/slide" Target="/ppt/slides/slide13.xml" Id="R03fb22a706cd4c11" /><Relationship Type="http://schemas.openxmlformats.org/officeDocument/2006/relationships/slide" Target="/ppt/slides/slide14.xml" Id="R58d0b053d0dd41a4" /><Relationship Type="http://schemas.openxmlformats.org/officeDocument/2006/relationships/slide" Target="/ppt/slides/slide15.xml" Id="R3d45418639e843df" /><Relationship Type="http://schemas.openxmlformats.org/officeDocument/2006/relationships/slide" Target="/ppt/slides/slide16.xml" Id="R087318cc52054721" /><Relationship Type="http://schemas.openxmlformats.org/officeDocument/2006/relationships/slide" Target="/ppt/slides/slide17.xml" Id="R1776db867fac473a" /><Relationship Type="http://schemas.openxmlformats.org/officeDocument/2006/relationships/slide" Target="/ppt/slides/slide18.xml" Id="Re3aa1b211818499b" /><Relationship Type="http://schemas.openxmlformats.org/officeDocument/2006/relationships/slide" Target="/ppt/slides/slide19.xml" Id="Rbac20c71712e47f1" /><Relationship Type="http://schemas.openxmlformats.org/officeDocument/2006/relationships/slide" Target="/ppt/slides/slide20.xml" Id="R564b16944dbd4f85" /><Relationship Type="http://schemas.openxmlformats.org/officeDocument/2006/relationships/slide" Target="/ppt/slides/slide21.xml" Id="R6571148e8fb34769" /><Relationship Type="http://schemas.openxmlformats.org/officeDocument/2006/relationships/slide" Target="/ppt/slides/slide22.xml" Id="R34f2862c5aba45db" /><Relationship Type="http://schemas.openxmlformats.org/officeDocument/2006/relationships/slide" Target="/ppt/slides/slide23.xml" Id="Rc58ee8d4d4944abc" /><Relationship Type="http://schemas.openxmlformats.org/officeDocument/2006/relationships/slide" Target="/ppt/slides/slide24.xml" Id="R77bf83663b2744aa" /><Relationship Type="http://schemas.openxmlformats.org/officeDocument/2006/relationships/slide" Target="/ppt/slides/slide25.xml" Id="Re9e7d4f266394662" /><Relationship Type="http://schemas.openxmlformats.org/officeDocument/2006/relationships/slide" Target="/ppt/slides/slide26.xml" Id="Rd703d9a2dbef454b" /><Relationship Type="http://schemas.openxmlformats.org/officeDocument/2006/relationships/slide" Target="/ppt/slides/slide27.xml" Id="Rab06232673dd49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cf4e2d915f4b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be44940ca34127" /><Relationship Type="http://schemas.openxmlformats.org/officeDocument/2006/relationships/notesMaster" Target="/ppt/notesMasters/notesMaster1.xml" Id="R6768295dd76f44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5d93918ccb4f0b" /><Relationship Type="http://schemas.openxmlformats.org/officeDocument/2006/relationships/notesMaster" Target="/ppt/notesMasters/notesMaster1.xml" Id="R5f564b616bbd4a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1aeb24b3ca4859" /><Relationship Type="http://schemas.openxmlformats.org/officeDocument/2006/relationships/notesMaster" Target="/ppt/notesMasters/notesMaster1.xml" Id="R913de8ac46dc4a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fe60600d6f4dd9" /><Relationship Type="http://schemas.openxmlformats.org/officeDocument/2006/relationships/notesMaster" Target="/ppt/notesMasters/notesMaster1.xml" Id="R8355270a310944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8566480c0154a4f" /><Relationship Type="http://schemas.openxmlformats.org/officeDocument/2006/relationships/notesMaster" Target="/ppt/notesMasters/notesMaster1.xml" Id="R39f059cf4b9444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d4cc4cdfc34aeb" /><Relationship Type="http://schemas.openxmlformats.org/officeDocument/2006/relationships/notesMaster" Target="/ppt/notesMasters/notesMaster1.xml" Id="Rdda03fbafcc34db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b44af9ffb1d4011" /><Relationship Type="http://schemas.openxmlformats.org/officeDocument/2006/relationships/notesMaster" Target="/ppt/notesMasters/notesMaster1.xml" Id="R8c2bccca94d24a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dcdd7096cf46e5" /><Relationship Type="http://schemas.openxmlformats.org/officeDocument/2006/relationships/notesMaster" Target="/ppt/notesMasters/notesMaster1.xml" Id="R70667a893cf74b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7ddc27417b45fe" /><Relationship Type="http://schemas.openxmlformats.org/officeDocument/2006/relationships/notesMaster" Target="/ppt/notesMasters/notesMaster1.xml" Id="R1eb46ab93b7f46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1ad4d104aa48fc" /><Relationship Type="http://schemas.openxmlformats.org/officeDocument/2006/relationships/notesMaster" Target="/ppt/notesMasters/notesMaster1.xml" Id="Ref5b95608de44f3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f17276053a4fc0" /><Relationship Type="http://schemas.openxmlformats.org/officeDocument/2006/relationships/notesMaster" Target="/ppt/notesMasters/notesMaster1.xml" Id="R9401bf91fda341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ba35d3d1564be6" /><Relationship Type="http://schemas.openxmlformats.org/officeDocument/2006/relationships/notesMaster" Target="/ppt/notesMasters/notesMaster1.xml" Id="Rd87a9eaed8a44c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4f95f5ab3b42ef" /><Relationship Type="http://schemas.openxmlformats.org/officeDocument/2006/relationships/notesMaster" Target="/ppt/notesMasters/notesMaster1.xml" Id="R4274d63d89e045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1af71c24abc44bc" /><Relationship Type="http://schemas.openxmlformats.org/officeDocument/2006/relationships/notesMaster" Target="/ppt/notesMasters/notesMaster1.xml" Id="Re197d1dab46b435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d00d5ec6694196" /><Relationship Type="http://schemas.openxmlformats.org/officeDocument/2006/relationships/notesMaster" Target="/ppt/notesMasters/notesMaster1.xml" Id="Rc8f88d0f626441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617833727243da" /><Relationship Type="http://schemas.openxmlformats.org/officeDocument/2006/relationships/notesMaster" Target="/ppt/notesMasters/notesMaster1.xml" Id="R9b659f62556940b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8c12ffbc5d2440e" /><Relationship Type="http://schemas.openxmlformats.org/officeDocument/2006/relationships/notesMaster" Target="/ppt/notesMasters/notesMaster1.xml" Id="Rbb64a20a3f8f4ad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97457a803204253" /><Relationship Type="http://schemas.openxmlformats.org/officeDocument/2006/relationships/notesMaster" Target="/ppt/notesMasters/notesMaster1.xml" Id="Rd6e1b2c3bf9847d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d49630ff424611" /><Relationship Type="http://schemas.openxmlformats.org/officeDocument/2006/relationships/notesMaster" Target="/ppt/notesMasters/notesMaster1.xml" Id="R58cf5708c60841d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0066d36fe114868" /><Relationship Type="http://schemas.openxmlformats.org/officeDocument/2006/relationships/notesMaster" Target="/ppt/notesMasters/notesMaster1.xml" Id="R4bab972cb38749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1f24a0553d243a9" /><Relationship Type="http://schemas.openxmlformats.org/officeDocument/2006/relationships/notesMaster" Target="/ppt/notesMasters/notesMaster1.xml" Id="R2e2a8e15aec9460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9ba5ea027e946e8" /><Relationship Type="http://schemas.openxmlformats.org/officeDocument/2006/relationships/notesMaster" Target="/ppt/notesMasters/notesMaster1.xml" Id="R37f6ee79798c40d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dffbebb6c474bc6" /><Relationship Type="http://schemas.openxmlformats.org/officeDocument/2006/relationships/notesMaster" Target="/ppt/notesMasters/notesMaster1.xml" Id="Re2f404686fb940f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9d6c97fbbc04df0" /><Relationship Type="http://schemas.openxmlformats.org/officeDocument/2006/relationships/notesMaster" Target="/ppt/notesMasters/notesMaster1.xml" Id="Rb6372232898e4dc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3776688743549e4" /><Relationship Type="http://schemas.openxmlformats.org/officeDocument/2006/relationships/notesMaster" Target="/ppt/notesMasters/notesMaster1.xml" Id="Rfea858c222fd4cf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75d6949b8a4bd5" /><Relationship Type="http://schemas.openxmlformats.org/officeDocument/2006/relationships/notesMaster" Target="/ppt/notesMasters/notesMaster1.xml" Id="R7e19bd4d881844f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be0459a12c5148ed" /><Relationship Type="http://schemas.openxmlformats.org/officeDocument/2006/relationships/notesMaster" Target="/ppt/notesMasters/notesMaster1.xml" Id="R610d228dabf74e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reports/GOVERNANCE_REPORT.md; reports/governance-quality-summary.json.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jobs/retrieval.py; reports/GOVERNANCE_REPORT.md.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ontology/customer-intelligence.ttl; ontology/shapes.ttl; jobs/ontology.py.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jobs/context_engine.py; reports/GOVERNANCE_REPORT.md.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jobs/semantic_contracts.py; jobs/result_contracts.py; tests/test_governance.py.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policies/analytics.rego; jobs/result_contracts.py; tests/integration_governance.py.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reports/governance-web-verification.json. Actual current HTTP + ontology + OPA pre/post + Qwen + Spark/HDFS verification passed. This slide is an editable workflow diagram, not a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reports/governance-web-verification.json; jobs/web_app.py.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jobs/evaluate_acceptance.py; jobs/evaluate.py; reports/GOVERNANCE_REPORT.md. Code is a short teaching excerpt/simplification, not a complete runnable module. Outcome claims use existing measured reports; no new runtime benchmark was run for these slide edits.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reports/GOVERNANCE_REPORT.md; reports/acceptance-376b19a376714e218c6197ab5c9b27c4.json; reports/governance-unit-tests.txt; reports/governance-opa-integration.txt. Developer-authored combinations, not an external benchmark. All context conditions use RAG. Timing excludes Spark startup; gold queries execute before candidates.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ontology/customer-intelligence.ttl; ontology/shapes.ttl; policies/analytics.rego; jobs/semantic_contracts.py; jobs/result_contracts.py; jobs/evaluate_acceptance.py; reports/GOVERNANCE_REPORT.md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Project-specific editable diagrams. Sources: README.md; reports/DELIVERY_REPORT.md; reports/CONTEXT_REPORT.md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6533318dbd4ae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e2681207e4f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db85bd6b0842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e5cfa41d614b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5231cbce740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030696df04b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207940-D471-493F-8A94-2A16FA1653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916747-68BE-474F-948F-AB83BE20B5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F70C309-36CB-4BC4-B9E4-838FF132DA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442EEF-11AD-4C5A-916F-D18083F51E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D6E80EF-F051-47D4-8FED-4EB513CE1E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7441840-F08C-4E59-BB98-DC1CD2FB59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81B4EDE-ACC9-4F89-A5E4-997924C4AD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5CECFE7-64B2-4458-AF4E-38BBBB9B0A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EE51DB8-39B3-44F4-BB05-68218F8460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787230A-DCB8-4EA7-830A-9851268240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943560ae6c4aa3" /><Relationship Type="http://schemas.openxmlformats.org/officeDocument/2006/relationships/slideLayout" Target="/ppt/slideLayouts/slideLayout1.xml" Id="R0c232abad82e4ec2" /><Relationship Type="http://schemas.openxmlformats.org/officeDocument/2006/relationships/slideLayout" Target="/ppt/slideLayouts/slideLayout2.xml" Id="R0cedfd1b730d44b0" /><Relationship Type="http://schemas.openxmlformats.org/officeDocument/2006/relationships/slideLayout" Target="/ppt/slideLayouts/slideLayout3.xml" Id="R99dabc66aae74e9f" /><Relationship Type="http://schemas.openxmlformats.org/officeDocument/2006/relationships/slideLayout" Target="/ppt/slideLayouts/slideLayout4.xml" Id="R1f8dc53b407b427e" /><Relationship Type="http://schemas.openxmlformats.org/officeDocument/2006/relationships/slideLayout" Target="/ppt/slideLayouts/slideLayout5.xml" Id="R0628d49f9d0f4e7f" /><Relationship Type="http://schemas.openxmlformats.org/officeDocument/2006/relationships/slideLayout" Target="/ppt/slideLayouts/slideLayout6.xml" Id="Rab0f358a01924a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232abad82e4ec2"/>
    <p:sldLayoutId xmlns:r="http://schemas.openxmlformats.org/officeDocument/2006/relationships" id="2147483650" r:id="R0cedfd1b730d44b0"/>
    <p:sldLayoutId xmlns:r="http://schemas.openxmlformats.org/officeDocument/2006/relationships" id="2147483651" r:id="R99dabc66aae74e9f"/>
    <p:sldLayoutId xmlns:r="http://schemas.openxmlformats.org/officeDocument/2006/relationships" id="2147483652" r:id="R1f8dc53b407b427e"/>
    <p:sldLayoutId xmlns:r="http://schemas.openxmlformats.org/officeDocument/2006/relationships" id="2147483653" r:id="R0628d49f9d0f4e7f"/>
    <p:sldLayoutId xmlns:r="http://schemas.openxmlformats.org/officeDocument/2006/relationships" id="2147483654" r:id="Rab0f358a01924a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bf6341391f470c" /><Relationship Type="http://schemas.openxmlformats.org/officeDocument/2006/relationships/notesSlide" Target="/ppt/notesSlides/notesSlide1.xml" Id="Rea6b81c2fc1340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79c98ddb254f84" /><Relationship Type="http://schemas.openxmlformats.org/officeDocument/2006/relationships/notesSlide" Target="/ppt/notesSlides/notesSlide2.xml" Id="R0ec972cf20084f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9b2268a510416d" /><Relationship Type="http://schemas.openxmlformats.org/officeDocument/2006/relationships/notesSlide" Target="/ppt/notesSlides/notesSlide3.xml" Id="R47d99654374f4a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6d3305cce48e0" /><Relationship Type="http://schemas.openxmlformats.org/officeDocument/2006/relationships/notesSlide" Target="/ppt/notesSlides/notesSlide4.xml" Id="R054525912e7043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c8e7ccdbf94c22" /><Relationship Type="http://schemas.openxmlformats.org/officeDocument/2006/relationships/notesSlide" Target="/ppt/notesSlides/notesSlide5.xml" Id="R09448363da0441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0d833e3d934283" /><Relationship Type="http://schemas.openxmlformats.org/officeDocument/2006/relationships/notesSlide" Target="/ppt/notesSlides/notesSlide6.xml" Id="R39ad2420c0f943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684a779faf4fda" /><Relationship Type="http://schemas.openxmlformats.org/officeDocument/2006/relationships/notesSlide" Target="/ppt/notesSlides/notesSlide7.xml" Id="Ra39a7d0da3204a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dddc8ca3e4f8a" /><Relationship Type="http://schemas.openxmlformats.org/officeDocument/2006/relationships/notesSlide" Target="/ppt/notesSlides/notesSlide8.xml" Id="R67d6ae2dc8774b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40f8f32ff4144" /><Relationship Type="http://schemas.openxmlformats.org/officeDocument/2006/relationships/notesSlide" Target="/ppt/notesSlides/notesSlide9.xml" Id="Re7972b0ad96248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c19d9d96a8448f" /><Relationship Type="http://schemas.openxmlformats.org/officeDocument/2006/relationships/notesSlide" Target="/ppt/notesSlides/notesSlide10.xml" Id="Rdd06670c48ee44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2c71a75a14e78" /><Relationship Type="http://schemas.openxmlformats.org/officeDocument/2006/relationships/notesSlide" Target="/ppt/notesSlides/notesSlide11.xml" Id="R114873dd6a6f4af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8d134487244511" /><Relationship Type="http://schemas.openxmlformats.org/officeDocument/2006/relationships/notesSlide" Target="/ppt/notesSlides/notesSlide12.xml" Id="R3fb69319eb1c49c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698aa5e50a4776" /><Relationship Type="http://schemas.openxmlformats.org/officeDocument/2006/relationships/notesSlide" Target="/ppt/notesSlides/notesSlide13.xml" Id="R6931697ce154409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d97d3e9d654241" /><Relationship Type="http://schemas.openxmlformats.org/officeDocument/2006/relationships/notesSlide" Target="/ppt/notesSlides/notesSlide14.xml" Id="Rf403389de5074be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e1247261e44ef6" /><Relationship Type="http://schemas.openxmlformats.org/officeDocument/2006/relationships/notesSlide" Target="/ppt/notesSlides/notesSlide15.xml" Id="R83c326ec2d8b48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23c43b90d548f0" /><Relationship Type="http://schemas.openxmlformats.org/officeDocument/2006/relationships/notesSlide" Target="/ppt/notesSlides/notesSlide16.xml" Id="R4ad19b73adfb459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8304806d684621" /><Relationship Type="http://schemas.openxmlformats.org/officeDocument/2006/relationships/notesSlide" Target="/ppt/notesSlides/notesSlide17.xml" Id="R96ba77cb73174b1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9757f856da4274" /><Relationship Type="http://schemas.openxmlformats.org/officeDocument/2006/relationships/notesSlide" Target="/ppt/notesSlides/notesSlide18.xml" Id="R97807efcf61948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15a6df4b374a8d" /><Relationship Type="http://schemas.openxmlformats.org/officeDocument/2006/relationships/notesSlide" Target="/ppt/notesSlides/notesSlide19.xml" Id="Rd8bb6050396f4f5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11137b2fb14b97" /><Relationship Type="http://schemas.openxmlformats.org/officeDocument/2006/relationships/notesSlide" Target="/ppt/notesSlides/notesSlide20.xml" Id="R78c3110d65d840a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4d6479680b4fa0" /><Relationship Type="http://schemas.openxmlformats.org/officeDocument/2006/relationships/notesSlide" Target="/ppt/notesSlides/notesSlide21.xml" Id="Rf02c8d1c8ff64f5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d16f4057c84bde" /><Relationship Type="http://schemas.openxmlformats.org/officeDocument/2006/relationships/notesSlide" Target="/ppt/notesSlides/notesSlide22.xml" Id="R5fd0d7f027c849c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7093ed261a47fb" /><Relationship Type="http://schemas.openxmlformats.org/officeDocument/2006/relationships/notesSlide" Target="/ppt/notesSlides/notesSlide23.xml" Id="Rf581573a8b554b9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ca531a6d14a3c" /><Relationship Type="http://schemas.openxmlformats.org/officeDocument/2006/relationships/notesSlide" Target="/ppt/notesSlides/notesSlide24.xml" Id="Rbacf129440c841a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276569f457404f" /><Relationship Type="http://schemas.openxmlformats.org/officeDocument/2006/relationships/notesSlide" Target="/ppt/notesSlides/notesSlide25.xml" Id="R7d004f165c8f433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314e94e614c49" /><Relationship Type="http://schemas.openxmlformats.org/officeDocument/2006/relationships/notesSlide" Target="/ppt/notesSlides/notesSlide26.xml" Id="R125bd65bec3f40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21fe4b8e948c3" /><Relationship Type="http://schemas.openxmlformats.org/officeDocument/2006/relationships/notesSlide" Target="/ppt/notesSlides/notesSlide27.xml" Id="Rc9303faf610c4b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8EB0B-A853-4DDA-9EA4-749D2424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Customer Intelligence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287C82-D824-48B9-9043-7B7FF980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ถามข้อมูลยอดขายและลูกค้าด้วยภาษาธรรมชาติ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6E7937-5BB4-4DF6-8892-6EC65D50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785CDA-BF7F-476F-AB48-BACC13C7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33575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4350" b="1">
                <a:solidFill>
                  <a:srgbClr val="102B46"/>
                </a:solidFill>
              </a:defRPr>
            </a:defPPr>
            <a:lvl1pPr>
              <a:defRPr sz="4350" b="1">
                <a:solidFill>
                  <a:srgbClr val="102B46"/>
                </a:solidFill>
              </a:defRPr>
            </a:lvl1pPr>
            <a:lvl2pPr>
              <a:defRPr sz="4350" b="1">
                <a:solidFill>
                  <a:srgbClr val="102B46"/>
                </a:solidFill>
              </a:defRPr>
            </a:lvl2pPr>
            <a:lvl3pPr>
              <a:defRPr sz="4350" b="1">
                <a:solidFill>
                  <a:srgbClr val="102B46"/>
                </a:solidFill>
              </a:defRPr>
            </a:lvl3pPr>
            <a:lvl4pPr>
              <a:defRPr sz="4350" b="1">
                <a:solidFill>
                  <a:srgbClr val="102B46"/>
                </a:solidFill>
              </a:defRPr>
            </a:lvl4pPr>
            <a:lvl5pPr>
              <a:defRPr sz="4350" b="1">
                <a:solidFill>
                  <a:srgbClr val="102B46"/>
                </a:solidFill>
              </a:defRPr>
            </a:lvl5pPr>
            <a:lvl6pPr>
              <a:defRPr sz="4350" b="1">
                <a:solidFill>
                  <a:srgbClr val="102B46"/>
                </a:solidFill>
              </a:defRPr>
            </a:lvl6pPr>
            <a:lvl7pPr>
              <a:defRPr sz="4350" b="1">
                <a:solidFill>
                  <a:srgbClr val="102B46"/>
                </a:solidFill>
              </a:defRPr>
            </a:lvl7pPr>
            <a:lvl8pPr>
              <a:defRPr sz="4350" b="1">
                <a:solidFill>
                  <a:srgbClr val="102B46"/>
                </a:solidFill>
              </a:defRPr>
            </a:lvl8pPr>
            <a:lvl9pPr>
              <a:defRPr sz="43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4350" b="1">
                <a:solidFill>
                  <a:srgbClr val="102B46"/>
                </a:solidFill>
              </a:defRPr>
            </a:pPr>
            <a:r>
              <a:rPr sz="4350" b="1">
                <a:solidFill>
                  <a:srgbClr val="102B46"/>
                </a:solidFill>
              </a:rPr>
              <a:t>Spark + HDFS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C0F5C6-F011-4812-A03D-8B34D5C5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คำถามธุรกิจ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C840E-1D23-4F01-A1F4-2D0BBAC7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969CA-8E41-4B16-AB10-5684940E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ค้นนิยามธุรกิจ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สร้างคำสั่งค้นข้อมูล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B4F5F-9C71-4916-888A-BED72E03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73380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05D813-01D7-477A-99EF-415353DE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32422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ผลจากข้อมูลจริง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A2E0C8-A2C6-4A45-8D4A-4AF65C81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SQL = คำสั่งค้นและคำนวณข้อมูล • หลักฐาน = นิยามธุรกิจและคำอธิบายตารางที่ค้นพบ</a:t>
            </a:r>
          </a:p>
        </p:txBody>
      </p:sp>
    </p:spTree>
    <p:extLst>
      <p:ext uri="{BB962C8B-B14F-4D97-AF65-F5344CB8AC3E}">
        <p14:creationId xmlns:p14="http://schemas.microsoft.com/office/powerpoint/2010/main" val="895952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40EE62-B046-4395-87FE-D595C1DB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จากคำถามธุรกิจสู่คำตอบที่ตรวจสอบได้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C704F-99C6-4A4D-8B76-83886631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ผู้ใช้ไม่ต้องเริ่มจากการเขียน SQL เอง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2EF75B-95B6-43D7-932A-D7371E28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746E8-578B-4AFC-86C8-8E4E60B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ผู้ใช้ถาม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“เดือน ต.ค. 2011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มี invoice กี่ใบ?”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4AFD3-26B4-41C1-B12E-37A7AE4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6E12A-E976-4DE6-8347-02E01EE9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95475"/>
            <a:ext cx="29527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Agent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ค้นนิยาม invoice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สร้างและตรวจ SQL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1534F-A4B1-409F-8535-595206A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0350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AC980-BC66-4EAD-82FC-239C50CE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95475"/>
            <a:ext cx="3238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Web application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ตารางผลลัพธ์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evidence +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683C5A-8331-42AD-A554-9D31C05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รองรับคำถามในนิยามข้อมูลที่เตรียมไว้ ยังไม่ได้วัดผลด้านเวลาทำงานของผู้ใช้หรือรายได้</a:t>
            </a:r>
          </a:p>
        </p:txBody>
      </p:sp>
    </p:spTree>
    <p:extLst>
      <p:ext uri="{BB962C8B-B14F-4D97-AF65-F5344CB8AC3E}">
        <p14:creationId xmlns:p14="http://schemas.microsoft.com/office/powerpoint/2010/main" val="3131944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E8D496-0F0C-49AD-9362-957B907E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สิ่งที่พัฒนา และประโยชน์ที่แสดงได้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002B4-BBA2-4390-A068-9D095BF3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แยกความสามารถที่เพิ่มขึ้นออกจากผลที่วัดได้จริง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90DB97-C565-4B43-859D-F361AE25FCA5}"/>
              </a:ext>
            </a:extLst>
          </p:cNvPr>
          <p:cNvGraphicFramePr/>
          <p:nvPr/>
        </p:nvGraphicFramePr>
        <p:xfrm>
          <a:off xmlns:a="http://schemas.openxmlformats.org/drawingml/2006/main" x="533400" y="1714500"/>
          <a:ext xmlns:a="http://schemas.openxmlformats.org/drawingml/2006/main" cx="111252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810000"/>
                <a:gridCol w="4838700"/>
              </a:tblGrid>
              <a:tr h="4762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ส่วนที่พัฒนา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ประโยชน์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</a:rPr>
                        <a:t>หลักฐานที่ใช้เล่า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RAG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ค้นนิยามก่อนสร้าง 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Recall@6 = 100% ใน 60 คำถามใหม่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Ontology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เชื่อมคำธุรกิจกับสูตรและตาราง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กราฟ 9 metrics / 3 ตาราง ตรวจ SHACL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Semantic checks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ตรวจ grain เวลา และประชากรลูกค้า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แก้ CTE ที่ถูกปฏิเสธเกินจำเป็นแล้ว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OPA + ตรวจผล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บังคับกฎก่อนรันและก่อนส่งคำตอบ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3 integration tests ใช้ OPA จริงผ่าน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Context engineering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คุม input และลดประวัติสะสม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ตัดข้อความรบกวน 12/12; เก็บทั้งหมด 10/12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Web application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ถามและตรวจคำตอบผ่านหน้าเดียว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HTTP จริงได้ 2,040 invoices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Evaluation harness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ตรวจคำตอบและการถดถอย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6"/>
                          </a:solidFill>
                        </a:rPr>
                        <a:t>ชุดใหม่ 60/60; โจทย์เดิม 80/80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522F7-0AF1-4335-B1D3-E66172CC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ผลรวมยังแยกไม่ได้ว่าแต่ละส่วนเพิ่ม accuracy เท่าไร • ยังไม่รับรองว่าแก้ context rot ได้ทั่วไป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E196D-9BD0-4A0E-982F-BE17FB716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65998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7D736-6A3B-4076-9F3D-73F8EFAE7952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643063" y="2828925"/>
            <a:ext cx="3238500" cy="6667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EBF97-7F2B-4764-868D-73D272F71940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8334375" y="4438650"/>
            <a:ext cx="500063" cy="361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1D412-D1DB-4EFF-A1CE-384625BA1AF4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6238875" y="2314575"/>
            <a:ext cx="2095500" cy="1181100"/>
          </a:xfrm>
          <a:prstGeom xmlns:a="http://schemas.openxmlformats.org/drawingml/2006/main" prst="bentConnector4">
            <a:avLst>
              <a:gd name="adj1" fmla="val 10909"/>
              <a:gd name="adj2" fmla="val 80645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0F1CD-F38B-4B49-9F22-93D2F6D460DC}"/>
              </a:ext>
            </a:extLst>
          </p:cNvPr>
          <p:cNvCxnSpPr>
            <a:stCxn xmlns:a="http://schemas.openxmlformats.org/drawingml/2006/main" id="14" idx="0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4881563" y="2828925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9A945-DAE4-43F3-AF6C-9D0D8AFBF19B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238875" y="23145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91A621-AFC9-4E6E-A786-89AFC0E3F1F1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762250" y="2314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97F065-129F-470A-B0CE-FECA00DB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Architecture: เส้นทางคำถามและเส้นทางข้อมูล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3388F3-10CC-4086-83C2-0894813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Custom Python single-agent harness เชื่อมโมเดลกับ Spark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521A8D-9625-4699-8B00-8CF1DADE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10CE4-7F93-483A-9325-4951916EF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0225"/>
            <a:ext cx="223837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Web UI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Python HTTP + 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01914-A10F-42AE-B070-B41A79EF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0225"/>
            <a:ext cx="2714625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Agent harness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RAG / policy / repair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DFAFAE-38DA-42FF-A2A8-D9EB826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800225"/>
            <a:ext cx="2476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Ollama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A2C58-B960-4922-A3F3-EFC3560E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95675"/>
            <a:ext cx="271462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knowledge/*.md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นิยาม / schema / policy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2DB4B-7901-4CE4-A47F-9E5FC22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95675"/>
            <a:ext cx="2476500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Master + 2 workers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EF79B-2B4B-418E-BBEC-13E61141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800600"/>
            <a:ext cx="3476625" cy="771525"/>
          </a:xfrm>
          <a:prstGeom xmlns:a="http://schemas.openxmlformats.org/drawingml/2006/main" prst="roundRect">
            <a:avLst>
              <a:gd name="adj" fmla="val 987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NameNode + 2 DataNodes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F9994A-C36D-42FF-BE0E-ACDB747B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00425"/>
            <a:ext cx="2000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SQL หลังตรวจ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8D2408-2D2E-4225-B9BF-7626C265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Docker บนเครื่องเดียว • HDFS replication 2 • การเชื่อม tool เป็น Python โดยตรง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7892B1-EC9C-44C7-A6FF-C30297C9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95675"/>
            <a:ext cx="2238375" cy="942975"/>
          </a:xfrm>
          <a:prstGeom xmlns:a="http://schemas.openxmlformats.org/drawingml/2006/main" prst="roundRect">
            <a:avLst>
              <a:gd name="adj" fmla="val 808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OPA/Rego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กฎอนุญาตใช้ Spark</a:t>
            </a:r>
          </a:p>
        </p:txBody>
      </p:sp>
    </p:spTree>
    <p:extLst>
      <p:ext uri="{BB962C8B-B14F-4D97-AF65-F5344CB8AC3E}">
        <p14:creationId xmlns:p14="http://schemas.microsoft.com/office/powerpoint/2010/main" val="253578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FC8F-544B-4C54-A49E-545C430947A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9772650" y="2886075"/>
            <a:ext cx="1809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7FA290-1DF8-415D-A545-095081FA784D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6096000" y="2886075"/>
            <a:ext cx="3676650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0C7730-A1BA-4046-9D44-ED40DF8457A5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38375" y="2886075"/>
            <a:ext cx="7534275" cy="685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929DCA-4FB9-40DB-BCDA-10036F10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Data pipeline: ข้อมูลดิบกลายเป็นตารางวิเคราะห์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185DC-42ED-4642-8BE5-F6068784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UCI Online Retail II ข้อมูลธุรกรรมปี 2009–2011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86794D-B947-4BE6-9CC3-B823F42B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B8EB70-6822-4D0C-BCFF-25CFFDE1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ไฟล์ต้นทาง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5B430-A723-4AA1-9D68-029AE587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A3F43-1BB1-4D89-853D-5C3F6D76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Spark ETL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แยกประเภทธุรกรรม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71A65-DE38-4A0C-B56D-6F6EE04D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288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4518E-F8E8-4C12-AEB2-2A8FAB09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192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Parquet บน HDFS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จัดเก็บเป็นชุดข้อมูล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8BFE5D-B655-4F3D-AE04-503D5F8A8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sales_lines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1,067,371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หนึ่งรายการสินค้าเดิม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B14FAA-9E24-4471-8981-F8FC54B7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orders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40,077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 completed-sale invoice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AE07C-DE2B-4A13-BFA4-40F0F169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71875"/>
            <a:ext cx="33337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customer_summary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3,450 แถว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หนึ่งลูกค้าที่ระบุ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DE7ED7-305A-4200-8483-786A2E244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Grain = หนึ่งแถวแทนอะไร เช่น 1 invoice หรือ 1 รายการสินค้า</a:t>
            </a:r>
          </a:p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ตารางลูกค้าสรุปย้อนหลัง 180 วัน ณ 2011-12-01</a:t>
            </a:r>
          </a:p>
        </p:txBody>
      </p:sp>
    </p:spTree>
    <p:extLst>
      <p:ext uri="{BB962C8B-B14F-4D97-AF65-F5344CB8AC3E}">
        <p14:creationId xmlns:p14="http://schemas.microsoft.com/office/powerpoint/2010/main" val="6407402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F5ECA3-99E4-42DB-B905-B5BF23CD4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4 ชั้นที่ประกอบเป็น Agent ของโปรเจกต์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AFDA1-B3B7-4242-A0FE-0DC5C19D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แต่ละชั้นเพิ่มสิ่งที่ต้องควบคุมรอบโมเดล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022A2-0F36-4C12-AC77-D74F1DD5A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7ED35-2689-45D5-9D24-2A85788D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1  Prompt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20ABE-3AC4-45D7-B85A-8B5C2DC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บทบาท + กติกา + รูปแบบ JSON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กำหนดสิ่งที่โมเดลต้องสร้าง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CE248-CD47-49F7-8A76-D6BC197E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2 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95EAE7-4B4C-4D1B-95C4-59493810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คำถาม + RAG evidence + สถานะล่าสุด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เลือกสิ่งที่โมเดลเห็นในแต่ละรอบ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2034A-D3F5-4E88-A4FA-5A866A14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3  Harness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46EE6-4F04-4912-A82D-F01B034BC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OPA + SQL guards + Spark tool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ตรวจผลลัพธ์และบันทึก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4F04D-7663-43C8-993E-6F32A61C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9975"/>
            <a:ext cx="5334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4  Loop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23FA0D-B50E-4680-9003-A678C617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ผ่าน / แก้ใหม่ / ถามกลับ / หยุด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กำหนดการจบงาน สูงสุด 3 attempts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17FC41-D81E-48FF-AB8E-989C72D6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แต่ละชั้นเชื่อมกันใน custom Python harness ของโปรเจกต์</a:t>
            </a:r>
          </a:p>
        </p:txBody>
      </p:sp>
    </p:spTree>
    <p:extLst>
      <p:ext uri="{BB962C8B-B14F-4D97-AF65-F5344CB8AC3E}">
        <p14:creationId xmlns:p14="http://schemas.microsoft.com/office/powerpoint/2010/main" val="4061881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97B874-50C9-4070-93B7-C20B43AA616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6096000" y="2876550"/>
            <a:ext cx="36766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03C71-B26E-4877-A7FD-71ECBA7F35AD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00750" y="2876550"/>
            <a:ext cx="952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24B997-5AB4-419F-AB98-53F6E63D3EA3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2228850" y="2876550"/>
            <a:ext cx="3867150" cy="609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3F6AA2-48C3-4DA8-A8EA-84F9C648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Prompt: จากข้อกำหนดสู่ SQL ที่มีโครงสร้าง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23545-1C23-4BF6-8944-6E9F4149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โมเดลสร้างข้อเสนอ SQL ส่วน harness เป็นผู้อนุญาตให้รัน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928E0-4D1E-4700-83B9-C9D7D4DA7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939C5-841B-4DEE-A68B-C582A7DB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Role + rules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วิเคราะห์ข้อมูลตามนิยาม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4D792-E353-485A-90F7-CFBCFBE3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Question + evidence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คำถามและหลักฐาน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EC37F-2745-4329-9F77-5DCCB180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Output schema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JSON ที่ตรวจต่อได้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A1788-3B43-49AA-9803-9FEF6236A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86150"/>
            <a:ext cx="485775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Qwen 9B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 SQL ตามบริบทที่ได้รับ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1D9C75-021F-4DC2-88B8-28575653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457700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E12140-E836-410D-ACCC-1F2F2CA6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95850"/>
            <a:ext cx="80962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SQL + explanation + grain + citation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B3497-054B-406A-B074-E90EF7B52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รูปแบบถูกต้องเพียงอย่างเดียวยังไม่รับประกันว่าความหมายของคำตอบถูกต้อง</a:t>
            </a:r>
          </a:p>
        </p:txBody>
      </p:sp>
    </p:spTree>
    <p:extLst>
      <p:ext uri="{BB962C8B-B14F-4D97-AF65-F5344CB8AC3E}">
        <p14:creationId xmlns:p14="http://schemas.microsoft.com/office/powerpoint/2010/main" val="18837922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0E652A-FFEB-45D1-8877-4A611474942E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8858250" y="2876550"/>
            <a:ext cx="914400" cy="1128713"/>
          </a:xfrm>
          <a:prstGeom xmlns:a="http://schemas.openxmlformats.org/drawingml/2006/main" prst="bentConnector5">
            <a:avLst>
              <a:gd name="adj1" fmla="val 0"/>
              <a:gd name="adj2" fmla="val 20253"/>
              <a:gd name="adj3" fmla="val 75000"/>
            </a:avLst>
          </a:prstGeom>
          <a:ln xmlns:a="http://schemas.openxmlformats.org/drawingml/2006/main" w="19050">
            <a:solidFill>
              <a:srgbClr val="137C68"/>
            </a:solidFill>
            <a:prstDash val="solid"/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762BCB-C4E0-4E85-9587-DDDDE070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RAG: ค้นนิยามก่อนสร้าง SQL ทุกคำถาม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85447-1DE1-4E64-9F0E-56F3BB0C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BM25 และคำศัพท์ไทย/อังกฤษ ทำงานบน knowledge corpus ขนาดเล็ก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4F11D-77F9-4240-80FD-6FC9184E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FA507D-23A4-4F8A-96DF-163AB624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“ลูกค้าซื้อซ้ำ”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4D531-C182-468E-913F-6BCA22F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DF909-4ECA-4206-A945-9FBB604DA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ขยายคำค้น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metric / schema / syntax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063DB3-D617-4680-8F07-D786BD79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219325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E17A5F-FBF5-47D0-B384-10C93D29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จัดอันดับ BM25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เลือก top 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D9F7B1-E628-4BB4-ADF8-2BAD2B73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14725"/>
            <a:ext cx="5524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เพิ่ม global policies ที่จำเป็น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ประกอบ evidence พร้อม section IDs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6BC06-B22B-49AD-8FC2-72F8EFDA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005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75BDA-75FE-498D-AE48-3212E98F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10150"/>
            <a:ext cx="7048500" cy="542925"/>
          </a:xfrm>
          <a:prstGeom xmlns:a="http://schemas.openxmlformats.org/drawingml/2006/main" prst="roundRect">
            <a:avLst>
              <a:gd name="adj" fmla="val 14035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ส่งหลักฐานเข้า prompt เพื่อสร้าง SQL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CBA4BF-6A20-4E53-87BC-428231D4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Atomic section = หนึ่งหัวข้อความรู้ที่อ้างอิงได้ มี ID เช่น metric.orders</a:t>
            </a:r>
          </a:p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มี 20 หัวข้อ • ค้นด้วย BM25 และคำไทย/อังกฤษ • ontology ช่วยเติมนิยามที่เกี่ยวข้อง</a:t>
            </a:r>
          </a:p>
        </p:txBody>
      </p:sp>
    </p:spTree>
    <p:extLst>
      <p:ext uri="{BB962C8B-B14F-4D97-AF65-F5344CB8AC3E}">
        <p14:creationId xmlns:p14="http://schemas.microsoft.com/office/powerpoint/2010/main" val="428259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934BA1-E203-4D9C-B6A5-FC78BE0E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RAG: ค้นนิยามก่อนให้โมเดลเขียน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302913-DA1A-4425-9F95-1D0E52A6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คำถาม: เดือนตุลาคม 2011 มี invoice สำเร็จกี่ใบ?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38ABEF-57FD-427F-AC4C-280A5A9E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364B3A-475A-44F7-827A-7E90F914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102B46"/>
                </a:solidFill>
              </a:defRPr>
            </a:defPPr>
            <a:lvl1pPr>
              <a:defRPr sz="2100" b="0">
                <a:solidFill>
                  <a:srgbClr val="102B46"/>
                </a:solidFill>
              </a:defRPr>
            </a:lvl1pPr>
            <a:lvl2pPr>
              <a:defRPr sz="2100" b="0">
                <a:solidFill>
                  <a:srgbClr val="102B46"/>
                </a:solidFill>
              </a:defRPr>
            </a:lvl2pPr>
            <a:lvl3pPr>
              <a:defRPr sz="2100" b="0">
                <a:solidFill>
                  <a:srgbClr val="102B46"/>
                </a:solidFill>
              </a:defRPr>
            </a:lvl3pPr>
            <a:lvl4pPr>
              <a:defRPr sz="2100" b="0">
                <a:solidFill>
                  <a:srgbClr val="102B46"/>
                </a:solidFill>
              </a:defRPr>
            </a:lvl4pPr>
            <a:lvl5pPr>
              <a:defRPr sz="2100" b="0">
                <a:solidFill>
                  <a:srgbClr val="102B46"/>
                </a:solidFill>
              </a:defRPr>
            </a:lvl5pPr>
            <a:lvl6pPr>
              <a:defRPr sz="2100" b="0">
                <a:solidFill>
                  <a:srgbClr val="102B46"/>
                </a:solidFill>
              </a:defRPr>
            </a:lvl6pPr>
            <a:lvl7pPr>
              <a:defRPr sz="2100" b="0">
                <a:solidFill>
                  <a:srgbClr val="102B46"/>
                </a:solidFill>
              </a:defRPr>
            </a:lvl7pPr>
            <a:lvl8pPr>
              <a:defRPr sz="2100" b="0">
                <a:solidFill>
                  <a:srgbClr val="102B46"/>
                </a:solidFill>
              </a:defRPr>
            </a:lvl8pPr>
            <a:lvl9pPr>
              <a:defRPr sz="21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context, trace = retrieve_context(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    question, knowledge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# Relevant knowledge IDs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"metric.orders"</a:t>
            </a:r>
          </a:p>
          <a:p xmlns:a="http://schemas.openxmlformats.org/drawingml/2006/main">
            <a:pPr>
              <a:defRPr sz="2100" b="0">
                <a:solidFill>
                  <a:srgbClr val="102B46"/>
                </a:solidFill>
              </a:defRPr>
            </a:pPr>
            <a:r>
              <a:rPr sz="2100" b="0">
                <a:solidFill>
                  <a:srgbClr val="102B46"/>
                </a:solidFill>
              </a:rPr>
              <a:t>"schema.orders"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7A002-B8B3-42E0-87AE-7FFE6BEA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50ACC-1938-4E1C-8402-4FD9550C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ค้นว่า invoice ต้องนับอย่างไร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และควรอ่านจากตารางไหน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แล้วส่งนิยามให้โมเดล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1FE5A-7F79-4003-80D7-45444842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B16C2-1030-4A00-9930-09FBBF95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ลดการสร้าง SQL จากการเดา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มี ID เอกสารให้ตรวจย้อนกลับ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2CEF28-C438-4D87-A3B7-2A7EBBD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ผลจริง: Recall@6 = 100% ในชุดใหม่ 60 ข้อ • ยังไม่ได้แยกวัดผลเพิ่ม accuracy ของ RAG เพียงส่วนเดียว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AD019-B29C-4358-9B8A-B792506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2326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2D85D-FF87-4F4D-A06B-BC3474F2A20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4691063" y="3114675"/>
            <a:ext cx="1452563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DF59E0-277C-4E25-B0CE-6804CE183C2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905500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89BAC-73C7-406A-AB36-8F8D0AE1FC62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00375" y="25812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1C1998-A462-4433-A9D3-32EC4084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Ontology: แผนที่ความหมายที่คอมพิวเตอร์อ่านได้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52249-66C5-4A3C-894C-A27967F7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มีกราฟ RDF/OWL สำหรับ 9 metrics และ 3 ตาราง พร้อมตัวตรวจ SHACL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E7632-2C00-46E1-A0E2-FB595CEC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D9602-9A3F-4912-B9FB-64C10FE5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คำธุรกิจ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“จำนวนคำสั่งซื้อ”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EBB24B-1310-4E88-9CBF-AD2CE3A5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Metric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invoice count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6AC60-018F-4791-A062-899855ED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4288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สูตรคำนวณ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COUNT(*)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D41842-2AC9-4B56-BA22-792F3FCB8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57625"/>
            <a:ext cx="5334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ตาราง orders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หนึ่งแถว = หนึ่ง invoice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49AE5-EDDB-4D5B-8498-1AC03842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RAG ใช้ความสัมพันธ์นี้ดึง metric.orders และ schema.orders</a:t>
            </a:r>
          </a:p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SHACL ตรวจว่าทุก metric มีตาราง สูตร และระดับข้อมูลครบ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2794F-71B9-473B-B62B-2A0C4EE8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Ontology = แผนที่คำศัพท์และความสัมพันธ์ • SHACL = กฎตรวจโครงสร้างกราฟ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ครอบคลุมโดเมนของโปรเจกต์นี้ ยังไม่ใช่ระบบจับคู่ฐานข้อมูลทุกองค์กรอัตโนมัติ</a:t>
            </a:r>
          </a:p>
        </p:txBody>
      </p:sp>
    </p:spTree>
    <p:extLst>
      <p:ext uri="{BB962C8B-B14F-4D97-AF65-F5344CB8AC3E}">
        <p14:creationId xmlns:p14="http://schemas.microsoft.com/office/powerpoint/2010/main" val="785762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4C0C5F-214C-4013-BFC3-FD095700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Ontology: คำธุรกิจเชื่อมถึงระดับแถว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89765-B41E-4FA9-986F-FAEC54D4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ตัวอย่างความสัมพันธ์จริงในกราฟ โดยละ prefix declarations เพื่อให้อ่านง่าย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D65DD-4FDA-4DEF-8631-41D918C6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FAE88A-2342-424E-A501-B4E3737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46"/>
                </a:solidFill>
              </a:defRPr>
            </a:defPPr>
            <a:lvl1pPr>
              <a:defRPr sz="1875" b="0">
                <a:solidFill>
                  <a:srgbClr val="102B46"/>
                </a:solidFill>
              </a:defRPr>
            </a:lvl1pPr>
            <a:lvl2pPr>
              <a:defRPr sz="1875" b="0">
                <a:solidFill>
                  <a:srgbClr val="102B46"/>
                </a:solidFill>
              </a:defRPr>
            </a:lvl2pPr>
            <a:lvl3pPr>
              <a:defRPr sz="1875" b="0">
                <a:solidFill>
                  <a:srgbClr val="102B46"/>
                </a:solidFill>
              </a:defRPr>
            </a:lvl3pPr>
            <a:lvl4pPr>
              <a:defRPr sz="1875" b="0">
                <a:solidFill>
                  <a:srgbClr val="102B46"/>
                </a:solidFill>
              </a:defRPr>
            </a:lvl4pPr>
            <a:lvl5pPr>
              <a:defRPr sz="1875" b="0">
                <a:solidFill>
                  <a:srgbClr val="102B46"/>
                </a:solidFill>
              </a:defRPr>
            </a:lvl5pPr>
            <a:lvl6pPr>
              <a:defRPr sz="1875" b="0">
                <a:solidFill>
                  <a:srgbClr val="102B46"/>
                </a:solidFill>
              </a:defRPr>
            </a:lvl6pPr>
            <a:lvl7pPr>
              <a:defRPr sz="1875" b="0">
                <a:solidFill>
                  <a:srgbClr val="102B46"/>
                </a:solidFill>
              </a:defRPr>
            </a:lvl7pPr>
            <a:lvl8pPr>
              <a:defRPr sz="1875" b="0">
                <a:solidFill>
                  <a:srgbClr val="102B46"/>
                </a:solidFill>
              </a:defRPr>
            </a:lvl8pPr>
            <a:lvl9pPr>
              <a:defRPr sz="18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ci:invoices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ci:sourceTable ci:orders ;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ci:hasGrain ci:invoice ;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ci:definedBy ci:invoicesEvidence ;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ci:formula "COUNT(*)" 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1CBB3-F39D-4221-A0AE-37BF8DF1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9B7D2-3CDD-448C-A146-2E47FDB6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จำนวนคำสั่งซื้อใช้ COUNT(*)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จาก orders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หนึ่งแถวคือหนึ่ง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63172-370E-4AB8-8423-5419777A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BF614-0BB4-43AA-9CD3-D812C037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ความหมายอยู่ในกราฟที่ตรวจได้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RAG ใช้เติมเอกสาร metric/schema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ที่จำเป็น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D8A24-E359-477C-A9EA-9F51FA2E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มี RDF/OWL และ SHACL ทำงานจริง • ประโยชน์ที่ยืนยันคือโครงสร้างนิยามตรวจได้ ยังไม่แยกคะแนน accuracy จาก ontology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8219BC-8137-4C64-A658-937FCBB5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1460580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E3C6A-4345-4629-AF28-40468C8B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 engineering: เลือกสิ่งที่โมเดลเห็น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A006CD-F192-4A55-A6CD-53B52B67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รักษาหลักฐานที่เลือกไว้ และลดสิ่งที่สะสมระหว่างการแก้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9FAE5-7F51-4C72-8405-FE71947F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326D6-4E6C-41F1-9D11-DBBE4CE8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2857500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Inputs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คำถาม + evidence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optional background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BCABD-41CC-4F07-A7D0-F12D8E0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D4B91-768B-4510-AF50-6AA86E7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905000"/>
            <a:ext cx="37623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Context curator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 background ที่ระบุว่าไม่จำเป็น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รวมหลักฐานซ้ำ ตรวจ ID ขัดแย้ง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93D97D-D910-4C46-A64F-4F88A424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62225"/>
            <a:ext cx="42862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2F935-E909-4F51-BDDB-AE0499A4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05000"/>
            <a:ext cx="2809875" cy="1590675"/>
          </a:xfrm>
          <a:prstGeom xmlns:a="http://schemas.openxmlformats.org/drawingml/2006/main" prst="roundRect">
            <a:avLst>
              <a:gd name="adj" fmla="val 4790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Model input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หลักฐานเดิมครบ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สถานะซ่อมล่าสุด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B639AC-4466-4443-97C4-E483010C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38600"/>
            <a:ext cx="10287000" cy="1304925"/>
          </a:xfrm>
          <a:prstGeom xmlns:a="http://schemas.openxmlformats.org/drawingml/2006/main" prst="roundRect">
            <a:avLst>
              <a:gd name="adj" fmla="val 58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Repair memory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คำถาม/หลักฐานเดิม + SQL/citations ล่าสุด + error บรรทัดแรก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ไม่สะสมคำอธิบายเก่าหรือ Spark plan 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C55F35-B804-4F2C-87C7-240D90D1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Input budget ประมาณ 6,000 tokens ใน window 8,192 • เก็บ token usage จริงหลังเรียก Ollama</a:t>
            </a:r>
          </a:p>
        </p:txBody>
      </p:sp>
    </p:spTree>
    <p:extLst>
      <p:ext uri="{BB962C8B-B14F-4D97-AF65-F5344CB8AC3E}">
        <p14:creationId xmlns:p14="http://schemas.microsoft.com/office/powerpoint/2010/main" val="11956454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F5E27-8A43-4A33-BF56-99D7AC1B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Context: เก็บโจทย์เดิมและสถานะซ่อมล่าสุด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9E6FE3-8804-4EAB-B005-456C36E6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ย่อแนวทางของ repair_messages โดยไม่แสดงการประกอบข้อความทั้งหมด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F2FE02-503F-432A-8FAC-41B29A9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3C67DA-30D7-427B-AA5D-5360B5B9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46"/>
                </a:solidFill>
              </a:defRPr>
            </a:defPPr>
            <a:lvl1pPr>
              <a:defRPr sz="1875" b="0">
                <a:solidFill>
                  <a:srgbClr val="102B46"/>
                </a:solidFill>
              </a:defRPr>
            </a:lvl1pPr>
            <a:lvl2pPr>
              <a:defRPr sz="1875" b="0">
                <a:solidFill>
                  <a:srgbClr val="102B46"/>
                </a:solidFill>
              </a:defRPr>
            </a:lvl2pPr>
            <a:lvl3pPr>
              <a:defRPr sz="1875" b="0">
                <a:solidFill>
                  <a:srgbClr val="102B46"/>
                </a:solidFill>
              </a:defRPr>
            </a:lvl3pPr>
            <a:lvl4pPr>
              <a:defRPr sz="1875" b="0">
                <a:solidFill>
                  <a:srgbClr val="102B46"/>
                </a:solidFill>
              </a:defRPr>
            </a:lvl4pPr>
            <a:lvl5pPr>
              <a:defRPr sz="1875" b="0">
                <a:solidFill>
                  <a:srgbClr val="102B46"/>
                </a:solidFill>
              </a:defRPr>
            </a:lvl5pPr>
            <a:lvl6pPr>
              <a:defRPr sz="1875" b="0">
                <a:solidFill>
                  <a:srgbClr val="102B46"/>
                </a:solidFill>
              </a:defRPr>
            </a:lvl6pPr>
            <a:lvl7pPr>
              <a:defRPr sz="1875" b="0">
                <a:solidFill>
                  <a:srgbClr val="102B46"/>
                </a:solidFill>
              </a:defRPr>
            </a:lvl7pPr>
            <a:lvl8pPr>
              <a:defRPr sz="1875" b="0">
                <a:solidFill>
                  <a:srgbClr val="102B46"/>
                </a:solidFill>
              </a:defRPr>
            </a:lvl8pPr>
            <a:lvl9pPr>
              <a:defRPr sz="18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# Keep original instructions + task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base = original[:2]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# Keep only the latest repair state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state = {"sql": latest_sql,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        "error": latest_error}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# Do not append every old attempt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FFCF5-45A1-4FBA-84E4-C0F9624D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0FDFD-5D0B-472B-AB15-B860A2A4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เก็บคำถามและเอกสารเดิมไว้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รอบแก้ SQL ใช้ข้อผิดพลาดล่าสุด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ไม่พ่วงคำอธิบายเก่าทั้งหมด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BD0D3-A3F7-4EEE-BBB2-1A83E3836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2BE4E9-88A9-4A0D-A5C0-5828670E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ควบคุมการสะสมบริบทในลูป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ข้อความประกอบที่ระบุว่าไม่จำเป็น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ตัดออกได้โดยไม่ตัดนิยามหลัก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A8B28-3FD5-457F-B804-E9B73AB0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หลักฐานที่วัดแยกต่างหาก: ตัดข้อความรบกวนสำเร็จ 12/12; เก็บทั้งหมด 10/12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อีกสองข้อหยุดเพราะงบ input • ไม่ใช่การพิสูจน์ว่าโมเดลคิดถูกขึ้นหรือแก้ context rot ทั่วไป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480A1-779F-4C8A-ABAE-1ABF456D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4273144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FBFC1B-D0BF-4E0C-9C4E-3844A0F3E461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810250" y="27813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D40B2-F627-46FD-8C7A-01F426D2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จุดตรวจ SQL และผลลัพธ์ด้วย OPA/Rego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AD49B4-BE26-4240-A01A-0B351C51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OPA ตัดสินอนุญาตหรือปฏิเสธ ส่วน Python บังคับใช้คำตัดสิน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B3AAD1-4CF6-4246-9E1B-A8F5DE9F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A57130-C870-491D-8005-5583D1F8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71675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ก่อนเรียก Spark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อ่านข้อมูลเท่านั้น / 3 ตาราง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ไม่เกิน 3 รอบ / จำกัด 200 แถว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D641E-690E-4D25-BAAE-41B923A5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71675"/>
            <a:ext cx="5238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หลังรัน SQL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รูปแบบตารางและจำนวนแถว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ค่าตัวเลข / ID / สัดส่วน / กลุ่มซ้ำ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B95A7D-38F6-4192-9A91-0BCD7DFF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10096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ตรวจความหมายเพิ่มก่อนรัน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จำนวน invoice ต้องใช้ orders • ช่วงเวลาตรงคำถาม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วันสรุปลูกค้าและประเภท sale / return / cancellation ต้องตรง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267B3-0689-4CEA-9798-975D0A9B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Rego = ภาษาที่ใช้เขียนกฎให้ OPA • OPA ติดต่อไม่ได้ให้หยุด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Post-tool checks ตรวจเงื่อนไขที่กำหนด ส่วนความถูกต้องทั้งคำตอบวัดเทียบผลอ้างอิง</a:t>
            </a:r>
          </a:p>
        </p:txBody>
      </p:sp>
    </p:spTree>
    <p:extLst>
      <p:ext uri="{BB962C8B-B14F-4D97-AF65-F5344CB8AC3E}">
        <p14:creationId xmlns:p14="http://schemas.microsoft.com/office/powerpoint/2010/main" val="14135586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FC163-12C9-4BB2-B431-49D052BC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ตัวอย่างการตรวจความหมาย: นับ invoice ให้ถูกตาราง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C1ADF-3F38-4F1B-923C-978CF89C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คำถามเดียวกัน แต่ใช้ตารางต่างกันจะนับคนละสิ่ง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4656B-2A56-40DA-822C-5CBC9611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E7164-BAC2-4AAD-B729-0DABD286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-- Wrong grain: product lines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SELECT COUNT(*) FROM sales_lines;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-- Invoice grain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SELECT COUNT(*) FROM orders;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3FE39-61B9-47D6-A3E5-C4205714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D118B-3865-4B29-A865-B39C9D94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sales_lines นับรายการสินค้า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orders นับใบสั่งซื้อ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ตัวตรวจปฏิเสธการนับผิด grain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49348-61F2-4A8F-883D-0B367354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F0FD3-9D02-44C3-9453-183904FC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ตรวจผิดตารางก่อนใช้ Spark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และให้ feedback เพื่อแก้ SQL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แทนการส่งตัวเลขผิดชนิด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29C15-2AB0-44A1-A6CC-CD657C22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โค้ดแสดงเฉพาะ grain เพื่ออธิบาย • คำถามรายเดือนยังต้องมี WHERE ตามช่วงเวลา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กรณี CTE ที่เคยไม่ผ่าน แก้แล้วผ่านในโจทย์เดิม 80/80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AB8EDF-96D4-462F-9A37-D4D87001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6037192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03EA35-0FD5-4DD4-92BE-50C42CB8FF72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6" idx="2"/>
          </p:cNvCxnSpPr>
          <p:nvPr/>
        </p:nvCxnSpPr>
        <p:spPr>
          <a:xfrm xmlns:a="http://schemas.openxmlformats.org/drawingml/2006/main" flipV="1">
            <a:off x="9310688" y="3876675"/>
            <a:ext cx="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614E0-32F6-4520-A734-AC9720AA3640}"/>
              </a:ext>
            </a:extLst>
          </p:cNvPr>
          <p:cNvCxnSpPr>
            <a:stCxn xmlns:a="http://schemas.openxmlformats.org/drawingml/2006/main" id="16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 flipV="1">
            <a:off x="5238750" y="3286125"/>
            <a:ext cx="1762125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137C68"/>
            </a:solidFill>
            <a:prstDash val="dash"/>
            <a:tailEnd type="arrow" w="med" len="me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1582D-0A54-4595-A1E2-1C1E1352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Agent loop: ตรวจ แก้ และตัดสินใจจบงาน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2E3C1-F657-470E-AA21-DBD8D150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วงรอบมีขอบเขต สูงสุด 3 attempts ต่อคำถาม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CB1CD3-F273-4E3B-8C6C-4DB7BCF1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39877C-A33B-4540-AA7C-A0058A56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33550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1  Retrieve + policy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549168-F84B-4B86-8AB5-8F9CC96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33550"/>
            <a:ext cx="46196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ข้อมูลไม่พอ / ใช้ไม่ได้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ส่ง clarification และจบ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BAE3B-6988-4D1F-9DBF-D6ACC54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5262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BDC5C-A0E2-4C47-955B-3A43003C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43175"/>
            <a:ext cx="228600" cy="285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D1B64-5662-4185-ACF1-1C5D1D0D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432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2  Generate SQL + citations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B70BFA-79C1-484F-B107-4C0B00B7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43325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14E554-CE07-4565-A0CC-F5701DB4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24325"/>
            <a:ext cx="4667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3  AST / contracts / OPA /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7002CD-3897-41A3-9293-F5E3EE75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33875"/>
            <a:ext cx="904875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7D1A3D-7E9B-414D-943F-F6E3ACE7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24325"/>
            <a:ext cx="461962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4  Spark + result checks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ผ่าน: ส่งตารางและ 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F5BFA-C94E-4D2B-92C0-5941D446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4619625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00">
                <a:solidFill>
                  <a:srgbClr val="102B46"/>
                </a:solidFill>
              </a:defRPr>
            </a:defPPr>
            <a:lvl1pPr algn="ctr">
              <a:defRPr sz="1800">
                <a:solidFill>
                  <a:srgbClr val="102B46"/>
                </a:solidFill>
              </a:defRPr>
            </a:lvl1pPr>
            <a:lvl2pPr algn="ctr">
              <a:defRPr sz="1800">
                <a:solidFill>
                  <a:srgbClr val="102B46"/>
                </a:solidFill>
              </a:defRPr>
            </a:lvl2pPr>
            <a:lvl3pPr algn="ctr">
              <a:defRPr sz="1800">
                <a:solidFill>
                  <a:srgbClr val="102B46"/>
                </a:solidFill>
              </a:defRPr>
            </a:lvl3pPr>
            <a:lvl4pPr algn="ctr">
              <a:defRPr sz="1800">
                <a:solidFill>
                  <a:srgbClr val="102B46"/>
                </a:solidFill>
              </a:defRPr>
            </a:lvl4pPr>
            <a:lvl5pPr algn="ctr">
              <a:defRPr sz="1800">
                <a:solidFill>
                  <a:srgbClr val="102B46"/>
                </a:solidFill>
              </a:defRPr>
            </a:lvl5pPr>
            <a:lvl6pPr algn="ctr">
              <a:defRPr sz="1800">
                <a:solidFill>
                  <a:srgbClr val="102B46"/>
                </a:solidFill>
              </a:defRPr>
            </a:lvl6pPr>
            <a:lvl7pPr algn="ctr">
              <a:defRPr sz="1800">
                <a:solidFill>
                  <a:srgbClr val="102B46"/>
                </a:solidFill>
              </a:defRPr>
            </a:lvl7pPr>
            <a:lvl8pPr algn="ctr">
              <a:defRPr sz="1800">
                <a:solidFill>
                  <a:srgbClr val="102B46"/>
                </a:solidFill>
              </a:defRPr>
            </a:lvl8pPr>
            <a:lvl9pPr algn="ctr">
              <a:defRPr sz="18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ไม่ผ่าน: ส่ง SQL + error ล่าสุดกลับไปแก้</a:t>
            </a:r>
          </a:p>
          <a:p xmlns:a="http://schemas.openxmlformats.org/drawingml/2006/main">
            <a:pPr algn="ctr">
              <a:defRPr sz="1800">
                <a:solidFill>
                  <a:srgbClr val="102B46"/>
                </a:solidFill>
              </a:defRPr>
            </a:pPr>
            <a:r>
              <a:rPr sz="1800">
                <a:solidFill>
                  <a:srgbClr val="102B46"/>
                </a:solidFill>
              </a:rPr>
              <a:t>ครบ 3 attempts หรือเกิน budget: หยุดพร้อมสถานะ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A23EA9-D04B-490D-B22B-C39BA747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กลับไปขั้น 2 เมื่อแก้ได้ • ใช้โมเดลเดิม review • ไม่มีการวางแผน sub-agent หรือเลือก tools แบบอิสระ</a:t>
            </a:r>
          </a:p>
        </p:txBody>
      </p:sp>
    </p:spTree>
    <p:extLst>
      <p:ext uri="{BB962C8B-B14F-4D97-AF65-F5344CB8AC3E}">
        <p14:creationId xmlns:p14="http://schemas.microsoft.com/office/powerpoint/2010/main" val="19284878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5EC45-C14C-46B6-A19C-DE6ED98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OPA และการตรวจผล: ปฏิเสธพร้อมเหตุผล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071C4-2129-4D60-B6D2-58F956A1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Python ตรวจข้อเท็จจริงและผลลัพธ์ ส่วน Rego ตัดสินนโยบาย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1F15D-179A-4774-9AA0-45F76C74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63785-601D-473A-A9C8-8CF5E79F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# Rego policy excerpt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deny contains "write_forbidden" if {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    input.read_only != true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# Post-tool example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COUNT result = -1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=&gt; count_must_be_nonnegative_integer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61EE6-924A-47AA-97DD-DF367780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5A26C-4FCF-4EC9-B8C9-901461A2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คำสั่งเขียนข้อมูลต้องไม่ผ่าน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COUNT ติดลบต้องไม่ส่งให้ผู้ใช้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เมื่อผิดกฎให้แก้หรือหยุด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BC2834-1FDF-49DA-A6F9-2C87C103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4F958-81D6-4885-A618-2AA7C9E9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บังคับกฎที่ตรวจสอบได้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OPA ติดต่อไม่ได้ก็หยุด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มีเหตุผลอยู่ใน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8CE21-F247-4B81-BB90-3713C8EE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3 OPA integration tests ผ่านจริง รวมการปฏิเสธผลผิดกฎและกรณีติดต่อ OPA ไม่ได้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ส่วนตัวอย่างผล COUNT เป็นรูปแบบอธิบาย ไม่ใช่ Python ที่รันได้ทั้งก้อน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DD26F-AA96-4A27-8663-64B56D6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5599916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EB6CE-504F-43E9-9FF7-8F7A26E2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Web application: เห็นคำตอบพร้อมเส้นทางตรวจสอบ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BFF409-0F80-4C57-9D98-A444FC61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Local web app ที่ localhost:8090 เรียก agent และ Spark 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BAFCA-0AF7-4525-99B1-4983E38A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6C183-11F6-43AB-BA12-E0669217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5737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1  ระบุคำถามและเวลา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เดือน ต.ค. 2011 มี invoice กี่ใบ?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3A045-631B-42AB-AFFC-C340A023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76225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2365C7-ED6E-4DC9-ADED-0A3A19E3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33725"/>
            <a:ext cx="11049000" cy="790575"/>
          </a:xfrm>
          <a:prstGeom xmlns:a="http://schemas.openxmlformats.org/drawingml/2006/main" prst="roundRect">
            <a:avLst>
              <a:gd name="adj" fmla="val 9639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2  สถานะการทำงาน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กำลังประมวลผล / ถามกลับ / error / สำเร็จ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AA942F-15B9-400B-A0C1-69E08F65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038600"/>
            <a:ext cx="2286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64DB9-0FF1-4350-B408-4B4D08F8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10075"/>
            <a:ext cx="6286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325">
                <a:solidFill>
                  <a:srgbClr val="102B46"/>
                </a:solidFill>
              </a:defRPr>
            </a:defPPr>
            <a:lvl1pPr algn="ctr">
              <a:defRPr sz="2325">
                <a:solidFill>
                  <a:srgbClr val="102B46"/>
                </a:solidFill>
              </a:defRPr>
            </a:lvl1pPr>
            <a:lvl2pPr algn="ctr">
              <a:defRPr sz="2325">
                <a:solidFill>
                  <a:srgbClr val="102B46"/>
                </a:solidFill>
              </a:defRPr>
            </a:lvl2pPr>
            <a:lvl3pPr algn="ctr">
              <a:defRPr sz="2325">
                <a:solidFill>
                  <a:srgbClr val="102B46"/>
                </a:solidFill>
              </a:defRPr>
            </a:lvl3pPr>
            <a:lvl4pPr algn="ctr">
              <a:defRPr sz="2325">
                <a:solidFill>
                  <a:srgbClr val="102B46"/>
                </a:solidFill>
              </a:defRPr>
            </a:lvl4pPr>
            <a:lvl5pPr algn="ctr">
              <a:defRPr sz="2325">
                <a:solidFill>
                  <a:srgbClr val="102B46"/>
                </a:solidFill>
              </a:defRPr>
            </a:lvl5pPr>
            <a:lvl6pPr algn="ctr">
              <a:defRPr sz="2325">
                <a:solidFill>
                  <a:srgbClr val="102B46"/>
                </a:solidFill>
              </a:defRPr>
            </a:lvl6pPr>
            <a:lvl7pPr algn="ctr">
              <a:defRPr sz="2325">
                <a:solidFill>
                  <a:srgbClr val="102B46"/>
                </a:solidFill>
              </a:defRPr>
            </a:lvl7pPr>
            <a:lvl8pPr algn="ctr">
              <a:defRPr sz="2325">
                <a:solidFill>
                  <a:srgbClr val="102B46"/>
                </a:solidFill>
              </a:defRPr>
            </a:lvl8pPr>
            <a:lvl9pPr algn="ctr">
              <a:defRPr sz="23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3  ผลทดสอบผ่าน HTTP จริง</a:t>
            </a:r>
          </a:p>
          <a:p xmlns:a="http://schemas.openxmlformats.org/drawingml/2006/main">
            <a:pPr algn="ctr">
              <a:defRPr sz="2325">
                <a:solidFill>
                  <a:srgbClr val="102B46"/>
                </a:solidFill>
              </a:defRPr>
            </a:pPr>
            <a:r>
              <a:rPr sz="2325">
                <a:solidFill>
                  <a:srgbClr val="102B46"/>
                </a:solidFill>
              </a:rPr>
              <a:t>invoice count = 2,040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6DE657-029B-4D2C-B061-BB7601CBC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10075"/>
            <a:ext cx="4381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725">
                <a:solidFill>
                  <a:srgbClr val="102B46"/>
                </a:solidFill>
              </a:defRPr>
            </a:defPPr>
            <a:lvl1pPr algn="ctr">
              <a:defRPr sz="1725">
                <a:solidFill>
                  <a:srgbClr val="102B46"/>
                </a:solidFill>
              </a:defRPr>
            </a:lvl1pPr>
            <a:lvl2pPr algn="ctr">
              <a:defRPr sz="1725">
                <a:solidFill>
                  <a:srgbClr val="102B46"/>
                </a:solidFill>
              </a:defRPr>
            </a:lvl2pPr>
            <a:lvl3pPr algn="ctr">
              <a:defRPr sz="1725">
                <a:solidFill>
                  <a:srgbClr val="102B46"/>
                </a:solidFill>
              </a:defRPr>
            </a:lvl3pPr>
            <a:lvl4pPr algn="ctr">
              <a:defRPr sz="1725">
                <a:solidFill>
                  <a:srgbClr val="102B46"/>
                </a:solidFill>
              </a:defRPr>
            </a:lvl4pPr>
            <a:lvl5pPr algn="ctr">
              <a:defRPr sz="1725">
                <a:solidFill>
                  <a:srgbClr val="102B46"/>
                </a:solidFill>
              </a:defRPr>
            </a:lvl5pPr>
            <a:lvl6pPr algn="ctr">
              <a:defRPr sz="1725">
                <a:solidFill>
                  <a:srgbClr val="102B46"/>
                </a:solidFill>
              </a:defRPr>
            </a:lvl6pPr>
            <a:lvl7pPr algn="ctr">
              <a:defRPr sz="1725">
                <a:solidFill>
                  <a:srgbClr val="102B46"/>
                </a:solidFill>
              </a:defRPr>
            </a:lvl7pPr>
            <a:lvl8pPr algn="ctr">
              <a:defRPr sz="1725">
                <a:solidFill>
                  <a:srgbClr val="102B46"/>
                </a:solidFill>
              </a:defRPr>
            </a:lvl8pPr>
            <a:lvl9pPr algn="ctr">
              <a:defRPr sz="17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เปิดตรวจต่อได้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SQL / evidence / trace</a:t>
            </a:r>
          </a:p>
          <a:p xmlns:a="http://schemas.openxmlformats.org/drawingml/2006/main">
            <a:pPr algn="ctr">
              <a:defRPr sz="1725">
                <a:solidFill>
                  <a:srgbClr val="102B46"/>
                </a:solidFill>
              </a:defRPr>
            </a:pPr>
            <a:r>
              <a:rPr sz="1725">
                <a:solidFill>
                  <a:srgbClr val="102B46"/>
                </a:solidFill>
              </a:rPr>
              <a:t>context plan / token usage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A4FDF-5C97-4161-8178-63A26AB4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หน้านี้เป็นแผนภาพการใช้งาน ไม่ใช่ภาพหน้าจอ • แต่ละคำถามแยก context และรับทีละคำถาม</a:t>
            </a:r>
          </a:p>
        </p:txBody>
      </p:sp>
    </p:spTree>
    <p:extLst>
      <p:ext uri="{BB962C8B-B14F-4D97-AF65-F5344CB8AC3E}">
        <p14:creationId xmlns:p14="http://schemas.microsoft.com/office/powerpoint/2010/main" val="13411726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56796-D35D-4E8A-9ACD-37499657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Web app: คำถามเดียว ตรวจคำตอบต่อได้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A61C81-0E0C-440E-977D-796F6F62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 request/response จากการทดสอบ HTTP ปัจจุบัน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2EA192-C6E9-488D-A8AA-A9B52C9A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512673-E5B4-4D50-8FAD-CD6C2427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0">
                <a:solidFill>
                  <a:srgbClr val="102B46"/>
                </a:solidFill>
              </a:defRPr>
            </a:defPPr>
            <a:lvl1pPr>
              <a:defRPr sz="1875" b="0">
                <a:solidFill>
                  <a:srgbClr val="102B46"/>
                </a:solidFill>
              </a:defRPr>
            </a:lvl1pPr>
            <a:lvl2pPr>
              <a:defRPr sz="1875" b="0">
                <a:solidFill>
                  <a:srgbClr val="102B46"/>
                </a:solidFill>
              </a:defRPr>
            </a:lvl2pPr>
            <a:lvl3pPr>
              <a:defRPr sz="1875" b="0">
                <a:solidFill>
                  <a:srgbClr val="102B46"/>
                </a:solidFill>
              </a:defRPr>
            </a:lvl3pPr>
            <a:lvl4pPr>
              <a:defRPr sz="1875" b="0">
                <a:solidFill>
                  <a:srgbClr val="102B46"/>
                </a:solidFill>
              </a:defRPr>
            </a:lvl4pPr>
            <a:lvl5pPr>
              <a:defRPr sz="1875" b="0">
                <a:solidFill>
                  <a:srgbClr val="102B46"/>
                </a:solidFill>
              </a:defRPr>
            </a:lvl5pPr>
            <a:lvl6pPr>
              <a:defRPr sz="1875" b="0">
                <a:solidFill>
                  <a:srgbClr val="102B46"/>
                </a:solidFill>
              </a:defRPr>
            </a:lvl6pPr>
            <a:lvl7pPr>
              <a:defRPr sz="1875" b="0">
                <a:solidFill>
                  <a:srgbClr val="102B46"/>
                </a:solidFill>
              </a:defRPr>
            </a:lvl7pPr>
            <a:lvl8pPr>
              <a:defRPr sz="1875" b="0">
                <a:solidFill>
                  <a:srgbClr val="102B46"/>
                </a:solidFill>
              </a:defRPr>
            </a:lvl8pPr>
            <a:lvl9pPr>
              <a:defRPr sz="187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POST /api/query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Origin: http://localhost:8090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Content-Type: application/json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{"question": "How many completed</a:t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 invoices in October 2011?"}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02B46"/>
                </a:solidFill>
              </a:defRPr>
            </a:pPr>
            <a:r>
              <a:rPr sz="1875" b="0">
                <a:solidFill>
                  <a:srgbClr val="102B46"/>
                </a:solidFill>
              </a:rPr>
              <a:t>Result: invoice_count = 2040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6D3BE0-B66B-4F3E-965F-BBFC5C67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7DEFB-8C07-4131-8702-26DAC569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เว็บส่งคำถามให้ agent ตัวเดียว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ผลคืนเป็นตารางพร้อม SQL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เอกสารอ้างอิง และ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B175BB-44B0-452F-A8DF-8DCCE825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D2ED0D-277F-4A29-B2C2-4DF2CAFF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ผู้ใช้ตรวจที่มาของตัวเลขได้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ผ่านหน้าเดียว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ยังไม่ได้วัด usability กับผู้ใช้ใหม่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F94A7-7F63-46F9-81EE-75B39BE0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ทดสอบ HTTP + Qwen + ontology + OPA + Spark/HDFS จริง ได้ 2,040 invoices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JSON ในภาพตัดบรรทัดเพื่ออ่าน ไม่ใช่ raw request สำหรับคัดลอกทั้งก้อน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7ADCC-E038-4E13-8CC7-B1D2B5FF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9361015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10D6F4-B7A5-44DA-8D5B-FB7B62F0B86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6096000" y="3905250"/>
            <a:ext cx="30003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402062-8688-4693-9D46-21ED5EF52E1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095625" y="3905250"/>
            <a:ext cx="30003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C02554-AC89-405E-81C2-AF23AE7BBF32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324100"/>
            <a:ext cx="3000375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79FF7F-6CBB-46BA-8EE2-37A13721A1C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095625" y="2324100"/>
            <a:ext cx="3000375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137C68"/>
            </a:solidFill>
            <a:tailEnd type="arrow" w="med" len="me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540F0-8B36-45A5-839C-7E8A4B44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การวัดผล: มีคำตอบอ้างอิงก่อนให้ Agent ทำ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31C67-9C17-46CD-932D-4DE5A7CD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ผู้พัฒนาเตรียม SQL อ้างอิงและเอกสารที่ควรค้นพบ โดยไม่ส่งเฉลยให้ 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A2EB17-FA57-44F8-9687-178F1497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77275F-871D-4650-A7C9-10B2AE1E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14500"/>
            <a:ext cx="4572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คำถามทดสอบเดียวกัน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F8E2AC-CAB4-4794-82A8-1E3706F9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E7FB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Agent สร้าง SQL เอง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ผ่าน guard แล้วรัน Spark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C35234-21C9-40DB-8C29-122A35B9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5048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Gold SQL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SQL อ้างอิงที่ผู้พัฒนาเขียน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ผ่าน guard แล้วรัน Spark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14F444-FAA6-4D87-8B58-8B2BC9B4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52950"/>
            <a:ext cx="8953500" cy="866775"/>
          </a:xfrm>
          <a:prstGeom xmlns:a="http://schemas.openxmlformats.org/drawingml/2006/main" prst="roundRect">
            <a:avLst>
              <a:gd name="adj" fmla="val 8791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เปรียบเทียบตารางคำตอบจริงกับตารางเฉลย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คำสั่ง SQL เขียนต่างกันได้ ถ้าผลตรงกันตามเกณฑ์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086A5-2BCA-44E6-9B49-97F64DFC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Expected evidence = IDs ของหัวข้อความรู้ที่โจทย์นั้นควรค้นเจอ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Guard ป้องกันคำสั่งเสี่ยงก่อนรัน • การเทียบเฉลยเป็นอีกขั้นหนึ่งที่ตรวจว่าตอบถูกหรือไม่</a:t>
            </a:r>
          </a:p>
        </p:txBody>
      </p:sp>
    </p:spTree>
    <p:extLst>
      <p:ext uri="{BB962C8B-B14F-4D97-AF65-F5344CB8AC3E}">
        <p14:creationId xmlns:p14="http://schemas.microsoft.com/office/powerpoint/2010/main" val="13091583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D46F5-FD20-494B-9C4D-F63E1A25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ตัวอย่าง Evaluation: เทียบผลลัพธ์กับเฉลย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ABE65B-DE58-42C2-A1CE-AF796A4F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11163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ตัวอย่างย่อสำหรับโจทย์ที่ต้องคืนตาราง ไม่รวมแขนการถามกลับ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F80B9-5015-4288-A1AA-56D58BC9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63817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7BD70-A1EF-4D2D-879F-21CA4BED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59055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correct = (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result["status"] == "executed"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and same_result(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    result["result"], gold,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    ordered=case["ordered"]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    )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500FF9-EA9A-4C61-831D-07A5541A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288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ตัวอย่างนี้ทำอะไร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290E5D-E324-4E58-83AE-77179CEC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4286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102B46"/>
                </a:solidFill>
              </a:defRPr>
            </a:defPPr>
            <a:lvl1pPr>
              <a:defRPr sz="2025" b="0">
                <a:solidFill>
                  <a:srgbClr val="102B46"/>
                </a:solidFill>
              </a:defRPr>
            </a:lvl1pPr>
            <a:lvl2pPr>
              <a:defRPr sz="2025" b="0">
                <a:solidFill>
                  <a:srgbClr val="102B46"/>
                </a:solidFill>
              </a:defRPr>
            </a:lvl2pPr>
            <a:lvl3pPr>
              <a:defRPr sz="2025" b="0">
                <a:solidFill>
                  <a:srgbClr val="102B46"/>
                </a:solidFill>
              </a:defRPr>
            </a:lvl3pPr>
            <a:lvl4pPr>
              <a:defRPr sz="2025" b="0">
                <a:solidFill>
                  <a:srgbClr val="102B46"/>
                </a:solidFill>
              </a:defRPr>
            </a:lvl4pPr>
            <a:lvl5pPr>
              <a:defRPr sz="2025" b="0">
                <a:solidFill>
                  <a:srgbClr val="102B46"/>
                </a:solidFill>
              </a:defRPr>
            </a:lvl5pPr>
            <a:lvl6pPr>
              <a:defRPr sz="2025" b="0">
                <a:solidFill>
                  <a:srgbClr val="102B46"/>
                </a:solidFill>
              </a:defRPr>
            </a:lvl6pPr>
            <a:lvl7pPr>
              <a:defRPr sz="2025" b="0">
                <a:solidFill>
                  <a:srgbClr val="102B46"/>
                </a:solidFill>
              </a:defRPr>
            </a:lvl7pPr>
            <a:lvl8pPr>
              <a:defRPr sz="2025" b="0">
                <a:solidFill>
                  <a:srgbClr val="102B46"/>
                </a:solidFill>
              </a:defRPr>
            </a:lvl8pPr>
            <a:lvl9pPr>
              <a:defRPr sz="20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Agent เขียน SQL เอง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ผู้ประเมินรัน SQL อ้างอิงแยก</a:t>
            </a:r>
          </a:p>
          <a:p xmlns:a="http://schemas.openxmlformats.org/drawingml/2006/main">
            <a:pPr>
              <a:defRPr sz="2025" b="0">
                <a:solidFill>
                  <a:srgbClr val="102B46"/>
                </a:solidFill>
              </a:defRPr>
            </a:pPr>
            <a:r>
              <a:rPr sz="2025" b="0">
                <a:solidFill>
                  <a:srgbClr val="102B46"/>
                </a:solidFill>
              </a:rPr>
              <a:t>แล้วเทียบแถวคำตอบจริง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47BAAA-7AEA-4C47-B542-2371CED8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38575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1">
                <a:solidFill>
                  <a:srgbClr val="102B46"/>
                </a:solidFill>
              </a:defRPr>
            </a:defPPr>
            <a:lvl1pPr>
              <a:defRPr sz="2100" b="1">
                <a:solidFill>
                  <a:srgbClr val="102B46"/>
                </a:solidFill>
              </a:defRPr>
            </a:lvl1pPr>
            <a:lvl2pPr>
              <a:defRPr sz="2100" b="1">
                <a:solidFill>
                  <a:srgbClr val="102B46"/>
                </a:solidFill>
              </a:defRPr>
            </a:lvl2pPr>
            <a:lvl3pPr>
              <a:defRPr sz="2100" b="1">
                <a:solidFill>
                  <a:srgbClr val="102B46"/>
                </a:solidFill>
              </a:defRPr>
            </a:lvl3pPr>
            <a:lvl4pPr>
              <a:defRPr sz="2100" b="1">
                <a:solidFill>
                  <a:srgbClr val="102B46"/>
                </a:solidFill>
              </a:defRPr>
            </a:lvl4pPr>
            <a:lvl5pPr>
              <a:defRPr sz="2100" b="1">
                <a:solidFill>
                  <a:srgbClr val="102B46"/>
                </a:solidFill>
              </a:defRPr>
            </a:lvl5pPr>
            <a:lvl6pPr>
              <a:defRPr sz="2100" b="1">
                <a:solidFill>
                  <a:srgbClr val="102B46"/>
                </a:solidFill>
              </a:defRPr>
            </a:lvl6pPr>
            <a:lvl7pPr>
              <a:defRPr sz="2100" b="1">
                <a:solidFill>
                  <a:srgbClr val="102B46"/>
                </a:solidFill>
              </a:defRPr>
            </a:lvl7pPr>
            <a:lvl8pPr>
              <a:defRPr sz="2100" b="1">
                <a:solidFill>
                  <a:srgbClr val="102B46"/>
                </a:solidFill>
              </a:defRPr>
            </a:lvl8pPr>
            <a:lvl9pPr>
              <a:defRPr sz="210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02B46"/>
                </a:solidFill>
              </a:defRPr>
            </a:pPr>
            <a:r>
              <a:rPr sz="2100" b="1">
                <a:solidFill>
                  <a:srgbClr val="102B46"/>
                </a:solidFill>
              </a:rPr>
              <a:t>ช่วยด้านไหน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E3ACE-D871-4D71-AD14-ABD4EDC3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4286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102B46"/>
                </a:solidFill>
              </a:defRPr>
            </a:defPPr>
            <a:lvl1pPr>
              <a:defRPr sz="1950" b="0">
                <a:solidFill>
                  <a:srgbClr val="102B46"/>
                </a:solidFill>
              </a:defRPr>
            </a:lvl1pPr>
            <a:lvl2pPr>
              <a:defRPr sz="1950" b="0">
                <a:solidFill>
                  <a:srgbClr val="102B46"/>
                </a:solidFill>
              </a:defRPr>
            </a:lvl2pPr>
            <a:lvl3pPr>
              <a:defRPr sz="1950" b="0">
                <a:solidFill>
                  <a:srgbClr val="102B46"/>
                </a:solidFill>
              </a:defRPr>
            </a:lvl3pPr>
            <a:lvl4pPr>
              <a:defRPr sz="1950" b="0">
                <a:solidFill>
                  <a:srgbClr val="102B46"/>
                </a:solidFill>
              </a:defRPr>
            </a:lvl4pPr>
            <a:lvl5pPr>
              <a:defRPr sz="1950" b="0">
                <a:solidFill>
                  <a:srgbClr val="102B46"/>
                </a:solidFill>
              </a:defRPr>
            </a:lvl5pPr>
            <a:lvl6pPr>
              <a:defRPr sz="1950" b="0">
                <a:solidFill>
                  <a:srgbClr val="102B46"/>
                </a:solidFill>
              </a:defRPr>
            </a:lvl6pPr>
            <a:lvl7pPr>
              <a:defRPr sz="1950" b="0">
                <a:solidFill>
                  <a:srgbClr val="102B46"/>
                </a:solidFill>
              </a:defRPr>
            </a:lvl7pPr>
            <a:lvl8pPr>
              <a:defRPr sz="1950" b="0">
                <a:solidFill>
                  <a:srgbClr val="102B46"/>
                </a:solidFill>
              </a:defRPr>
            </a:lvl8pPr>
            <a:lvl9pPr>
              <a:defRPr sz="195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SQL เขียนต่างกันแต่ผลตรงได้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ข้อผิดพลาดและการหยุดนับว่าผิด</a:t>
            </a:r>
          </a:p>
          <a:p xmlns:a="http://schemas.openxmlformats.org/drawingml/2006/main">
            <a:pPr>
              <a:defRPr sz="1950" b="0">
                <a:solidFill>
                  <a:srgbClr val="102B46"/>
                </a:solidFill>
              </a:defRPr>
            </a:pPr>
            <a:r>
              <a:rPr sz="1950" b="0">
                <a:solidFill>
                  <a:srgbClr val="102B46"/>
                </a:solidFill>
              </a:rPr>
              <a:t>ตรวจของเดิมซ้ำหลังแก้ระบบ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60044-C3CD-41A8-88FD-0FFD983F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60070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ชุดใหม่ 60/60 และโจทย์เดิม 80/80 • gold ไม่ถูกส่งให้ Agent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เป็นโจทย์ผู้พัฒนาสร้างในกลุ่มงานที่รองรับ ไม่ใช่ external benchmark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52AE8-1AEE-4F36-B561-AEB553DF5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197195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016883-155A-492B-A0B9-9E57B28E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ผลทดสอบระบบปัจจุบันด้วยคำถามใหม่ 60 ข้อ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CF3641-FBD6-486A-82E8-997201B0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ล็อกโค้ด โมเดล ชุดคำถาม และเกณฑ์ก่อนรันจริง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67718-A779-49AF-974D-78534B7B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22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D6546-BA75-4E97-8A7D-2440673335E6}"/>
              </a:ext>
            </a:extLst>
          </p:cNvPr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333625"/>
                <a:gridCol w="4600575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สิ่งที่วัด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ผลจริง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หมายความว่าอย่างไร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คำถามใหม่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60/60 ถูก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52 คำตอบ SQL + 8 ถามกลับ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โจทย์เดิมหลังแก้ระบบ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80/80 ถูก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ตรวจว่าการแก้ไม่ทำของเดิมพัง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ค้นเอกสารที่ควรเจอใน 6 อันดับแรก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Recall@6 ในชุดใหม่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เวลาตอบ p95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4.87 วินาที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95% ของชุดใหม่ใช้เวลาไม่เกินค่านี้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99B91A-862D-4BC5-B221-2F2B0F1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53 unit tests และ 3 OPA integration tests ผ่านจริง • โค้ด/โมเดลก่อนและหลังวัดตรงกัน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โจทย์ผู้พัฒนาสร้างในกลุ่มงานที่รองรับ • เวลาไม่รวมเปิด Spark และรัน gold ก่อนคำตอบทดสอบ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48912082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3CE918-2F76-4994-95CF-48A3477B1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การทดลอง Context: ข้อความที่ส่งเข้าโมเดล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E53CB-E125-4EC9-BFE1-99B75EF1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Context = คำถาม เอกสารอ้างอิง และสถานะล่าสุดที่โมเดลเห็น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50CD4-3259-4B5F-8F41-97C9D2D1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F585B0-8DDB-4BE8-B487-F74D1E2AB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38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เอกสารที่จำเป็น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นิยาม invoice + ตาราง orders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FCE5C-96B1-4E7C-A7FD-BCDD859D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238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ข้อความประกอบที่ไม่เกี่ยวกับงาน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บันทึกอากาศและเฟอร์นิเจอร์ 3,000 ตัวอักษร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2D852-CA8D-496D-8842-D353EE299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950">
                <a:solidFill>
                  <a:srgbClr val="102B46"/>
                </a:solidFill>
              </a:defRPr>
            </a:defPPr>
            <a:lvl1pPr algn="ctr">
              <a:defRPr sz="1950">
                <a:solidFill>
                  <a:srgbClr val="102B46"/>
                </a:solidFill>
              </a:defRPr>
            </a:lvl1pPr>
            <a:lvl2pPr algn="ctr">
              <a:defRPr sz="1950">
                <a:solidFill>
                  <a:srgbClr val="102B46"/>
                </a:solidFill>
              </a:defRPr>
            </a:lvl2pPr>
            <a:lvl3pPr algn="ctr">
              <a:defRPr sz="1950">
                <a:solidFill>
                  <a:srgbClr val="102B46"/>
                </a:solidFill>
              </a:defRPr>
            </a:lvl3pPr>
            <a:lvl4pPr algn="ctr">
              <a:defRPr sz="1950">
                <a:solidFill>
                  <a:srgbClr val="102B46"/>
                </a:solidFill>
              </a:defRPr>
            </a:lvl4pPr>
            <a:lvl5pPr algn="ctr">
              <a:defRPr sz="1950">
                <a:solidFill>
                  <a:srgbClr val="102B46"/>
                </a:solidFill>
              </a:defRPr>
            </a:lvl5pPr>
            <a:lvl6pPr algn="ctr">
              <a:defRPr sz="1950">
                <a:solidFill>
                  <a:srgbClr val="102B46"/>
                </a:solidFill>
              </a:defRPr>
            </a:lvl6pPr>
            <a:lvl7pPr algn="ctr">
              <a:defRPr sz="1950">
                <a:solidFill>
                  <a:srgbClr val="102B46"/>
                </a:solidFill>
              </a:defRPr>
            </a:lvl7pPr>
            <a:lvl8pPr algn="ctr">
              <a:defRPr sz="1950">
                <a:solidFill>
                  <a:srgbClr val="102B46"/>
                </a:solidFill>
              </a:defRPr>
            </a:lvl8pPr>
            <a:lvl9pPr algn="ctr">
              <a:defRPr sz="195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ไม่มีข้อความรบกวน</a:t>
            </a:r>
          </a:p>
          <a:p xmlns:a="http://schemas.openxmlformats.org/drawingml/2006/main">
            <a:pPr algn="ctr">
              <a:defRPr sz="1950">
                <a:solidFill>
                  <a:srgbClr val="102B46"/>
                </a:solidFill>
              </a:defRPr>
            </a:pPr>
            <a:r>
              <a:rPr sz="1950">
                <a:solidFill>
                  <a:srgbClr val="102B46"/>
                </a:solidFill>
              </a:rPr>
              <a:t>คำถาม + เอกสารจำเป็น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846B3-13F7-495F-9C2C-C3488893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ตัดข้อความรบกวน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 + เอกสารจำเป็น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ตัดเฉพาะข้อความประกอบ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31C46-347F-4735-8F00-6513091D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38550"/>
            <a:ext cx="3333750" cy="1362075"/>
          </a:xfrm>
          <a:prstGeom xmlns:a="http://schemas.openxmlformats.org/drawingml/2006/main" prst="roundRect">
            <a:avLst>
              <a:gd name="adj" fmla="val 5594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เก็บข้อความทั้งหมด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คำถาม + เอกสารจำเป็น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+ ข้อความประกอบ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302693-1780-4C59-B3E2-75D552F4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12 คำถาม × 3 เงื่อนไข = 36 รอบทดลอง • ทุกเงื่อนไขใช้ RAG และเก็บเอกสารที่จำเป็นครบ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Web app ปกติไม่ได้ส่งบันทึกประกอบเหล่านี้ การเติมข้อความทำเพื่อทดสอบ</a:t>
            </a:r>
          </a:p>
        </p:txBody>
      </p:sp>
    </p:spTree>
    <p:extLst>
      <p:ext uri="{BB962C8B-B14F-4D97-AF65-F5344CB8AC3E}">
        <p14:creationId xmlns:p14="http://schemas.microsoft.com/office/powerpoint/2010/main" val="5121885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7059E-70AE-4296-8B21-0A6E0C31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ผลทดลอง Context: 12 คำถามในแต่ละเงื่อนไข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29826-A660-4671-8D53-EE76E4C97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ทุกข้อเทียบตารางคำตอบกับเฉลยจริง การหยุดหรือล้มเหลวนับว่าไม่ถูก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3ACEE-BFAE-4E6D-A8D3-6E5DB8F4E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70D91-5B29-462E-A613-2D31E26D3B6D}"/>
              </a:ext>
            </a:extLst>
          </p:cNvPr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1905000"/>
                <a:gridCol w="2133600"/>
                <a:gridCol w="2133600"/>
              </a:tblGrid>
              <a:tr h="83343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สิ่งที่ส่งเข้าโมเดล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ตอบถูก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หยุดก่อนโมเดล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หยุดระหว่างซ่อม</a:t>
                      </a:r>
                    </a:p>
                  </a:txBody>
                  <a:tcPr marL="91440" marR="91440" marT="45720" marB="45720">
                    <a:solidFill>
                      <a:srgbClr val="193C5A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ไม่มีข้อความรบกวน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ตัดเฉพาะข้อความรบกวน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12/12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EEF4F9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เก็บข้อความประกอบทั้งหมด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10/12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02B46"/>
                          </a:solidFill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B8047-D65B-49B6-8FC5-EFF00D23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เอกสารจำเป็นเก็บครบ 12/12 ทุกเงื่อนไข • ไม่มีคำตอบที่ส่งแล้วผิดใน 36 รอบนี้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สองข้อที่ไม่สำเร็จหยุดเพราะงบ input ของโปรแกรม จึงยังไม่ใช่หลักฐานว่าโมเดลเกิด context rot</a:t>
            </a:r>
          </a:p>
        </p:txBody>
      </p:sp>
    </p:spTree>
    <p:extLst>
      <p:ext uri="{BB962C8B-B14F-4D97-AF65-F5344CB8AC3E}">
        <p14:creationId xmlns:p14="http://schemas.microsoft.com/office/powerpoint/2010/main" val="3881113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BE90E-8481-4A7A-8DB9-8C32D98D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Context: ลดข้อความส่วนเกินได้ โดยเก็บนิยามที่ต้องใช้ครบ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C6A781-7A5E-4FBE-9F45-841F4C1B9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Tokens คือหน่วยข้อความที่โมเดลนับ ตัวเลขด้านล่างเป็น input ที่ Ollama รายงานจริง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85CBB-D614-4224-B180-BE606A23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0E7BE-6903-475C-A6BC-53BEE806C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104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75">
                <a:solidFill>
                  <a:srgbClr val="102B46"/>
                </a:solidFill>
              </a:defRPr>
            </a:defPPr>
            <a:lvl1pPr algn="ctr">
              <a:defRPr sz="2175">
                <a:solidFill>
                  <a:srgbClr val="102B46"/>
                </a:solidFill>
              </a:defRPr>
            </a:lvl1pPr>
            <a:lvl2pPr algn="ctr">
              <a:defRPr sz="2175">
                <a:solidFill>
                  <a:srgbClr val="102B46"/>
                </a:solidFill>
              </a:defRPr>
            </a:lvl2pPr>
            <a:lvl3pPr algn="ctr">
              <a:defRPr sz="2175">
                <a:solidFill>
                  <a:srgbClr val="102B46"/>
                </a:solidFill>
              </a:defRPr>
            </a:lvl3pPr>
            <a:lvl4pPr algn="ctr">
              <a:defRPr sz="2175">
                <a:solidFill>
                  <a:srgbClr val="102B46"/>
                </a:solidFill>
              </a:defRPr>
            </a:lvl4pPr>
            <a:lvl5pPr algn="ctr">
              <a:defRPr sz="2175">
                <a:solidFill>
                  <a:srgbClr val="102B46"/>
                </a:solidFill>
              </a:defRPr>
            </a:lvl5pPr>
            <a:lvl6pPr algn="ctr">
              <a:defRPr sz="2175">
                <a:solidFill>
                  <a:srgbClr val="102B46"/>
                </a:solidFill>
              </a:defRPr>
            </a:lvl6pPr>
            <a:lvl7pPr algn="ctr">
              <a:defRPr sz="2175">
                <a:solidFill>
                  <a:srgbClr val="102B46"/>
                </a:solidFill>
              </a:defRPr>
            </a:lvl7pPr>
            <a:lvl8pPr algn="ctr">
              <a:defRPr sz="2175">
                <a:solidFill>
                  <a:srgbClr val="102B46"/>
                </a:solidFill>
              </a:defRPr>
            </a:lvl8pPr>
            <a:lvl9pPr algn="ctr">
              <a:defRPr sz="21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ไม่มีข้อความรบกวน / ตัดข้อความรบกวน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2,017–2,470 tokens ต่อการเรียก</a:t>
            </a:r>
          </a:p>
          <a:p xmlns:a="http://schemas.openxmlformats.org/drawingml/2006/main">
            <a:pPr algn="ctr">
              <a:defRPr sz="2175">
                <a:solidFill>
                  <a:srgbClr val="102B46"/>
                </a:solidFill>
              </a:defRPr>
            </a:pPr>
            <a:r>
              <a:rPr sz="2175">
                <a:solidFill>
                  <a:srgbClr val="102B46"/>
                </a:solidFill>
              </a:rPr>
              <a:t>ตอบถูก 12/12 ในแต่ละเงื่อนไข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5E860-C0AA-4C87-9C8C-13727E70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0"/>
            <a:ext cx="11049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เก็บข้อความรบกวนทั้งหมด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2,503–2,863 tokens ต่อการเรียกที่เกิดขึ้น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ตอบถูก 10/12 อีก 2 ข้อหยุดเพราะงบของโปรแกรม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B02FB-AE38-49A6-B51D-7D71C6DB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149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1">
                <a:solidFill>
                  <a:srgbClr val="102B46"/>
                </a:solidFill>
              </a:defRPr>
            </a:defPPr>
            <a:lvl1pPr>
              <a:defRPr sz="2025" b="1">
                <a:solidFill>
                  <a:srgbClr val="102B46"/>
                </a:solidFill>
              </a:defRPr>
            </a:lvl1pPr>
            <a:lvl2pPr>
              <a:defRPr sz="2025" b="1">
                <a:solidFill>
                  <a:srgbClr val="102B46"/>
                </a:solidFill>
              </a:defRPr>
            </a:lvl2pPr>
            <a:lvl3pPr>
              <a:defRPr sz="2025" b="1">
                <a:solidFill>
                  <a:srgbClr val="102B46"/>
                </a:solidFill>
              </a:defRPr>
            </a:lvl3pPr>
            <a:lvl4pPr>
              <a:defRPr sz="2025" b="1">
                <a:solidFill>
                  <a:srgbClr val="102B46"/>
                </a:solidFill>
              </a:defRPr>
            </a:lvl4pPr>
            <a:lvl5pPr>
              <a:defRPr sz="2025" b="1">
                <a:solidFill>
                  <a:srgbClr val="102B46"/>
                </a:solidFill>
              </a:defRPr>
            </a:lvl5pPr>
            <a:lvl6pPr>
              <a:defRPr sz="2025" b="1">
                <a:solidFill>
                  <a:srgbClr val="102B46"/>
                </a:solidFill>
              </a:defRPr>
            </a:lvl6pPr>
            <a:lvl7pPr>
              <a:defRPr sz="2025" b="1">
                <a:solidFill>
                  <a:srgbClr val="102B46"/>
                </a:solidFill>
              </a:defRPr>
            </a:lvl7pPr>
            <a:lvl8pPr>
              <a:defRPr sz="2025" b="1">
                <a:solidFill>
                  <a:srgbClr val="102B46"/>
                </a:solidFill>
              </a:defRPr>
            </a:lvl8pPr>
            <a:lvl9pPr>
              <a:defRPr sz="202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B46"/>
                </a:solidFill>
              </a:defRPr>
            </a:pPr>
            <a:r>
              <a:rPr sz="2025" b="1">
                <a:solidFill>
                  <a:srgbClr val="102B46"/>
                </a:solidFill>
              </a:rPr>
              <a:t>สรุปได้: การตัดข้อความประกอบช่วยควบคุม input ในการทดลองนี้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22389-A74A-4F54-8EB2-F518299A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Context rot = คุณภาพคำตอบลดลงเมื่อบริบทยาวหรือมีสิ่งรบกวนสะสม</a:t>
            </a:r>
          </a:p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ยังทดสอบไม่ถึง window เต็ม 8,192 tokens หรือ noise ในเอกสารหลัก จึงยังรับรองว่าแก้ได้ทั่วไปไม่ได้</a:t>
            </a:r>
          </a:p>
        </p:txBody>
      </p:sp>
    </p:spTree>
    <p:extLst>
      <p:ext uri="{BB962C8B-B14F-4D97-AF65-F5344CB8AC3E}">
        <p14:creationId xmlns:p14="http://schemas.microsoft.com/office/powerpoint/2010/main" val="62866827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69D97-71E1-4EDF-B015-76F2E2D2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สิ่งที่พัฒนาแล้วและขอบเขตการใช้งาน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0C26-951C-4D62-811A-6BDCC822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102B46"/>
                </a:solidFill>
              </a:defRPr>
            </a:defPPr>
            <a:lvl1pPr>
              <a:defRPr sz="1800" b="0">
                <a:solidFill>
                  <a:srgbClr val="102B46"/>
                </a:solidFill>
              </a:defRPr>
            </a:lvl1pPr>
            <a:lvl2pPr>
              <a:defRPr sz="1800" b="0">
                <a:solidFill>
                  <a:srgbClr val="102B46"/>
                </a:solidFill>
              </a:defRPr>
            </a:lvl2pPr>
            <a:lvl3pPr>
              <a:defRPr sz="1800" b="0">
                <a:solidFill>
                  <a:srgbClr val="102B46"/>
                </a:solidFill>
              </a:defRPr>
            </a:lvl3pPr>
            <a:lvl4pPr>
              <a:defRPr sz="1800" b="0">
                <a:solidFill>
                  <a:srgbClr val="102B46"/>
                </a:solidFill>
              </a:defRPr>
            </a:lvl4pPr>
            <a:lvl5pPr>
              <a:defRPr sz="1800" b="0">
                <a:solidFill>
                  <a:srgbClr val="102B46"/>
                </a:solidFill>
              </a:defRPr>
            </a:lvl5pPr>
            <a:lvl6pPr>
              <a:defRPr sz="1800" b="0">
                <a:solidFill>
                  <a:srgbClr val="102B46"/>
                </a:solidFill>
              </a:defRPr>
            </a:lvl6pPr>
            <a:lvl7pPr>
              <a:defRPr sz="1800" b="0">
                <a:solidFill>
                  <a:srgbClr val="102B46"/>
                </a:solidFill>
              </a:defRPr>
            </a:lvl7pPr>
            <a:lvl8pPr>
              <a:defRPr sz="1800" b="0">
                <a:solidFill>
                  <a:srgbClr val="102B46"/>
                </a:solidFill>
              </a:defRPr>
            </a:lvl8pPr>
            <a:lvl9pPr>
              <a:defRPr sz="18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B46"/>
                </a:solidFill>
              </a:defRPr>
            </a:pPr>
            <a:r>
              <a:rPr sz="1800" b="0">
                <a:solidFill>
                  <a:srgbClr val="102B46"/>
                </a:solidFill>
              </a:rPr>
              <a:t>เพิ่มส่วนที่ขาด แล้ววัดกับระบบจริงก่อนสรุปผล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3339D-3383-4D8B-AF43-5980786A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102B46"/>
                </a:solidFill>
              </a:defRPr>
            </a:defPPr>
            <a:lvl1pPr>
              <a:defRPr sz="1500" b="0">
                <a:solidFill>
                  <a:srgbClr val="102B46"/>
                </a:solidFill>
              </a:defRPr>
            </a:lvl1pPr>
            <a:lvl2pPr>
              <a:defRPr sz="1500" b="0">
                <a:solidFill>
                  <a:srgbClr val="102B46"/>
                </a:solidFill>
              </a:defRPr>
            </a:lvl2pPr>
            <a:lvl3pPr>
              <a:defRPr sz="1500" b="0">
                <a:solidFill>
                  <a:srgbClr val="102B46"/>
                </a:solidFill>
              </a:defRPr>
            </a:lvl3pPr>
            <a:lvl4pPr>
              <a:defRPr sz="1500" b="0">
                <a:solidFill>
                  <a:srgbClr val="102B46"/>
                </a:solidFill>
              </a:defRPr>
            </a:lvl4pPr>
            <a:lvl5pPr>
              <a:defRPr sz="1500" b="0">
                <a:solidFill>
                  <a:srgbClr val="102B46"/>
                </a:solidFill>
              </a:defRPr>
            </a:lvl5pPr>
            <a:lvl6pPr>
              <a:defRPr sz="1500" b="0">
                <a:solidFill>
                  <a:srgbClr val="102B46"/>
                </a:solidFill>
              </a:defRPr>
            </a:lvl6pPr>
            <a:lvl7pPr>
              <a:defRPr sz="1500" b="0">
                <a:solidFill>
                  <a:srgbClr val="102B46"/>
                </a:solidFill>
              </a:defRPr>
            </a:lvl7pPr>
            <a:lvl8pPr>
              <a:defRPr sz="1500" b="0">
                <a:solidFill>
                  <a:srgbClr val="102B46"/>
                </a:solidFill>
              </a:defRPr>
            </a:lvl8pPr>
            <a:lvl9pPr>
              <a:defRPr sz="1500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02B46"/>
                </a:solidFill>
              </a:defRPr>
            </a:pPr>
            <a:r>
              <a:rPr sz="1500" b="0">
                <a:solidFill>
                  <a:srgbClr val="102B46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0A4CC-6A58-4301-BCD1-F09A6287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5238750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เพิ่มในระบบ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Domain ontology + SHACL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OPA/Rego ก่อนและหลัง Spark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Semantic checks + ชุดคำถามใหม่ 60 ข้อ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BF09D-AFFD-4A3B-BB95-34FDC4D8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238750" cy="2371725"/>
          </a:xfrm>
          <a:prstGeom xmlns:a="http://schemas.openxmlformats.org/drawingml/2006/main" prst="roundRect">
            <a:avLst>
              <a:gd name="adj" fmla="val 321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100">
                <a:solidFill>
                  <a:srgbClr val="102B46"/>
                </a:solidFill>
              </a:defRPr>
            </a:defPPr>
            <a:lvl1pPr algn="ctr">
              <a:defRPr sz="2100">
                <a:solidFill>
                  <a:srgbClr val="102B46"/>
                </a:solidFill>
              </a:defRPr>
            </a:lvl1pPr>
            <a:lvl2pPr algn="ctr">
              <a:defRPr sz="2100">
                <a:solidFill>
                  <a:srgbClr val="102B46"/>
                </a:solidFill>
              </a:defRPr>
            </a:lvl2pPr>
            <a:lvl3pPr algn="ctr">
              <a:defRPr sz="2100">
                <a:solidFill>
                  <a:srgbClr val="102B46"/>
                </a:solidFill>
              </a:defRPr>
            </a:lvl3pPr>
            <a:lvl4pPr algn="ctr">
              <a:defRPr sz="2100">
                <a:solidFill>
                  <a:srgbClr val="102B46"/>
                </a:solidFill>
              </a:defRPr>
            </a:lvl4pPr>
            <a:lvl5pPr algn="ctr">
              <a:defRPr sz="2100">
                <a:solidFill>
                  <a:srgbClr val="102B46"/>
                </a:solidFill>
              </a:defRPr>
            </a:lvl5pPr>
            <a:lvl6pPr algn="ctr">
              <a:defRPr sz="2100">
                <a:solidFill>
                  <a:srgbClr val="102B46"/>
                </a:solidFill>
              </a:defRPr>
            </a:lvl6pPr>
            <a:lvl7pPr algn="ctr">
              <a:defRPr sz="2100">
                <a:solidFill>
                  <a:srgbClr val="102B46"/>
                </a:solidFill>
              </a:defRPr>
            </a:lvl7pPr>
            <a:lvl8pPr algn="ctr">
              <a:defRPr sz="2100">
                <a:solidFill>
                  <a:srgbClr val="102B46"/>
                </a:solidFill>
              </a:defRPr>
            </a:lvl8pPr>
            <a:lvl9pPr algn="ctr">
              <a:defRPr sz="210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ขอบเขตที่ยังต้องบอกผู้ใช้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ทำงานบนเครื่องเดียว ทีละคำถาม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ยังไม่มีระบบบัญชีผู้ใช้</a:t>
            </a:r>
          </a:p>
          <a:p xmlns:a="http://schemas.openxmlformats.org/drawingml/2006/main">
            <a:pPr algn="ctr">
              <a:defRPr sz="2100">
                <a:solidFill>
                  <a:srgbClr val="102B46"/>
                </a:solidFill>
              </a:defRPr>
            </a:pPr>
            <a:r>
              <a:rPr sz="2100">
                <a:solidFill>
                  <a:srgbClr val="102B46"/>
                </a:solidFill>
              </a:rPr>
              <a:t>รองรับนิยามและรูปแบบ SQL ที่กำหนด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D59A5B-049F-4D71-8568-065E121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10287000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2025">
                <a:solidFill>
                  <a:srgbClr val="102B46"/>
                </a:solidFill>
              </a:defRPr>
            </a:defPPr>
            <a:lvl1pPr algn="ctr">
              <a:defRPr sz="2025">
                <a:solidFill>
                  <a:srgbClr val="102B46"/>
                </a:solidFill>
              </a:defRPr>
            </a:lvl1pPr>
            <a:lvl2pPr algn="ctr">
              <a:defRPr sz="2025">
                <a:solidFill>
                  <a:srgbClr val="102B46"/>
                </a:solidFill>
              </a:defRPr>
            </a:lvl2pPr>
            <a:lvl3pPr algn="ctr">
              <a:defRPr sz="2025">
                <a:solidFill>
                  <a:srgbClr val="102B46"/>
                </a:solidFill>
              </a:defRPr>
            </a:lvl3pPr>
            <a:lvl4pPr algn="ctr">
              <a:defRPr sz="2025">
                <a:solidFill>
                  <a:srgbClr val="102B46"/>
                </a:solidFill>
              </a:defRPr>
            </a:lvl4pPr>
            <a:lvl5pPr algn="ctr">
              <a:defRPr sz="2025">
                <a:solidFill>
                  <a:srgbClr val="102B46"/>
                </a:solidFill>
              </a:defRPr>
            </a:lvl5pPr>
            <a:lvl6pPr algn="ctr">
              <a:defRPr sz="2025">
                <a:solidFill>
                  <a:srgbClr val="102B46"/>
                </a:solidFill>
              </a:defRPr>
            </a:lvl6pPr>
            <a:lvl7pPr algn="ctr">
              <a:defRPr sz="2025">
                <a:solidFill>
                  <a:srgbClr val="102B46"/>
                </a:solidFill>
              </a:defRPr>
            </a:lvl7pPr>
            <a:lvl8pPr algn="ctr">
              <a:defRPr sz="2025">
                <a:solidFill>
                  <a:srgbClr val="102B46"/>
                </a:solidFill>
              </a:defRPr>
            </a:lvl8pPr>
            <a:lvl9pPr algn="ctr">
              <a:defRPr sz="202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Semantic checks = ตรวจว่าคำสั่งใช้ความหมายตรงงาน</a:t>
            </a:r>
          </a:p>
          <a:p xmlns:a="http://schemas.openxmlformats.org/drawingml/2006/main">
            <a:pPr algn="ctr">
              <a:defRPr sz="2025">
                <a:solidFill>
                  <a:srgbClr val="102B46"/>
                </a:solidFill>
              </a:defRPr>
            </a:pPr>
            <a:r>
              <a:rPr sz="2025">
                <a:solidFill>
                  <a:srgbClr val="102B46"/>
                </a:solidFill>
              </a:rPr>
              <a:t>เช่น นับ invoice จากตาราง invoice และใช้ช่วงเวลาที่ผู้ใช้ขอ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C3D2A-84AC-4F27-82F6-5135BAC4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1087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102B46"/>
                </a:solidFill>
              </a:defRPr>
            </a:defPPr>
            <a:lvl1pPr>
              <a:defRPr sz="1725" b="0">
                <a:solidFill>
                  <a:srgbClr val="102B46"/>
                </a:solidFill>
              </a:defRPr>
            </a:lvl1pPr>
            <a:lvl2pPr>
              <a:defRPr sz="1725" b="0">
                <a:solidFill>
                  <a:srgbClr val="102B46"/>
                </a:solidFill>
              </a:defRPr>
            </a:lvl2pPr>
            <a:lvl3pPr>
              <a:defRPr sz="1725" b="0">
                <a:solidFill>
                  <a:srgbClr val="102B46"/>
                </a:solidFill>
              </a:defRPr>
            </a:lvl3pPr>
            <a:lvl4pPr>
              <a:defRPr sz="1725" b="0">
                <a:solidFill>
                  <a:srgbClr val="102B46"/>
                </a:solidFill>
              </a:defRPr>
            </a:lvl4pPr>
            <a:lvl5pPr>
              <a:defRPr sz="1725" b="0">
                <a:solidFill>
                  <a:srgbClr val="102B46"/>
                </a:solidFill>
              </a:defRPr>
            </a:lvl5pPr>
            <a:lvl6pPr>
              <a:defRPr sz="1725" b="0">
                <a:solidFill>
                  <a:srgbClr val="102B46"/>
                </a:solidFill>
              </a:defRPr>
            </a:lvl6pPr>
            <a:lvl7pPr>
              <a:defRPr sz="1725" b="0">
                <a:solidFill>
                  <a:srgbClr val="102B46"/>
                </a:solidFill>
              </a:defRPr>
            </a:lvl7pPr>
            <a:lvl8pPr>
              <a:defRPr sz="1725" b="0">
                <a:solidFill>
                  <a:srgbClr val="102B46"/>
                </a:solidFill>
              </a:defRPr>
            </a:lvl8pPr>
            <a:lvl9pPr>
              <a:defRPr sz="1725" b="0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102B46"/>
                </a:solidFill>
              </a:defRPr>
            </a:pPr>
            <a:r>
              <a:rPr sz="1725" b="0">
                <a:solidFill>
                  <a:srgbClr val="102B46"/>
                </a:solidFill>
              </a:rPr>
              <a:t>ผล benchmark บอกความสามารถในชุดที่วัด • การรับรองคำถามทุกแบบต้องใช้หลักฐานเพิ่ม</a:t>
            </a:r>
          </a:p>
        </p:txBody>
      </p:sp>
    </p:spTree>
    <p:extLst>
      <p:ext uri="{BB962C8B-B14F-4D97-AF65-F5344CB8AC3E}">
        <p14:creationId xmlns:p14="http://schemas.microsoft.com/office/powerpoint/2010/main" val="1760084894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F3166C-9909-4064-9AFD-0A3BA9FF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6700"/>
            <a:ext cx="11201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850" b="1">
                <a:solidFill>
                  <a:srgbClr val="102B46"/>
                </a:solidFill>
              </a:defRPr>
            </a:defPPr>
            <a:lvl1pPr>
              <a:defRPr sz="2850" b="1">
                <a:solidFill>
                  <a:srgbClr val="102B46"/>
                </a:solidFill>
              </a:defRPr>
            </a:lvl1pPr>
            <a:lvl2pPr>
              <a:defRPr sz="2850" b="1">
                <a:solidFill>
                  <a:srgbClr val="102B46"/>
                </a:solidFill>
              </a:defRPr>
            </a:lvl2pPr>
            <a:lvl3pPr>
              <a:defRPr sz="2850" b="1">
                <a:solidFill>
                  <a:srgbClr val="102B46"/>
                </a:solidFill>
              </a:defRPr>
            </a:lvl3pPr>
            <a:lvl4pPr>
              <a:defRPr sz="2850" b="1">
                <a:solidFill>
                  <a:srgbClr val="102B46"/>
                </a:solidFill>
              </a:defRPr>
            </a:lvl4pPr>
            <a:lvl5pPr>
              <a:defRPr sz="2850" b="1">
                <a:solidFill>
                  <a:srgbClr val="102B46"/>
                </a:solidFill>
              </a:defRPr>
            </a:lvl5pPr>
            <a:lvl6pPr>
              <a:defRPr sz="2850" b="1">
                <a:solidFill>
                  <a:srgbClr val="102B46"/>
                </a:solidFill>
              </a:defRPr>
            </a:lvl6pPr>
            <a:lvl7pPr>
              <a:defRPr sz="2850" b="1">
                <a:solidFill>
                  <a:srgbClr val="102B46"/>
                </a:solidFill>
              </a:defRPr>
            </a:lvl7pPr>
            <a:lvl8pPr>
              <a:defRPr sz="2850" b="1">
                <a:solidFill>
                  <a:srgbClr val="102B46"/>
                </a:solidFill>
              </a:defRPr>
            </a:lvl8pPr>
            <a:lvl9pPr>
              <a:defRPr sz="2850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850" b="1">
                <a:solidFill>
                  <a:srgbClr val="102B46"/>
                </a:solidFill>
              </a:defRPr>
            </a:pPr>
            <a:r>
              <a:rPr sz="2850" b="1">
                <a:solidFill>
                  <a:srgbClr val="102B46"/>
                </a:solidFill>
              </a:rPr>
              <a:t>การสาธิตและการนำไปพัฒนาต่อ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DE4F8-ABEA-4977-B92D-F0902ECC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62025"/>
            <a:ext cx="111633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00" b="0">
                <a:solidFill>
                  <a:srgbClr val="4D6577"/>
                </a:solidFill>
              </a:defRPr>
            </a:defPPr>
            <a:lvl1pPr>
              <a:defRPr sz="1800" b="0">
                <a:solidFill>
                  <a:srgbClr val="4D6577"/>
                </a:solidFill>
              </a:defRPr>
            </a:lvl1pPr>
            <a:lvl2pPr>
              <a:defRPr sz="1800" b="0">
                <a:solidFill>
                  <a:srgbClr val="4D6577"/>
                </a:solidFill>
              </a:defRPr>
            </a:lvl2pPr>
            <a:lvl3pPr>
              <a:defRPr sz="1800" b="0">
                <a:solidFill>
                  <a:srgbClr val="4D6577"/>
                </a:solidFill>
              </a:defRPr>
            </a:lvl3pPr>
            <a:lvl4pPr>
              <a:defRPr sz="1800" b="0">
                <a:solidFill>
                  <a:srgbClr val="4D6577"/>
                </a:solidFill>
              </a:defRPr>
            </a:lvl4pPr>
            <a:lvl5pPr>
              <a:defRPr sz="1800" b="0">
                <a:solidFill>
                  <a:srgbClr val="4D6577"/>
                </a:solidFill>
              </a:defRPr>
            </a:lvl5pPr>
            <a:lvl6pPr>
              <a:defRPr sz="1800" b="0">
                <a:solidFill>
                  <a:srgbClr val="4D6577"/>
                </a:solidFill>
              </a:defRPr>
            </a:lvl6pPr>
            <a:lvl7pPr>
              <a:defRPr sz="1800" b="0">
                <a:solidFill>
                  <a:srgbClr val="4D6577"/>
                </a:solidFill>
              </a:defRPr>
            </a:lvl7pPr>
            <a:lvl8pPr>
              <a:defRPr sz="1800" b="0">
                <a:solidFill>
                  <a:srgbClr val="4D6577"/>
                </a:solidFill>
              </a:defRPr>
            </a:lvl8pPr>
            <a:lvl9pPr>
              <a:defRPr sz="18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4D6577"/>
                </a:solidFill>
              </a:defRPr>
            </a:pPr>
            <a:r>
              <a:rPr sz="1800" b="0">
                <a:solidFill>
                  <a:srgbClr val="4D6577"/>
                </a:solidFill>
              </a:rPr>
              <a:t>Source code และหลักฐานการวัดผลอยู่บน GitHub public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3693B6-FAB8-456B-AA13-EBE43A36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24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500" b="0">
                <a:solidFill>
                  <a:srgbClr val="4D6577"/>
                </a:solidFill>
              </a:defRPr>
            </a:defPPr>
            <a:lvl1pPr>
              <a:defRPr sz="1500" b="0">
                <a:solidFill>
                  <a:srgbClr val="4D6577"/>
                </a:solidFill>
              </a:defRPr>
            </a:lvl1pPr>
            <a:lvl2pPr>
              <a:defRPr sz="1500" b="0">
                <a:solidFill>
                  <a:srgbClr val="4D6577"/>
                </a:solidFill>
              </a:defRPr>
            </a:lvl2pPr>
            <a:lvl3pPr>
              <a:defRPr sz="1500" b="0">
                <a:solidFill>
                  <a:srgbClr val="4D6577"/>
                </a:solidFill>
              </a:defRPr>
            </a:lvl3pPr>
            <a:lvl4pPr>
              <a:defRPr sz="1500" b="0">
                <a:solidFill>
                  <a:srgbClr val="4D6577"/>
                </a:solidFill>
              </a:defRPr>
            </a:lvl4pPr>
            <a:lvl5pPr>
              <a:defRPr sz="1500" b="0">
                <a:solidFill>
                  <a:srgbClr val="4D6577"/>
                </a:solidFill>
              </a:defRPr>
            </a:lvl5pPr>
            <a:lvl6pPr>
              <a:defRPr sz="1500" b="0">
                <a:solidFill>
                  <a:srgbClr val="4D6577"/>
                </a:solidFill>
              </a:defRPr>
            </a:lvl6pPr>
            <a:lvl7pPr>
              <a:defRPr sz="1500" b="0">
                <a:solidFill>
                  <a:srgbClr val="4D6577"/>
                </a:solidFill>
              </a:defRPr>
            </a:lvl7pPr>
            <a:lvl8pPr>
              <a:defRPr sz="1500" b="0">
                <a:solidFill>
                  <a:srgbClr val="4D6577"/>
                </a:solidFill>
              </a:defRPr>
            </a:lvl8pPr>
            <a:lvl9pPr>
              <a:defRPr sz="1500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4D6577"/>
                </a:solidFill>
              </a:defRPr>
            </a:pPr>
            <a:r>
              <a:rPr sz="1500" b="0">
                <a:solidFill>
                  <a:srgbClr val="4D6577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F7A70-E215-4880-A35C-CF252190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0DD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เปิด Docker stack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สร้างข้อมูลบน HDFS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28FFD-A8CE-4D63-96FE-89C025CC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23050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5A8E1F-5877-42CD-81AD-F52358AC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3F0FF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เปิด Web app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ถามพร้อมช่วงเวลา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B93DD-8F20-4B04-942A-36504B93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305050"/>
            <a:ext cx="342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37C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3BD92-D7AD-40F6-B1F7-C4E1197E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95475"/>
            <a:ext cx="33147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DDF5EC"/>
          </a:solidFill>
          <a:ln xmlns:a="http://schemas.openxmlformats.org/drawingml/2006/main" w="9525">
            <a:solidFill>
              <a:srgbClr val="BCD1DC"/>
            </a:solidFill>
          </a:ln>
        </p:spPr>
        <p:txBody>
          <a:bodyPr xmlns:a="http://schemas.openxmlformats.org/drawingml/2006/main" anchor="ctr"/>
          <a:lstStyle xmlns:a="http://schemas.openxmlformats.org/drawingml/2006/main">
            <a:defPPr algn="ctr">
              <a:defRPr sz="1875">
                <a:solidFill>
                  <a:srgbClr val="102B46"/>
                </a:solidFill>
              </a:defRPr>
            </a:defPPr>
            <a:lvl1pPr algn="ctr">
              <a:defRPr sz="1875">
                <a:solidFill>
                  <a:srgbClr val="102B46"/>
                </a:solidFill>
              </a:defRPr>
            </a:lvl1pPr>
            <a:lvl2pPr algn="ctr">
              <a:defRPr sz="1875">
                <a:solidFill>
                  <a:srgbClr val="102B46"/>
                </a:solidFill>
              </a:defRPr>
            </a:lvl2pPr>
            <a:lvl3pPr algn="ctr">
              <a:defRPr sz="1875">
                <a:solidFill>
                  <a:srgbClr val="102B46"/>
                </a:solidFill>
              </a:defRPr>
            </a:lvl3pPr>
            <a:lvl4pPr algn="ctr">
              <a:defRPr sz="1875">
                <a:solidFill>
                  <a:srgbClr val="102B46"/>
                </a:solidFill>
              </a:defRPr>
            </a:lvl4pPr>
            <a:lvl5pPr algn="ctr">
              <a:defRPr sz="1875">
                <a:solidFill>
                  <a:srgbClr val="102B46"/>
                </a:solidFill>
              </a:defRPr>
            </a:lvl5pPr>
            <a:lvl6pPr algn="ctr">
              <a:defRPr sz="1875">
                <a:solidFill>
                  <a:srgbClr val="102B46"/>
                </a:solidFill>
              </a:defRPr>
            </a:lvl6pPr>
            <a:lvl7pPr algn="ctr">
              <a:defRPr sz="1875">
                <a:solidFill>
                  <a:srgbClr val="102B46"/>
                </a:solidFill>
              </a:defRPr>
            </a:lvl7pPr>
            <a:lvl8pPr algn="ctr">
              <a:defRPr sz="1875">
                <a:solidFill>
                  <a:srgbClr val="102B46"/>
                </a:solidFill>
              </a:defRPr>
            </a:lvl8pPr>
            <a:lvl9pPr algn="ctr">
              <a:defRPr sz="1875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ตรวจผล</a:t>
            </a:r>
          </a:p>
          <a:p xmlns:a="http://schemas.openxmlformats.org/drawingml/2006/main">
            <a:pPr algn="ctr">
              <a:defRPr sz="1875">
                <a:solidFill>
                  <a:srgbClr val="102B46"/>
                </a:solidFill>
              </a:defRPr>
            </a:pPr>
            <a:r>
              <a:rPr sz="1875">
                <a:solidFill>
                  <a:srgbClr val="102B46"/>
                </a:solidFill>
              </a:rPr>
              <a:t>SQL / evidence / trace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8FA66-8F29-472A-8618-B02D864C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814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775" b="1">
                <a:solidFill>
                  <a:srgbClr val="102B46"/>
                </a:solidFill>
              </a:defRPr>
            </a:defPPr>
            <a:lvl1pPr>
              <a:defRPr sz="2775" b="1">
                <a:solidFill>
                  <a:srgbClr val="102B46"/>
                </a:solidFill>
              </a:defRPr>
            </a:lvl1pPr>
            <a:lvl2pPr>
              <a:defRPr sz="2775" b="1">
                <a:solidFill>
                  <a:srgbClr val="102B46"/>
                </a:solidFill>
              </a:defRPr>
            </a:lvl2pPr>
            <a:lvl3pPr>
              <a:defRPr sz="2775" b="1">
                <a:solidFill>
                  <a:srgbClr val="102B46"/>
                </a:solidFill>
              </a:defRPr>
            </a:lvl3pPr>
            <a:lvl4pPr>
              <a:defRPr sz="2775" b="1">
                <a:solidFill>
                  <a:srgbClr val="102B46"/>
                </a:solidFill>
              </a:defRPr>
            </a:lvl4pPr>
            <a:lvl5pPr>
              <a:defRPr sz="2775" b="1">
                <a:solidFill>
                  <a:srgbClr val="102B46"/>
                </a:solidFill>
              </a:defRPr>
            </a:lvl5pPr>
            <a:lvl6pPr>
              <a:defRPr sz="2775" b="1">
                <a:solidFill>
                  <a:srgbClr val="102B46"/>
                </a:solidFill>
              </a:defRPr>
            </a:lvl6pPr>
            <a:lvl7pPr>
              <a:defRPr sz="2775" b="1">
                <a:solidFill>
                  <a:srgbClr val="102B46"/>
                </a:solidFill>
              </a:defRPr>
            </a:lvl7pPr>
            <a:lvl8pPr>
              <a:defRPr sz="2775" b="1">
                <a:solidFill>
                  <a:srgbClr val="102B46"/>
                </a:solidFill>
              </a:defRPr>
            </a:lvl8pPr>
            <a:lvl9pPr>
              <a:defRPr sz="2775" b="1">
                <a:solidFill>
                  <a:srgbClr val="102B46"/>
                </a:solidFill>
              </a:defRPr>
            </a:lvl9pPr>
          </a:lstStyle>
          <a:p xmlns:a="http://schemas.openxmlformats.org/drawingml/2006/main">
            <a:pPr>
              <a:defRPr sz="2775" b="1">
                <a:solidFill>
                  <a:srgbClr val="102B46"/>
                </a:solidFill>
              </a:defRPr>
            </a:pPr>
            <a:r>
              <a:rPr sz="2775" b="1">
                <a:solidFill>
                  <a:srgbClr val="102B46"/>
                </a:solidFill>
              </a:rPr>
              <a:t>customer-intelligence-agent-spark-hdfs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F7789-0A24-49D6-8D62-12B3130C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43425"/>
            <a:ext cx="1095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4D6577"/>
                </a:solidFill>
              </a:defRPr>
            </a:defPPr>
            <a:lvl1pPr>
              <a:defRPr sz="2025" b="0">
                <a:solidFill>
                  <a:srgbClr val="4D6577"/>
                </a:solidFill>
              </a:defRPr>
            </a:lvl1pPr>
            <a:lvl2pPr>
              <a:defRPr sz="2025" b="0">
                <a:solidFill>
                  <a:srgbClr val="4D6577"/>
                </a:solidFill>
              </a:defRPr>
            </a:lvl2pPr>
            <a:lvl3pPr>
              <a:defRPr sz="2025" b="0">
                <a:solidFill>
                  <a:srgbClr val="4D6577"/>
                </a:solidFill>
              </a:defRPr>
            </a:lvl3pPr>
            <a:lvl4pPr>
              <a:defRPr sz="2025" b="0">
                <a:solidFill>
                  <a:srgbClr val="4D6577"/>
                </a:solidFill>
              </a:defRPr>
            </a:lvl4pPr>
            <a:lvl5pPr>
              <a:defRPr sz="2025" b="0">
                <a:solidFill>
                  <a:srgbClr val="4D6577"/>
                </a:solidFill>
              </a:defRPr>
            </a:lvl5pPr>
            <a:lvl6pPr>
              <a:defRPr sz="2025" b="0">
                <a:solidFill>
                  <a:srgbClr val="4D6577"/>
                </a:solidFill>
              </a:defRPr>
            </a:lvl6pPr>
            <a:lvl7pPr>
              <a:defRPr sz="2025" b="0">
                <a:solidFill>
                  <a:srgbClr val="4D6577"/>
                </a:solidFill>
              </a:defRPr>
            </a:lvl7pPr>
            <a:lvl8pPr>
              <a:defRPr sz="2025" b="0">
                <a:solidFill>
                  <a:srgbClr val="4D6577"/>
                </a:solidFill>
              </a:defRPr>
            </a:lvl8pPr>
            <a:lvl9pPr>
              <a:defRPr sz="20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4D6577"/>
                </a:solidFill>
              </a:defRPr>
            </a:pPr>
            <a:r>
              <a:rPr sz="2025" b="0">
                <a:solidFill>
                  <a:srgbClr val="4D6577"/>
                </a:solidFill>
              </a:rPr>
              <a:t>github.com/NATTAPAT-LEUNGRUNGSAP/</a:t>
            </a:r>
          </a:p>
          <a:p xmlns:a="http://schemas.openxmlformats.org/drawingml/2006/main">
            <a:pPr>
              <a:defRPr sz="2025" b="0">
                <a:solidFill>
                  <a:srgbClr val="4D6577"/>
                </a:solidFill>
              </a:defRPr>
            </a:pPr>
            <a:r>
              <a:rPr sz="2025" b="0">
                <a:solidFill>
                  <a:srgbClr val="4D6577"/>
                </a:solidFill>
              </a:rPr>
              <a:t>customer-intelligence-agent-spark-hdfs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89ADC-8B6F-4491-BE72-8FBFB95C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81675"/>
            <a:ext cx="1104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4D6577"/>
                </a:solidFill>
              </a:defRPr>
            </a:defPPr>
            <a:lvl1pPr>
              <a:defRPr sz="1725" b="0">
                <a:solidFill>
                  <a:srgbClr val="4D6577"/>
                </a:solidFill>
              </a:defRPr>
            </a:lvl1pPr>
            <a:lvl2pPr>
              <a:defRPr sz="1725" b="0">
                <a:solidFill>
                  <a:srgbClr val="4D6577"/>
                </a:solidFill>
              </a:defRPr>
            </a:lvl2pPr>
            <a:lvl3pPr>
              <a:defRPr sz="1725" b="0">
                <a:solidFill>
                  <a:srgbClr val="4D6577"/>
                </a:solidFill>
              </a:defRPr>
            </a:lvl3pPr>
            <a:lvl4pPr>
              <a:defRPr sz="1725" b="0">
                <a:solidFill>
                  <a:srgbClr val="4D6577"/>
                </a:solidFill>
              </a:defRPr>
            </a:lvl4pPr>
            <a:lvl5pPr>
              <a:defRPr sz="1725" b="0">
                <a:solidFill>
                  <a:srgbClr val="4D6577"/>
                </a:solidFill>
              </a:defRPr>
            </a:lvl5pPr>
            <a:lvl6pPr>
              <a:defRPr sz="1725" b="0">
                <a:solidFill>
                  <a:srgbClr val="4D6577"/>
                </a:solidFill>
              </a:defRPr>
            </a:lvl6pPr>
            <a:lvl7pPr>
              <a:defRPr sz="1725" b="0">
                <a:solidFill>
                  <a:srgbClr val="4D6577"/>
                </a:solidFill>
              </a:defRPr>
            </a:lvl7pPr>
            <a:lvl8pPr>
              <a:defRPr sz="1725" b="0">
                <a:solidFill>
                  <a:srgbClr val="4D6577"/>
                </a:solidFill>
              </a:defRPr>
            </a:lvl8pPr>
            <a:lvl9pPr>
              <a:defRPr sz="1725" b="0">
                <a:solidFill>
                  <a:srgbClr val="4D6577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4D6577"/>
                </a:solidFill>
              </a:defRPr>
            </a:pPr>
            <a:r>
              <a:rPr sz="1725" b="0">
                <a:solidFill>
                  <a:srgbClr val="4D6577"/>
                </a:solidFill>
              </a:rPr>
              <a:t>Repository เก็บ source, setup, tests และรายงาน • Web app รันบนเครื่องที่เปิด stack</a:t>
            </a:r>
          </a:p>
        </p:txBody>
      </p:sp>
    </p:spTree>
    <p:extLst>
      <p:ext uri="{BB962C8B-B14F-4D97-AF65-F5344CB8AC3E}">
        <p14:creationId xmlns:p14="http://schemas.microsoft.com/office/powerpoint/2010/main" val="1274805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2026-10-26T14:57:55.1180000Z</dcterms:created>
  <dcterms:modified xsi:type="dcterms:W3CDTF">2026-10-26T14:57:55.1180000Z</dcterms:modified>
</coreProperties>
</file>