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0409c70df4a0e" /><Relationship Type="http://schemas.openxmlformats.org/officeDocument/2006/relationships/extended-properties" Target="/docProps/app.xml" Id="R7ef95dfb77074947" /><Relationship Type="http://schemas.openxmlformats.org/officeDocument/2006/relationships/officeDocument" Target="/ppt/presentation.xml" Id="Rcf4de93529f5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e1d0895a15433c"/>
  </p:sldMasterIdLst>
  <p:notesMasterIdLst>
    <p:notesMasterId xmlns:r="http://schemas.openxmlformats.org/officeDocument/2006/relationships" r:id="R99074db6cf7a4c2a"/>
  </p:notesMasterIdLst>
  <p:sldIdLst>
    <p:sldId xmlns:r="http://schemas.openxmlformats.org/officeDocument/2006/relationships" id="256" r:id="R368b7ccbed544e47"/>
    <p:sldId xmlns:r="http://schemas.openxmlformats.org/officeDocument/2006/relationships" id="257" r:id="R19d12520a14843ff"/>
    <p:sldId xmlns:r="http://schemas.openxmlformats.org/officeDocument/2006/relationships" id="258" r:id="Red7dc9e8b5b44e35"/>
    <p:sldId xmlns:r="http://schemas.openxmlformats.org/officeDocument/2006/relationships" id="259" r:id="R7b847aad25954bff"/>
    <p:sldId xmlns:r="http://schemas.openxmlformats.org/officeDocument/2006/relationships" id="260" r:id="R8503d3cec21e4a9d"/>
    <p:sldId xmlns:r="http://schemas.openxmlformats.org/officeDocument/2006/relationships" id="261" r:id="Rda06352879c0433b"/>
    <p:sldId xmlns:r="http://schemas.openxmlformats.org/officeDocument/2006/relationships" id="262" r:id="Rac15f5952b704698"/>
    <p:sldId xmlns:r="http://schemas.openxmlformats.org/officeDocument/2006/relationships" id="263" r:id="R0e07598920294299"/>
    <p:sldId xmlns:r="http://schemas.openxmlformats.org/officeDocument/2006/relationships" id="264" r:id="Ra8cf264ecc70426e"/>
    <p:sldId xmlns:r="http://schemas.openxmlformats.org/officeDocument/2006/relationships" id="265" r:id="R98cb9dbe37004902"/>
    <p:sldId xmlns:r="http://schemas.openxmlformats.org/officeDocument/2006/relationships" id="266" r:id="Rc19c785761e24ca7"/>
    <p:sldId xmlns:r="http://schemas.openxmlformats.org/officeDocument/2006/relationships" id="267" r:id="R819b24b4ec4d4469"/>
    <p:sldId xmlns:r="http://schemas.openxmlformats.org/officeDocument/2006/relationships" id="268" r:id="R6ee5517be8b641bc"/>
    <p:sldId xmlns:r="http://schemas.openxmlformats.org/officeDocument/2006/relationships" id="269" r:id="R625aad878e004570"/>
    <p:sldId xmlns:r="http://schemas.openxmlformats.org/officeDocument/2006/relationships" id="270" r:id="Re304a16d95164992"/>
    <p:sldId xmlns:r="http://schemas.openxmlformats.org/officeDocument/2006/relationships" id="271" r:id="Raa4682a8512a45d7"/>
    <p:sldId xmlns:r="http://schemas.openxmlformats.org/officeDocument/2006/relationships" id="272" r:id="R6500a3d8ad8a4916"/>
    <p:sldId xmlns:r="http://schemas.openxmlformats.org/officeDocument/2006/relationships" id="273" r:id="R75fbc379bd2541a4"/>
    <p:sldId xmlns:r="http://schemas.openxmlformats.org/officeDocument/2006/relationships" id="274" r:id="R3f0715166958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dff2f5db574c81" /><Relationship Type="http://schemas.openxmlformats.org/officeDocument/2006/relationships/slideMaster" Target="/ppt/slideMasters/slideMaster1.xml" Id="Re8e1d0895a15433c" /><Relationship Type="http://schemas.openxmlformats.org/officeDocument/2006/relationships/notesMaster" Target="/ppt/notesMasters/notesMaster1.xml" Id="R99074db6cf7a4c2a" /><Relationship Type="http://schemas.openxmlformats.org/officeDocument/2006/relationships/presProps" Target="/ppt/presProps.xml" Id="Rda4837d3a026417e" /><Relationship Type="http://schemas.openxmlformats.org/officeDocument/2006/relationships/tableStyles" Target="/ppt/tableStyles.xml" Id="Rdae0e8bb6cf9445f" /><Relationship Type="http://schemas.openxmlformats.org/officeDocument/2006/relationships/slide" Target="/ppt/slides/slide1.xml" Id="R368b7ccbed544e47" /><Relationship Type="http://schemas.openxmlformats.org/officeDocument/2006/relationships/slide" Target="/ppt/slides/slide2.xml" Id="R19d12520a14843ff" /><Relationship Type="http://schemas.openxmlformats.org/officeDocument/2006/relationships/slide" Target="/ppt/slides/slide3.xml" Id="Red7dc9e8b5b44e35" /><Relationship Type="http://schemas.openxmlformats.org/officeDocument/2006/relationships/slide" Target="/ppt/slides/slide4.xml" Id="R7b847aad25954bff" /><Relationship Type="http://schemas.openxmlformats.org/officeDocument/2006/relationships/slide" Target="/ppt/slides/slide5.xml" Id="R8503d3cec21e4a9d" /><Relationship Type="http://schemas.openxmlformats.org/officeDocument/2006/relationships/slide" Target="/ppt/slides/slide6.xml" Id="Rda06352879c0433b" /><Relationship Type="http://schemas.openxmlformats.org/officeDocument/2006/relationships/slide" Target="/ppt/slides/slide7.xml" Id="Rac15f5952b704698" /><Relationship Type="http://schemas.openxmlformats.org/officeDocument/2006/relationships/slide" Target="/ppt/slides/slide8.xml" Id="R0e07598920294299" /><Relationship Type="http://schemas.openxmlformats.org/officeDocument/2006/relationships/slide" Target="/ppt/slides/slide9.xml" Id="Ra8cf264ecc70426e" /><Relationship Type="http://schemas.openxmlformats.org/officeDocument/2006/relationships/slide" Target="/ppt/slides/slide10.xml" Id="R98cb9dbe37004902" /><Relationship Type="http://schemas.openxmlformats.org/officeDocument/2006/relationships/slide" Target="/ppt/slides/slide11.xml" Id="Rc19c785761e24ca7" /><Relationship Type="http://schemas.openxmlformats.org/officeDocument/2006/relationships/slide" Target="/ppt/slides/slide12.xml" Id="R819b24b4ec4d4469" /><Relationship Type="http://schemas.openxmlformats.org/officeDocument/2006/relationships/slide" Target="/ppt/slides/slide13.xml" Id="R6ee5517be8b641bc" /><Relationship Type="http://schemas.openxmlformats.org/officeDocument/2006/relationships/slide" Target="/ppt/slides/slide14.xml" Id="R625aad878e004570" /><Relationship Type="http://schemas.openxmlformats.org/officeDocument/2006/relationships/slide" Target="/ppt/slides/slide15.xml" Id="Re304a16d95164992" /><Relationship Type="http://schemas.openxmlformats.org/officeDocument/2006/relationships/slide" Target="/ppt/slides/slide16.xml" Id="Raa4682a8512a45d7" /><Relationship Type="http://schemas.openxmlformats.org/officeDocument/2006/relationships/slide" Target="/ppt/slides/slide17.xml" Id="R6500a3d8ad8a4916" /><Relationship Type="http://schemas.openxmlformats.org/officeDocument/2006/relationships/slide" Target="/ppt/slides/slide18.xml" Id="R75fbc379bd2541a4" /><Relationship Type="http://schemas.openxmlformats.org/officeDocument/2006/relationships/slide" Target="/ppt/slides/slide19.xml" Id="R3f0715166958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ea281b9a14b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ba63be369461e" /><Relationship Type="http://schemas.openxmlformats.org/officeDocument/2006/relationships/notesMaster" Target="/ppt/notesMasters/notesMaster1.xml" Id="R1abab58509a445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6f7cba5aa4533" /><Relationship Type="http://schemas.openxmlformats.org/officeDocument/2006/relationships/notesMaster" Target="/ppt/notesMasters/notesMaster1.xml" Id="R3d62636ded5f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cce86c9564b5d" /><Relationship Type="http://schemas.openxmlformats.org/officeDocument/2006/relationships/notesMaster" Target="/ppt/notesMasters/notesMaster1.xml" Id="Raddfbb4bc4ba4a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6b12e79869454b" /><Relationship Type="http://schemas.openxmlformats.org/officeDocument/2006/relationships/notesMaster" Target="/ppt/notesMasters/notesMaster1.xml" Id="Re6cfaba8b3cd49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a062896e1e4c99" /><Relationship Type="http://schemas.openxmlformats.org/officeDocument/2006/relationships/notesMaster" Target="/ppt/notesMasters/notesMaster1.xml" Id="R504b10689bee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b764732b174430" /><Relationship Type="http://schemas.openxmlformats.org/officeDocument/2006/relationships/notesMaster" Target="/ppt/notesMasters/notesMaster1.xml" Id="Rc041236f56e04e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d0fe8fec7b46e4" /><Relationship Type="http://schemas.openxmlformats.org/officeDocument/2006/relationships/notesMaster" Target="/ppt/notesMasters/notesMaster1.xml" Id="R7cb877464e69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a44af0cc9648a7" /><Relationship Type="http://schemas.openxmlformats.org/officeDocument/2006/relationships/notesMaster" Target="/ppt/notesMasters/notesMaster1.xml" Id="Re1bae7ee51a94c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f5ea88ca3a4e6c" /><Relationship Type="http://schemas.openxmlformats.org/officeDocument/2006/relationships/notesMaster" Target="/ppt/notesMasters/notesMaster1.xml" Id="R4d98f71a78a24a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9cc203173f48f5" /><Relationship Type="http://schemas.openxmlformats.org/officeDocument/2006/relationships/notesMaster" Target="/ppt/notesMasters/notesMaster1.xml" Id="R688e594786b645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5ff9bbaf464559" /><Relationship Type="http://schemas.openxmlformats.org/officeDocument/2006/relationships/notesMaster" Target="/ppt/notesMasters/notesMaster1.xml" Id="Re8c6986f551842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bca3d0eeb74948" /><Relationship Type="http://schemas.openxmlformats.org/officeDocument/2006/relationships/notesMaster" Target="/ppt/notesMasters/notesMaster1.xml" Id="Re3af4bd25bde41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ae9514b5104d3e" /><Relationship Type="http://schemas.openxmlformats.org/officeDocument/2006/relationships/notesMaster" Target="/ppt/notesMasters/notesMaster1.xml" Id="R41798b1548f84c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ddfee9c1f242d5" /><Relationship Type="http://schemas.openxmlformats.org/officeDocument/2006/relationships/notesMaster" Target="/ppt/notesMasters/notesMaster1.xml" Id="R36830f57e5a746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7417e838e8476f" /><Relationship Type="http://schemas.openxmlformats.org/officeDocument/2006/relationships/notesMaster" Target="/ppt/notesMasters/notesMaster1.xml" Id="R495ed5feeacd42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768cbeba034919" /><Relationship Type="http://schemas.openxmlformats.org/officeDocument/2006/relationships/notesMaster" Target="/ppt/notesMasters/notesMaster1.xml" Id="Rcf2a49bd451940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a40171cc7448dc" /><Relationship Type="http://schemas.openxmlformats.org/officeDocument/2006/relationships/notesMaster" Target="/ppt/notesMasters/notesMaster1.xml" Id="R572a18d8d7cf42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787dcacd19400b" /><Relationship Type="http://schemas.openxmlformats.org/officeDocument/2006/relationships/notesMaster" Target="/ppt/notesMasters/notesMaster1.xml" Id="R84702bfbd89643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2a829e7443470d" /><Relationship Type="http://schemas.openxmlformats.org/officeDocument/2006/relationships/notesMaster" Target="/ppt/notesMasters/notesMaster1.xml" Id="R5ce11b73774a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b7b371ef542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4e3b200f74d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ee9b54edb45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d9f8a067142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a8f7b6ec940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cd5974cbf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e7d91fd564446" /><Relationship Type="http://schemas.openxmlformats.org/officeDocument/2006/relationships/slideLayout" Target="/ppt/slideLayouts/slideLayout1.xml" Id="Rc99163ce70064103" /><Relationship Type="http://schemas.openxmlformats.org/officeDocument/2006/relationships/slideLayout" Target="/ppt/slideLayouts/slideLayout2.xml" Id="Rb4388b004bce4503" /><Relationship Type="http://schemas.openxmlformats.org/officeDocument/2006/relationships/slideLayout" Target="/ppt/slideLayouts/slideLayout3.xml" Id="R9c478ac3fc894be8" /><Relationship Type="http://schemas.openxmlformats.org/officeDocument/2006/relationships/slideLayout" Target="/ppt/slideLayouts/slideLayout4.xml" Id="Rc31c76f42719406a" /><Relationship Type="http://schemas.openxmlformats.org/officeDocument/2006/relationships/slideLayout" Target="/ppt/slideLayouts/slideLayout5.xml" Id="R7639a28998e14538" /><Relationship Type="http://schemas.openxmlformats.org/officeDocument/2006/relationships/slideLayout" Target="/ppt/slideLayouts/slideLayout6.xml" Id="R246cd0a1fbb249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9163ce70064103"/>
    <p:sldLayoutId xmlns:r="http://schemas.openxmlformats.org/officeDocument/2006/relationships" id="2147483650" r:id="Rb4388b004bce4503"/>
    <p:sldLayoutId xmlns:r="http://schemas.openxmlformats.org/officeDocument/2006/relationships" id="2147483651" r:id="R9c478ac3fc894be8"/>
    <p:sldLayoutId xmlns:r="http://schemas.openxmlformats.org/officeDocument/2006/relationships" id="2147483652" r:id="Rc31c76f42719406a"/>
    <p:sldLayoutId xmlns:r="http://schemas.openxmlformats.org/officeDocument/2006/relationships" id="2147483653" r:id="R7639a28998e14538"/>
    <p:sldLayoutId xmlns:r="http://schemas.openxmlformats.org/officeDocument/2006/relationships" id="2147483654" r:id="R246cd0a1fbb249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c298b0b874956" /><Relationship Type="http://schemas.openxmlformats.org/officeDocument/2006/relationships/notesSlide" Target="/ppt/notesSlides/notesSlide1.xml" Id="R297eeb85144549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eaa17d5bc4e5e" /><Relationship Type="http://schemas.openxmlformats.org/officeDocument/2006/relationships/notesSlide" Target="/ppt/notesSlides/notesSlide2.xml" Id="Rc5a5f3a01325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da7d5db504c7e" /><Relationship Type="http://schemas.openxmlformats.org/officeDocument/2006/relationships/notesSlide" Target="/ppt/notesSlides/notesSlide3.xml" Id="Rb0d110081690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98158c51b4128" /><Relationship Type="http://schemas.openxmlformats.org/officeDocument/2006/relationships/notesSlide" Target="/ppt/notesSlides/notesSlide4.xml" Id="Rdf783df2f5d4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16d5a386f4312" /><Relationship Type="http://schemas.openxmlformats.org/officeDocument/2006/relationships/notesSlide" Target="/ppt/notesSlides/notesSlide5.xml" Id="R99e3e9df7e86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0837258ca441d" /><Relationship Type="http://schemas.openxmlformats.org/officeDocument/2006/relationships/notesSlide" Target="/ppt/notesSlides/notesSlide6.xml" Id="R4904dad7b84c48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d4c38b4a9452c" /><Relationship Type="http://schemas.openxmlformats.org/officeDocument/2006/relationships/notesSlide" Target="/ppt/notesSlides/notesSlide7.xml" Id="R83d8847b5dca42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c5881d77846d4" /><Relationship Type="http://schemas.openxmlformats.org/officeDocument/2006/relationships/notesSlide" Target="/ppt/notesSlides/notesSlide8.xml" Id="R2bbfdf600019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bb31c85fe4a12" /><Relationship Type="http://schemas.openxmlformats.org/officeDocument/2006/relationships/notesSlide" Target="/ppt/notesSlides/notesSlide9.xml" Id="Rb8723e1ded5b4f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cab7aba674566" /><Relationship Type="http://schemas.openxmlformats.org/officeDocument/2006/relationships/notesSlide" Target="/ppt/notesSlides/notesSlide10.xml" Id="Rfc56ee6e8ff64a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f64b3b97249f7" /><Relationship Type="http://schemas.openxmlformats.org/officeDocument/2006/relationships/notesSlide" Target="/ppt/notesSlides/notesSlide11.xml" Id="R393051d8c372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3e862b00040d5" /><Relationship Type="http://schemas.openxmlformats.org/officeDocument/2006/relationships/notesSlide" Target="/ppt/notesSlides/notesSlide12.xml" Id="Rd90934e88eed42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41859fb924067" /><Relationship Type="http://schemas.openxmlformats.org/officeDocument/2006/relationships/notesSlide" Target="/ppt/notesSlides/notesSlide13.xml" Id="Rf8c676b2de3e44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894a44bc44e73" /><Relationship Type="http://schemas.openxmlformats.org/officeDocument/2006/relationships/notesSlide" Target="/ppt/notesSlides/notesSlide14.xml" Id="R869e9ae6b6f845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a6d5ca74c4297" /><Relationship Type="http://schemas.openxmlformats.org/officeDocument/2006/relationships/notesSlide" Target="/ppt/notesSlides/notesSlide15.xml" Id="Rb9cd6b789e8345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86f99812c4dbc" /><Relationship Type="http://schemas.openxmlformats.org/officeDocument/2006/relationships/notesSlide" Target="/ppt/notesSlides/notesSlide16.xml" Id="Rd40b4bf30acf4e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bd2ab9176416d" /><Relationship Type="http://schemas.openxmlformats.org/officeDocument/2006/relationships/notesSlide" Target="/ppt/notesSlides/notesSlide17.xml" Id="Ree1ff8880b0242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cd81315b94ebf" /><Relationship Type="http://schemas.openxmlformats.org/officeDocument/2006/relationships/notesSlide" Target="/ppt/notesSlides/notesSlide18.xml" Id="R63e81e34f42241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dcdadb5824e0a" /><Relationship Type="http://schemas.openxmlformats.org/officeDocument/2006/relationships/notesSlide" Target="/ppt/notesSlides/notesSlide19.xml" Id="R1945164374ad4d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EB0B-A853-4DDA-9EA4-749D242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Customer Intelligence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87C82-D824-48B9-9043-7B7FF98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ถามข้อมูลยอดขายและลูกค้าด้วยภาษาธรรมชาติ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E7937-5BB4-4DF6-8892-6EC65D5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5CDA-BF7F-476F-AB48-BACC13C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102B46"/>
                </a:solidFill>
              </a:defRPr>
            </a:defPPr>
            <a:lvl1pPr>
              <a:defRPr sz="4350" b="1">
                <a:solidFill>
                  <a:srgbClr val="102B46"/>
                </a:solidFill>
              </a:defRPr>
            </a:lvl1pPr>
            <a:lvl2pPr>
              <a:defRPr sz="4350" b="1">
                <a:solidFill>
                  <a:srgbClr val="102B46"/>
                </a:solidFill>
              </a:defRPr>
            </a:lvl2pPr>
            <a:lvl3pPr>
              <a:defRPr sz="4350" b="1">
                <a:solidFill>
                  <a:srgbClr val="102B46"/>
                </a:solidFill>
              </a:defRPr>
            </a:lvl3pPr>
            <a:lvl4pPr>
              <a:defRPr sz="4350" b="1">
                <a:solidFill>
                  <a:srgbClr val="102B46"/>
                </a:solidFill>
              </a:defRPr>
            </a:lvl4pPr>
            <a:lvl5pPr>
              <a:defRPr sz="4350" b="1">
                <a:solidFill>
                  <a:srgbClr val="102B46"/>
                </a:solidFill>
              </a:defRPr>
            </a:lvl5pPr>
            <a:lvl6pPr>
              <a:defRPr sz="4350" b="1">
                <a:solidFill>
                  <a:srgbClr val="102B46"/>
                </a:solidFill>
              </a:defRPr>
            </a:lvl6pPr>
            <a:lvl7pPr>
              <a:defRPr sz="4350" b="1">
                <a:solidFill>
                  <a:srgbClr val="102B46"/>
                </a:solidFill>
              </a:defRPr>
            </a:lvl7pPr>
            <a:lvl8pPr>
              <a:defRPr sz="4350" b="1">
                <a:solidFill>
                  <a:srgbClr val="102B46"/>
                </a:solidFill>
              </a:defRPr>
            </a:lvl8pPr>
            <a:lvl9pPr>
              <a:defRPr sz="43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02B46"/>
                </a:solidFill>
              </a:defRPr>
            </a:pPr>
            <a:r>
              <a:rPr sz="4350" b="1">
                <a:solidFill>
                  <a:srgbClr val="102B46"/>
                </a:solidFill>
              </a:rPr>
              <a:t>Spark + HDFS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0F5C6-F011-4812-A03D-8B34D5C5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คำถามธุรกิจ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C840E-1D23-4F01-A1F4-2D0BBAC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69CA-8E41-4B16-AB10-5684940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หลักฐานและ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4F5F-9C71-4916-888A-BED72E0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5D813-01D7-477A-99EF-415353D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ผลจากข้อมูลจริง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2E0C8-A2C6-4A45-8D4A-4AF65C8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แสดง SQL หลักฐาน และ trace ให้ตรวจสอบคำตอบต่อได้</a:t>
            </a:r>
          </a:p>
        </p:txBody>
      </p:sp>
    </p:spTree>
    <p:extLst>
      <p:ext uri="{BB962C8B-B14F-4D97-AF65-F5344CB8AC3E}">
        <p14:creationId xmlns:p14="http://schemas.microsoft.com/office/powerpoint/2010/main" val="895952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EE62-B046-4395-87FE-D595C1DB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จากคำถามธุรกิจสู่คำตอบที่ตรวจสอบได้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704F-99C6-4A4D-8B76-8388663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ผู้ใช้ไม่ต้องเริ่มจากการเขียน SQL 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F75B-95B6-43D7-932A-D7371E2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46E8-578B-4AFC-86C8-8E4E60B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ผู้ใช้ถาม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“เดือน ต.ค. 2011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มี invoice กี่ใบ?”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AFD3-26B4-41C1-B12E-37A7AE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E12A-E976-4DE6-8347-02E01EE9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9547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Agent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ค้นนิยาม invoice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สร้างและตรวจ 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34F-A4B1-409F-8535-595206A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C980-BC66-4EAD-82FC-239C50C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Web application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ตารางผลลัพธ์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evidence +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83C5A-8331-42AD-A554-9D31C05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รองรับคำถามในนิยามข้อมูลที่เตรียมไว้ ยังไม่ได้วัดผลด้านเวลาทำงานของผู้ใช้หรือรายได้</a:t>
            </a:r>
          </a:p>
        </p:txBody>
      </p:sp>
    </p:spTree>
    <p:extLst>
      <p:ext uri="{BB962C8B-B14F-4D97-AF65-F5344CB8AC3E}">
        <p14:creationId xmlns:p14="http://schemas.microsoft.com/office/powerpoint/2010/main" val="313194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EBF97-7F2B-4764-868D-73D272F71940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334375" y="4438650"/>
            <a:ext cx="500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1D412-D1DB-4EFF-A1CE-384625BA1AF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238875" y="2314575"/>
            <a:ext cx="2095500" cy="1181100"/>
          </a:xfrm>
          <a:prstGeom xmlns:a="http://schemas.openxmlformats.org/drawingml/2006/main" prst="bentConnector4">
            <a:avLst>
              <a:gd name="adj1" fmla="val 10909"/>
              <a:gd name="adj2" fmla="val 80645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0F1CD-F38B-4B49-9F22-93D2F6D460DC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4881563" y="2828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9A945-DAE4-43F3-AF6C-9D0D8AFBF19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238875" y="23145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1A621-AFC9-4E6E-A786-89AFC0E3F1F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6225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7F065-129F-470A-B0CE-FECA00D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Architecture: เส้นทางคำถามและเส้นทางข้อมูล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388F3-10CC-4086-83C2-0894813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Custom Python single-agent harness เชื่อมโมเดลกับ Spark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21A8D-9625-4699-8B00-8CF1DADE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10CE4-7F93-483A-9325-4951916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22383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Python HTTP + 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01914-A10F-42AE-B070-B41A79E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Agent harness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RAG / policy / 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FAFAE-38DA-42FF-A2A8-D9EB826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0225"/>
            <a:ext cx="2476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Ollama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A2C58-B960-4922-A3F3-EFC3560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2714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knowledge/*.md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นิยาม / schema /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2DB4B-7901-4CE4-A47F-9E5FC22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95675"/>
            <a:ext cx="24765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Master + 2 workers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EF79B-2B4B-418E-BBEC-13E6114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3476625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NameNode + 2 DataNodes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9994A-C36D-42FF-BE0E-ACDB747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SQL หลังตรวจ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D2408-2D2E-4225-B9BF-7626C26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Docker บนเครื่องเดียว • HDFS replication 2 • การเชื่อม tool เป็น Python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253578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FC8F-544B-4C54-A49E-545C430947A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772650" y="2886075"/>
            <a:ext cx="1809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A290-1DF8-415D-A545-095081FA784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2886075"/>
            <a:ext cx="3676650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730-A1BA-4046-9D44-ED40DF8457A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86075"/>
            <a:ext cx="75342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9DCA-4FB9-40DB-BCDA-10036F1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Data pipeline: ข้อมูลดิบกลายเป็นตารางวิเคราะห์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85DC-42ED-4642-8BE5-F606878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UCI Online Retail II ข้อมูลธุรกรรมปี 2009–2011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794D-B947-4BE6-9CC3-B823F42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8EB70-6822-4D0C-BCFF-25CFFDE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ไฟล์ต้นทาง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B430-A723-4AA1-9D68-029AE58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A3F43-1BB1-4D89-853D-5C3F6D7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 ETL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แยกประเภทธุรกรรม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1A65-DE38-4A0C-B56D-6F6EE0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518E-F8E8-4C12-AEB2-2A8FAB0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Parquet บน 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จัดเก็บเป็นชุดข้อมูล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BFE5D-B655-4F3D-AE04-503D5F8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sales_lines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หนึ่งรายการสินค้าเดิม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4FAA-9E24-4471-8981-F8FC54B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orders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40,077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 completed-sale invoice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E07C-DE2B-4A13-BFA4-40F0F16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customer_summary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3,450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หนึ่งลูกค้าที่ระบุ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E7ED7-305A-4200-8483-786A2E2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Customer snapshot 2011-12-01 ใช้หน้าต่าง 180 วัน • grain ของตารางกำหนดวิธีนับ</a:t>
            </a:r>
          </a:p>
        </p:txBody>
      </p:sp>
    </p:spTree>
    <p:extLst>
      <p:ext uri="{BB962C8B-B14F-4D97-AF65-F5344CB8AC3E}">
        <p14:creationId xmlns:p14="http://schemas.microsoft.com/office/powerpoint/2010/main" val="640740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5ECA3-99E4-42DB-B905-B5BF23C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4 ชั้นที่ประกอบเป็น Agent ของโปรเจกต์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FDA1-B3B7-4242-A0FE-0DC5C19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แต่ละชั้นเพิ่มสิ่งที่ต้องควบคุมรอบโมเดล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22A2-0F36-4C12-AC77-D74F1DD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ED35-2689-45D5-9D24-2A85788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1 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0ABE-3AC4-45D7-B85A-8B5C2DC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บทบาท + กติกา + รูปแบบ JSON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กำหนดสิ่งที่โมเดลต้องสร้าง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E248-CD47-49F7-8A76-D6BC197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 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EAE7-4B4C-4D1B-95C4-5949381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คำถาม + RAG evidence + สถานะล่าสุด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เลือกสิ่งที่โมเดลเห็นในแต่ละรอบ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2034A-D3F5-4E88-A4FA-5A866A1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3 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6EE6-4F04-4912-A82D-F01B034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SQL guards + Spark tool + result checks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ควบคุมการทำงานและบันทึก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F04D-7663-43C8-993E-6F32A61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4 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3FA0D-B50E-4680-9003-A678C61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 / แก้ใหม่ / ถามกลับ / 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กำหนดการจบงาน สูงสุด 3 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FC41-D81E-48FF-AB8E-989C72D6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แต่ละชั้นเชื่อมกันใน custom Python harness ของโปรเจกต์</a:t>
            </a:r>
          </a:p>
        </p:txBody>
      </p:sp>
    </p:spTree>
    <p:extLst>
      <p:ext uri="{BB962C8B-B14F-4D97-AF65-F5344CB8AC3E}">
        <p14:creationId xmlns:p14="http://schemas.microsoft.com/office/powerpoint/2010/main" val="406188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7B874-50C9-4070-93B7-C20B43AA616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096000" y="2876550"/>
            <a:ext cx="36766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3C71-B26E-4877-A7FD-71ECBA7F35A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00750" y="2876550"/>
            <a:ext cx="952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B997-5AB4-419F-AB98-53F6E63D3EA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28850" y="2876550"/>
            <a:ext cx="38671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6AA2-48C3-4DA8-A8EA-84F9C64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Prompt: จากข้อกำหนดสู่ SQL ที่มีโครงสร้าง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3545-1C23-4BF6-8944-6E9F414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โมเดลสร้างข้อเสนอ SQL ส่วน harness เป็นผู้อนุญาตให้รัน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28E0-4D1E-4700-83B9-C9D7D4D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39C5-841B-4DEE-A68B-C582A7D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Role + rules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วิเคราะห์ข้อมูลตามนิยาม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4D792-E353-485A-90F7-CFBCFBE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Question + evidence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คำถามและหลักฐาน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EC37F-2745-4329-9F77-5DCCB18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Output schema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JSON ที่ตรวจต่อได้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1788-3B43-49AA-9803-9FEF623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4857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 SQL ตามบริบทที่ได้รับ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9C75-021F-4DC2-88B8-2857565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2140-E836-410D-ACCC-1F2F2CA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95850"/>
            <a:ext cx="8096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explanation + grain + citation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3497-054B-406A-B074-E90EF7B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รูปแบบถูกต้องเพียงอย่างเดียวยังไม่รับประกันว่าความหมายของคำตอบถูกต้อง</a:t>
            </a:r>
          </a:p>
        </p:txBody>
      </p:sp>
    </p:spTree>
    <p:extLst>
      <p:ext uri="{BB962C8B-B14F-4D97-AF65-F5344CB8AC3E}">
        <p14:creationId xmlns:p14="http://schemas.microsoft.com/office/powerpoint/2010/main" val="1883792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652A-FFEB-45D1-8877-4A611474942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858250" y="2876550"/>
            <a:ext cx="914400" cy="1128713"/>
          </a:xfrm>
          <a:prstGeom xmlns:a="http://schemas.openxmlformats.org/drawingml/2006/main" prst="bentConnector5">
            <a:avLst>
              <a:gd name="adj1" fmla="val 0"/>
              <a:gd name="adj2" fmla="val 20253"/>
              <a:gd name="adj3" fmla="val 75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62BCB-C4E0-4E85-9587-DDDDE07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RAG: ค้นนิยามก่อนสร้าง SQL ทุกคำถาม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5447-1DE1-4E64-9F0E-56F3BB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BM25 และคำศัพท์ไทย/อังกฤษ ทำงานบน knowledge corpus ขนาดเล็ก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F11D-77F9-4240-80FD-6FC9184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A507D-23A4-4F8A-96DF-163AB62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“ลูกค้าซื้อซ้ำ”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D531-C182-468E-913F-6BCA22F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F909-4ECA-4206-A945-9FBB604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ขยายคำค้น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metric / schema /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63DB3-D617-4680-8F07-D786BD7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A5F-FBF5-47D0-B384-10C93D2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จัดอันดับ BM25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เลือก top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F7B1-E628-4BB4-ADF8-2BAD2B73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5524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เพิ่ม global policies ที่จำเป็น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ประกอบ evidence พร้อม section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BC06-B22B-49AD-8FC2-72F8EFD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5BDA-75FE-498D-AE48-3212E98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704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ส่งหลักฐานเข้า prompt เพื่อสร้าง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A4BF-6A20-4E53-87BC-428231D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20 atomic sections • ไม่ใช้ vector database • retrieval ทำครั้งเดียวก่อนวงรอบแก้ SQL</a:t>
            </a:r>
          </a:p>
        </p:txBody>
      </p:sp>
    </p:spTree>
    <p:extLst>
      <p:ext uri="{BB962C8B-B14F-4D97-AF65-F5344CB8AC3E}">
        <p14:creationId xmlns:p14="http://schemas.microsoft.com/office/powerpoint/2010/main" val="428259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DFFFE-C187-466E-A3E3-0BC00ECF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Knowledge: เชื่อมภาษาธุรกิจกับโครงสร้างข้อมูล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4B4A8-1F66-48F0-A101-07163B89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Data Dictionary และ KM เป็นแหล่งนิยามที่ RAG นำมาใช้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EB7F6-8625-4F02-BC64-5D1A8B8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FDF28-B8F3-4B9A-8862-E90DF76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809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คำธุรกิจ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“จำนวนคำสั่งซื้อ”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D8ADC-0665-424A-A8A8-B8E87A51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38B17-748D-4896-AE61-FD163F6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90750"/>
            <a:ext cx="3571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Metric definition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นับ completed-sale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FE7E7-5182-446E-AE49-1B7FCFB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E8754-6C79-4EAE-B0AF-D13239D3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90750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Schema / grain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หนึ่งแถวใน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EF305-1653-41EA-AD18-8AEDE1C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นิยามที่ต้องแยกให้ชัด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รายการสินค้า ≠ invoice ≠ ลูกค้า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9B35F-160A-4153-9DF7-D22BC252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มีคำเชื่อมธุรกิจกับ metric/schema บางส่วน • ยังไม่มี formal ontology หรือ schema matching สำหรับองค์กรใหม่</a:t>
            </a:r>
          </a:p>
        </p:txBody>
      </p:sp>
    </p:spTree>
    <p:extLst>
      <p:ext uri="{BB962C8B-B14F-4D97-AF65-F5344CB8AC3E}">
        <p14:creationId xmlns:p14="http://schemas.microsoft.com/office/powerpoint/2010/main" val="785762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3C6A-4345-4629-AF28-40468C8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 engineering: เลือกสิ่งที่โมเดลเห็น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06CD-F192-4A55-A6CD-53B52B6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รักษาหลักฐานที่เลือกไว้ และลดสิ่งที่สะสมระหว่างการแก้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9FAE5-7F51-4C72-8405-FE71947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26D6-4E6C-41F1-9D11-DBBE4CE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Inputs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คำถาม + evidence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optional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CABD-41CC-4F07-A7D0-F12D8E0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4B91-768B-4510-AF50-6AA86E7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7623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Context curator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 background ที่ระบุว่าไม่จำเป็น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รวมหลักฐานซ้ำ ตรวจ ID ขัดแย้ง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3D97D-D910-4C46-A64F-4F88A42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F935-E909-4F51-BDDB-AE0499A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28098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Model input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หลักฐานเดิมครบ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สถานะซ่อมล่าสุด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39AC-4466-4443-97C4-E483010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028700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Repair memory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คำถาม/หลักฐานเดิม + SQL/citations ล่าสุด + error บรรทัดแรก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ไม่สะสมคำอธิบายเก่าหรือ Spark plan 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5F35-B804-4F2C-87C7-240D90D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Input budget ประมาณ 6,000 tokens ใน window 8,192 • เก็บ token usage จริงหลังเรียก Ollama</a:t>
            </a:r>
          </a:p>
        </p:txBody>
      </p:sp>
    </p:spTree>
    <p:extLst>
      <p:ext uri="{BB962C8B-B14F-4D97-AF65-F5344CB8AC3E}">
        <p14:creationId xmlns:p14="http://schemas.microsoft.com/office/powerpoint/2010/main" val="1195645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A4A8A-C82A-481A-BD34-CB9F327B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Harness: จุดตรวจรอบการเรียก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68654-40EB-4EE3-B906-AAC86F68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Policy และ contracts อยู่ใน Python กับ SQL AST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BA0D6-F46E-4863-B4CF-FA3AC903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2A3CA-4609-4B17-8980-FDEF8E7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ก่อนสร้าง SQL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ช่วงเวลา / snapshot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ข้อมูลไม่พอให้ถามกลับ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A1832-E01B-46BE-9D9D-1CDB0FFA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526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5AB37-56E7-453E-BCF2-D19E4F6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ก่อนเรียก Spark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read-only / 3 views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citations / 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B38EE-D5D2-4E6C-AFF4-59F88460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526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367A3-92A8-43D9-8681-6AF89045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หลังรัน SQL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ตรวจ invariant บางส่วน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จำกัดผลและส่ง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FE144-B1CE-4757-BF2B-17A2E4D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74295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Spark tool boundary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สูงสุด 200 แถว พร้อม truncated flag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ยกเลิก job หลัง 45 วินาทีแบบ best 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3438E-A1BB-4EE3-BF84-71357CF0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ยังไม่มี OPA/Rego หรือสิทธิ์รายผู้ใช้ • post-tool checks ยังตรวจความหมายทางธุรกิจไม่ครบทุกกรณี</a:t>
            </a:r>
          </a:p>
        </p:txBody>
      </p:sp>
    </p:spTree>
    <p:extLst>
      <p:ext uri="{BB962C8B-B14F-4D97-AF65-F5344CB8AC3E}">
        <p14:creationId xmlns:p14="http://schemas.microsoft.com/office/powerpoint/2010/main" val="1413558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3EA35-0FD5-4DD4-92BE-50C42CB8FF72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9310688" y="38766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14E0-32F6-4520-A734-AC9720AA3640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238750" y="3286125"/>
            <a:ext cx="176212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582D-0A54-4595-A1E2-1C1E135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Agent loop: ตรวจ แก้ และตัดสินใจจบงาน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E3C1-F657-470E-AA21-DBD8D15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วงรอบมีขอบเขต สูงสุด 3 attempts ต่อคำถาม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1CD3-F273-4E3B-8C6C-4DB7BCF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877C-A33B-4540-AA7C-A0058A5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  Retrieve + policy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9168-F84B-4B86-8AB5-8F9CC96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33550"/>
            <a:ext cx="461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ข้อมูลไม่พอ / ใช้ไม่ได้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 clarification และจบ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AE3B-6988-4D1F-9DBF-D6ACC54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DC5C-A0E2-4C47-955B-3A43003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D1B64-5662-4185-ACF1-1C5D1D0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2  Generate SQL + citations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0BFA-79C1-484F-B107-4C0B00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43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E554-CE07-4565-A0CC-F5701DB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  AST / contracts / model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02CD-3897-41A3-9293-F5E3EE7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D1A3D-7E9B-414D-943F-F6E3ACE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4619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  Spark + result checks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ผ่าน: ส่งตารางและ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BFA-C94E-4D2B-92C0-5941D44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619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ไม่ผ่าน: ส่ง SQL + error ล่าสุดกลับไปแก้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ครบ 3 attempts หรือเกิน budget: หยุดพร้อมสถานะ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3EA9-D04B-490D-B22B-C39BA74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กลับไปขั้น 2 เมื่อแก้ได้ • ใช้โมเดลเดิม review • ไม่มีการวางแผน sub-agent หรือเลือก tools แบบอิสระ</a:t>
            </a:r>
          </a:p>
        </p:txBody>
      </p:sp>
    </p:spTree>
    <p:extLst>
      <p:ext uri="{BB962C8B-B14F-4D97-AF65-F5344CB8AC3E}">
        <p14:creationId xmlns:p14="http://schemas.microsoft.com/office/powerpoint/2010/main" val="1928487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EB6CE-504F-43E9-9FF7-8F7A26E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Web application: เห็นคำตอบพร้อมเส้นทางตรวจสอบ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FF409-0F80-4C57-9D98-A444FC6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Local web app ที่ localhost:8090 เรียก agent และ Spark 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AFCA-0AF7-4525-99B1-4983E3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C183-11F6-43AB-BA12-E066921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1  ระบุคำถามและเวลา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เดือน ต.ค. 2011 มี invoice กี่ใบ?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A045-631B-42AB-AFFC-C340A023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365C7-ED6E-4DC9-ADED-0A3A19E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สถานะการทำงาน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กำลังประมวลผล / ถามกลับ / error / สำเร็จ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942F-15B9-400B-A0C1-69E08F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4DB9-0FF1-4350-B408-4B4D08F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286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>
                <a:solidFill>
                  <a:srgbClr val="102B46"/>
                </a:solidFill>
              </a:defRPr>
            </a:defPPr>
            <a:lvl1pPr algn="ctr">
              <a:defRPr sz="2325">
                <a:solidFill>
                  <a:srgbClr val="102B46"/>
                </a:solidFill>
              </a:defRPr>
            </a:lvl1pPr>
            <a:lvl2pPr algn="ctr">
              <a:defRPr sz="2325">
                <a:solidFill>
                  <a:srgbClr val="102B46"/>
                </a:solidFill>
              </a:defRPr>
            </a:lvl2pPr>
            <a:lvl3pPr algn="ctr">
              <a:defRPr sz="2325">
                <a:solidFill>
                  <a:srgbClr val="102B46"/>
                </a:solidFill>
              </a:defRPr>
            </a:lvl3pPr>
            <a:lvl4pPr algn="ctr">
              <a:defRPr sz="2325">
                <a:solidFill>
                  <a:srgbClr val="102B46"/>
                </a:solidFill>
              </a:defRPr>
            </a:lvl4pPr>
            <a:lvl5pPr algn="ctr">
              <a:defRPr sz="2325">
                <a:solidFill>
                  <a:srgbClr val="102B46"/>
                </a:solidFill>
              </a:defRPr>
            </a:lvl5pPr>
            <a:lvl6pPr algn="ctr">
              <a:defRPr sz="2325">
                <a:solidFill>
                  <a:srgbClr val="102B46"/>
                </a:solidFill>
              </a:defRPr>
            </a:lvl6pPr>
            <a:lvl7pPr algn="ctr">
              <a:defRPr sz="2325">
                <a:solidFill>
                  <a:srgbClr val="102B46"/>
                </a:solidFill>
              </a:defRPr>
            </a:lvl7pPr>
            <a:lvl8pPr algn="ctr">
              <a:defRPr sz="2325">
                <a:solidFill>
                  <a:srgbClr val="102B46"/>
                </a:solidFill>
              </a:defRPr>
            </a:lvl8pPr>
            <a:lvl9pPr algn="ctr">
              <a:defRPr sz="23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3  ผลที่เคยทดสอบผ่าน HTTP จริง</a:t>
            </a:r>
          </a:p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invoice count = 2,040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DE657-029B-4D2C-B061-BB7601C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4381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เปิดตรวจต่อได้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SQL / evidence / trace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context plan / token 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4FDF-5C97-4161-8178-63A26AB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หน้านี้เป็นแผนภาพการใช้งาน ไม่ใช่ภาพหน้าจอ • แต่ละคำถามแยก context และรับทีละคำถาม</a:t>
            </a:r>
          </a:p>
        </p:txBody>
      </p:sp>
    </p:spTree>
    <p:extLst>
      <p:ext uri="{BB962C8B-B14F-4D97-AF65-F5344CB8AC3E}">
        <p14:creationId xmlns:p14="http://schemas.microsoft.com/office/powerpoint/2010/main" val="1341172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B3E4D-1159-4AF6-9720-9322853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Evaluation harness: เทียบคำตอบกับหลักฐานอ้างอิง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21599-FBB0-411F-9A20-F2191044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แยกการวัด retrieval การรัน SQL และการจัดการ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267D5-B14F-49AA-8CB5-A2A25998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C7165-5E9F-4F02-AA78-0D9AA1DC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ชุดคำถาม + expected evidence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พร้อม gold SQL / clarification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3208E-6E36-4DD2-8A74-84316830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69DDD-9685-4949-98AF-3C09DCF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146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9BB16-6DDF-4CED-8BBD-532D2D73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ระบบ Agent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RAG / SQL / guard / Spark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85E51-7801-4EBA-BEFB-A25D5E29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Gold execution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Spark รัน SQL อ้างอิง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F5D0C-DE28-444E-9B37-D6ADDA1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2286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86BE8-3572-4B7E-8299-FEB3024A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9575"/>
            <a:ext cx="2286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0E9B2-DD73-4F63-A5B5-D966A1B4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57725"/>
            <a:ext cx="8763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เปรียบเทียบผลลัพธ์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rows เทียบ gold + policy decision + citations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A10E7-BFE2-412D-A28C-64BCD6D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วัด Recall@6 / MRR / nDCG, accuracy, p95 latency และ model calls • ล้มเหลวนับว่าผิด</a:t>
            </a:r>
          </a:p>
        </p:txBody>
      </p:sp>
    </p:spTree>
    <p:extLst>
      <p:ext uri="{BB962C8B-B14F-4D97-AF65-F5344CB8AC3E}">
        <p14:creationId xmlns:p14="http://schemas.microsoft.com/office/powerpoint/2010/main" val="1309158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730EF-3D74-4D58-9BE6-A3256AB5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ผลวัดระบบก่อนเพิ่มการจัดการ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1D215-C145-44A8-8CE2-2F44A72B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ผลประวัติของระบบก่อนเพิ่ม การจัดการ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90CA0-22B8-489E-9F1B-E4A11AC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F3F41-9617-46FA-9802-1B5F2DCF5DF4}"/>
              </a:ext>
            </a:extLst>
          </p:cNvPr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952750"/>
                <a:gridCol w="43624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สิ่งที่วัด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ผลที่รันได้จริง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การตีความ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ผล SQL + clarification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20/20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17 SQL + 3 ถามกลับ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Retrieval @6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Recall 100%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MRR 0.892 / nDCG 0.893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p95 latency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16.69 ms / 5.43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retrieval / warm 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Citations / clarification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ตรวจตามเกณฑ์ของชุดทดสอบ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AC6F8-FDF5-4950-8E56-4FF06944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ชุดเล็กที่ผู้พัฒนาสร้างเอง • ผลชุดนี้ ไม่ใช่ผล fresh holdout ของ source ปัจจุบัน</a:t>
            </a:r>
          </a:p>
        </p:txBody>
      </p:sp>
    </p:spTree>
    <p:extLst>
      <p:ext uri="{BB962C8B-B14F-4D97-AF65-F5344CB8AC3E}">
        <p14:creationId xmlns:p14="http://schemas.microsoft.com/office/powerpoint/2010/main" val="489120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A5FE2-530C-4AC2-A790-34438580927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953500" y="2876550"/>
            <a:ext cx="81915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49B7D-3FDA-4D50-892B-9C5A83C1CF7A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238500" y="2876550"/>
            <a:ext cx="653415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4058E-FED4-4DED-8F65-B6F9FE96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การจัดการ Context: ออกแบบการทดลองอย่างไร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999CA-A2C6-462E-B4C4-260C9D7D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ทั้งสองแนวทางใช้ RAG และหลักฐานชุดเดียวกันหลัง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D12DA-F64C-40E9-B0D1-37F6E36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287AA-223F-4420-9BE2-AC7939F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 โจทย์ที่เคยเห็น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invoice / repeat /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C6B0B-CA27-4A96-BEA8-5F09C6B7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F82B5-20DC-4215-8E4C-515D896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เติม background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0 / 3,000 / 12,000 ตัวอักษร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B6F39-3501-4D17-8F59-4FB8349D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44FA5-A0F2-4D7F-BFDB-982C9595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สลับตำแหน่ง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ต้น / กลาง / ท้าย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7883D-9FFB-41D3-A4CD-9D4F22F3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572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Managed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ตัด optional background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21 trials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B6100-A58D-4B54-BF2B-C7B1EF3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572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Unfiltered control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เก็บ background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21 trials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500B3-CFD7-49E6-A94A-951A172F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42 trials จาก 3 tasks • Managed เหลือ 3 context packets ใช้ซ้ำ • ไม่ใช่การเทียบมี RAG กับไม่มี RAG</a:t>
            </a:r>
          </a:p>
        </p:txBody>
      </p:sp>
    </p:spTree>
    <p:extLst>
      <p:ext uri="{BB962C8B-B14F-4D97-AF65-F5344CB8AC3E}">
        <p14:creationId xmlns:p14="http://schemas.microsoft.com/office/powerpoint/2010/main" val="5121885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75890-C569-452E-8573-9A47FB1E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การจัดการ Context: ผลที่ได้และขอบเขตข้อสรุป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7FA8E-B197-47C4-B833-38A7F7C4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แยก budget stop ออกจากคำตอบผิดและ pipeline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59A73-13EF-482B-AD12-2F72C2F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41CEF-5AA7-4F63-8201-844007F78AB2}"/>
              </a:ext>
            </a:extLst>
          </p:cNvPr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62700"/>
                <a:gridCol w="2381250"/>
                <a:gridCol w="23812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ผลจาก 21 trials ต่อกลุ่ม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Managed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Unfiltered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คำตอบถูก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หยุดก่อนเรียกโมเดล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หยุดด้าน budget ระหว่าง repair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Pipeline failure อื่น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56AE4-188E-4E67-84DD-D7DBDA7B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เก็บ evidence ID/text ครบ 100% ทั้งสองกลุ่ม • ordinary regression 20/20 • 31 unit tests ผ่านจริง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388111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7E3D3-3621-4117-A709-5A5F0AD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 rot: สิ่งที่ผลทดลองยืนยันได้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5BE6E-B95F-45CF-AF3C-3E494A00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การจัด context ช่วยในสถานการณ์ที่ควบคุม แต่ยังมีคำถามที่ต้องวัดต่อ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4311-E99F-475A-A922-BE5B2504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4E63C-5B86-41E1-BFAB-D59ADD3F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5238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หลักฐานที่มี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ตัด background ภายนอก evidence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ลดการสะสมประวัติซ่อม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Managed ตอบถูก 21/21 trials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044C5-F9FF-45CD-8A4F-9DCEB4B2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5238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สิ่งที่ยังต้องทดลอง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noise ภายใน required evidence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โจทย์ใหม่ที่ไม่เคยใช้พัฒนา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บริบทใกล้เต็ม 8,192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4B4D2-8954-4E75-B796-C032B6A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1095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B46"/>
                </a:solidFill>
              </a:defRPr>
            </a:defPPr>
            <a:lvl1pPr>
              <a:defRPr sz="2025" b="1">
                <a:solidFill>
                  <a:srgbClr val="102B46"/>
                </a:solidFill>
              </a:defRPr>
            </a:lvl1pPr>
            <a:lvl2pPr>
              <a:defRPr sz="2025" b="1">
                <a:solidFill>
                  <a:srgbClr val="102B46"/>
                </a:solidFill>
              </a:defRPr>
            </a:lvl2pPr>
            <a:lvl3pPr>
              <a:defRPr sz="2025" b="1">
                <a:solidFill>
                  <a:srgbClr val="102B46"/>
                </a:solidFill>
              </a:defRPr>
            </a:lvl3pPr>
            <a:lvl4pPr>
              <a:defRPr sz="2025" b="1">
                <a:solidFill>
                  <a:srgbClr val="102B46"/>
                </a:solidFill>
              </a:defRPr>
            </a:lvl4pPr>
            <a:lvl5pPr>
              <a:defRPr sz="2025" b="1">
                <a:solidFill>
                  <a:srgbClr val="102B46"/>
                </a:solidFill>
              </a:defRPr>
            </a:lvl5pPr>
            <a:lvl6pPr>
              <a:defRPr sz="2025" b="1">
                <a:solidFill>
                  <a:srgbClr val="102B46"/>
                </a:solidFill>
              </a:defRPr>
            </a:lvl6pPr>
            <a:lvl7pPr>
              <a:defRPr sz="2025" b="1">
                <a:solidFill>
                  <a:srgbClr val="102B46"/>
                </a:solidFill>
              </a:defRPr>
            </a:lvl7pPr>
            <a:lvl8pPr>
              <a:defRPr sz="2025" b="1">
                <a:solidFill>
                  <a:srgbClr val="102B46"/>
                </a:solidFill>
              </a:defRPr>
            </a:lvl8pPr>
            <a:lvl9pPr>
              <a:defRPr sz="202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46"/>
                </a:solidFill>
              </a:defRPr>
            </a:pPr>
            <a:r>
              <a:rPr sz="2025" b="1">
                <a:solidFill>
                  <a:srgbClr val="102B46"/>
                </a:solidFill>
              </a:rPr>
              <a:t>Prompt ที่วัดได้ 2,188–2,895 tokens</a:t>
            </a:r>
          </a:p>
          <a:p xmlns:a="http://schemas.openxmlformats.org/drawingml/2006/main">
            <a:pPr>
              <a:defRPr sz="2025" b="1">
                <a:solidFill>
                  <a:srgbClr val="102B46"/>
                </a:solidFill>
              </a:defRPr>
            </a:pPr>
            <a:r>
              <a:rPr sz="2025" b="1">
                <a:solidFill>
                  <a:srgbClr val="102B46"/>
                </a:solidFill>
              </a:rPr>
              <a:t>ช่องว่างผลส่วนใหญ่มาจาก budget admission และบาง pipeline failures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A333C-2444-4192-B98A-28623CA8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Token preflight ยังเป็น heuristic • ยังสรุปว่าแก้ model-internal context rot โดยทั่วไปไม่ได้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6286682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F0A52-25EC-4B1E-8107-F088FA1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ความพร้อมของระบบและข้อจำกัด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F70CE-B6CD-4988-BCAF-89BC97C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สิ่งที่นำไปสาธิตได้ และสิ่งที่ต้องพัฒนาก่อนใช้จริงในองค์กร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761F1-ED89-41AB-969B-A954C0DE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0E2E2-5AC9-4482-BADD-D9EC6A49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238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มีในโปรเจกต์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RAG + SQL agent + Spark/HDFS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Web UI และ trace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รายงานวัดผลกับ raw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6A416-5EA6-44A2-9C5A-22452570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238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ข้อจำกัดสำคัญ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เครื่องเดียว และรับคำถามทีละงาน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ยังไม่มี authentication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semantic checks และ benchmark ยังเล็ก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001C2-8864-47C3-ACC0-E7D0665A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Single agent / Python tool calls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ยังไม่ได้ใช้ MCP, multi-agent หรือ formal ontology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22F3E-4D90-4F9C-B899-3612CD28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ก้าวต่อไป: ขยาย fresh test cases, ตรวจ semantics เพิ่ม และทดสอบบริบทที่ซับซ้อนขึ้น</a:t>
            </a:r>
          </a:p>
        </p:txBody>
      </p:sp>
    </p:spTree>
    <p:extLst>
      <p:ext uri="{BB962C8B-B14F-4D97-AF65-F5344CB8AC3E}">
        <p14:creationId xmlns:p14="http://schemas.microsoft.com/office/powerpoint/2010/main" val="17600848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166C-9909-4064-9AFD-0A3BA9F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การสาธิตและการนำไปพัฒนาต่อ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DE4F8-ABEA-4977-B92D-F0902EC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Source code และหลักฐานการวัดผลอยู่บน GitHub public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693B6-FAB8-456B-AA13-EBE43A3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F7A70-E215-4880-A35C-CF252190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Docker stack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สร้างข้อมูลบน 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8FFD-A8CE-4D63-96FE-89C025C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8E1F-5877-42CD-81AD-F52358A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Web app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ถามพร้อมช่วงเวลา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93DD-8F20-4B04-942A-36504B93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BD92-D7AD-40F6-B1F7-C4E1197E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ตรวจผล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/ evidence /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8FA66-8F29-472A-8618-B02D864C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75" b="1">
                <a:solidFill>
                  <a:srgbClr val="102B46"/>
                </a:solidFill>
              </a:defRPr>
            </a:defPPr>
            <a:lvl1pPr>
              <a:defRPr sz="2775" b="1">
                <a:solidFill>
                  <a:srgbClr val="102B46"/>
                </a:solidFill>
              </a:defRPr>
            </a:lvl1pPr>
            <a:lvl2pPr>
              <a:defRPr sz="2775" b="1">
                <a:solidFill>
                  <a:srgbClr val="102B46"/>
                </a:solidFill>
              </a:defRPr>
            </a:lvl2pPr>
            <a:lvl3pPr>
              <a:defRPr sz="2775" b="1">
                <a:solidFill>
                  <a:srgbClr val="102B46"/>
                </a:solidFill>
              </a:defRPr>
            </a:lvl3pPr>
            <a:lvl4pPr>
              <a:defRPr sz="2775" b="1">
                <a:solidFill>
                  <a:srgbClr val="102B46"/>
                </a:solidFill>
              </a:defRPr>
            </a:lvl4pPr>
            <a:lvl5pPr>
              <a:defRPr sz="2775" b="1">
                <a:solidFill>
                  <a:srgbClr val="102B46"/>
                </a:solidFill>
              </a:defRPr>
            </a:lvl5pPr>
            <a:lvl6pPr>
              <a:defRPr sz="2775" b="1">
                <a:solidFill>
                  <a:srgbClr val="102B46"/>
                </a:solidFill>
              </a:defRPr>
            </a:lvl6pPr>
            <a:lvl7pPr>
              <a:defRPr sz="2775" b="1">
                <a:solidFill>
                  <a:srgbClr val="102B46"/>
                </a:solidFill>
              </a:defRPr>
            </a:lvl7pPr>
            <a:lvl8pPr>
              <a:defRPr sz="2775" b="1">
                <a:solidFill>
                  <a:srgbClr val="102B46"/>
                </a:solidFill>
              </a:defRPr>
            </a:lvl8pPr>
            <a:lvl9pPr>
              <a:defRPr sz="277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46"/>
                </a:solidFill>
              </a:defRPr>
            </a:pPr>
            <a:r>
              <a:rPr sz="2775" b="1">
                <a:solidFill>
                  <a:srgbClr val="102B46"/>
                </a:solidFill>
              </a:rPr>
              <a:t>customer-intelligence-agent-spark-hdfs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F7789-0A24-49D6-8D62-12B3130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D6577"/>
                </a:solidFill>
              </a:defRPr>
            </a:defPPr>
            <a:lvl1pPr>
              <a:defRPr sz="2025" b="0">
                <a:solidFill>
                  <a:srgbClr val="4D6577"/>
                </a:solidFill>
              </a:defRPr>
            </a:lvl1pPr>
            <a:lvl2pPr>
              <a:defRPr sz="2025" b="0">
                <a:solidFill>
                  <a:srgbClr val="4D6577"/>
                </a:solidFill>
              </a:defRPr>
            </a:lvl2pPr>
            <a:lvl3pPr>
              <a:defRPr sz="2025" b="0">
                <a:solidFill>
                  <a:srgbClr val="4D6577"/>
                </a:solidFill>
              </a:defRPr>
            </a:lvl3pPr>
            <a:lvl4pPr>
              <a:defRPr sz="2025" b="0">
                <a:solidFill>
                  <a:srgbClr val="4D6577"/>
                </a:solidFill>
              </a:defRPr>
            </a:lvl4pPr>
            <a:lvl5pPr>
              <a:defRPr sz="2025" b="0">
                <a:solidFill>
                  <a:srgbClr val="4D6577"/>
                </a:solidFill>
              </a:defRPr>
            </a:lvl5pPr>
            <a:lvl6pPr>
              <a:defRPr sz="2025" b="0">
                <a:solidFill>
                  <a:srgbClr val="4D6577"/>
                </a:solidFill>
              </a:defRPr>
            </a:lvl6pPr>
            <a:lvl7pPr>
              <a:defRPr sz="2025" b="0">
                <a:solidFill>
                  <a:srgbClr val="4D6577"/>
                </a:solidFill>
              </a:defRPr>
            </a:lvl7pPr>
            <a:lvl8pPr>
              <a:defRPr sz="2025" b="0">
                <a:solidFill>
                  <a:srgbClr val="4D6577"/>
                </a:solidFill>
              </a:defRPr>
            </a:lvl8pPr>
            <a:lvl9pPr>
              <a:defRPr sz="20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github.com/NATTAPAT-LEUNGRUNGSAP/</a:t>
            </a:r>
          </a:p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customer-intelligence-agent-spark-hdfs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9ADC-8B6F-4491-BE72-8FBFB95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Repository เก็บ source, setup, tests และรายงาน • Web app รันบนเครื่องที่เปิด stack</a:t>
            </a:r>
          </a:p>
        </p:txBody>
      </p:sp>
    </p:spTree>
    <p:extLst>
      <p:ext uri="{BB962C8B-B14F-4D97-AF65-F5344CB8AC3E}">
        <p14:creationId xmlns:p14="http://schemas.microsoft.com/office/powerpoint/2010/main" val="1274805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2026-10-26T08:41:01.1190000Z</dcterms:created>
  <dcterms:modified xsi:type="dcterms:W3CDTF">2026-10-26T08:41:01.1190000Z</dcterms:modified>
</coreProperties>
</file>