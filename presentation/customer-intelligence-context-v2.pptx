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d623505ac24849" /><Relationship Type="http://schemas.openxmlformats.org/officeDocument/2006/relationships/extended-properties" Target="/docProps/app.xml" Id="Rffcb1aebd1b043f9" /><Relationship Type="http://schemas.openxmlformats.org/officeDocument/2006/relationships/officeDocument" Target="/ppt/presentation.xml" Id="Rf53062130f454a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d1865b5c9c4892"/>
  </p:sldMasterIdLst>
  <p:notesMasterIdLst>
    <p:notesMasterId xmlns:r="http://schemas.openxmlformats.org/officeDocument/2006/relationships" r:id="R07862baa97194edd"/>
  </p:notesMasterIdLst>
  <p:sldIdLst>
    <p:sldId xmlns:r="http://schemas.openxmlformats.org/officeDocument/2006/relationships" id="256" r:id="R05ae85e12e374b5c"/>
    <p:sldId xmlns:r="http://schemas.openxmlformats.org/officeDocument/2006/relationships" id="257" r:id="R7249169b1d5e409c"/>
    <p:sldId xmlns:r="http://schemas.openxmlformats.org/officeDocument/2006/relationships" id="258" r:id="R4ff134da6e764728"/>
    <p:sldId xmlns:r="http://schemas.openxmlformats.org/officeDocument/2006/relationships" id="259" r:id="Ra04940bcf1d6430b"/>
    <p:sldId xmlns:r="http://schemas.openxmlformats.org/officeDocument/2006/relationships" id="260" r:id="Rad7344f96dde4805"/>
    <p:sldId xmlns:r="http://schemas.openxmlformats.org/officeDocument/2006/relationships" id="261" r:id="R7bdedaa01d944cf1"/>
    <p:sldId xmlns:r="http://schemas.openxmlformats.org/officeDocument/2006/relationships" id="262" r:id="R898e9c285fb94eb7"/>
    <p:sldId xmlns:r="http://schemas.openxmlformats.org/officeDocument/2006/relationships" id="263" r:id="R19e1f314782c43f9"/>
    <p:sldId xmlns:r="http://schemas.openxmlformats.org/officeDocument/2006/relationships" id="264" r:id="R8c311e4c817649bc"/>
    <p:sldId xmlns:r="http://schemas.openxmlformats.org/officeDocument/2006/relationships" id="265" r:id="Rd595b95c4e55475e"/>
    <p:sldId xmlns:r="http://schemas.openxmlformats.org/officeDocument/2006/relationships" id="266" r:id="R10cd2483c4fc45fd"/>
    <p:sldId xmlns:r="http://schemas.openxmlformats.org/officeDocument/2006/relationships" id="267" r:id="R19f1169bc938455b"/>
    <p:sldId xmlns:r="http://schemas.openxmlformats.org/officeDocument/2006/relationships" id="268" r:id="R662f5e4f3a2c4920"/>
    <p:sldId xmlns:r="http://schemas.openxmlformats.org/officeDocument/2006/relationships" id="269" r:id="R981517232ddf4673"/>
    <p:sldId xmlns:r="http://schemas.openxmlformats.org/officeDocument/2006/relationships" id="270" r:id="R7498e778f5614f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7ceb6a81fb4494" /><Relationship Type="http://schemas.openxmlformats.org/officeDocument/2006/relationships/slideMaster" Target="/ppt/slideMasters/slideMaster1.xml" Id="R9cd1865b5c9c4892" /><Relationship Type="http://schemas.openxmlformats.org/officeDocument/2006/relationships/notesMaster" Target="/ppt/notesMasters/notesMaster1.xml" Id="R07862baa97194edd" /><Relationship Type="http://schemas.openxmlformats.org/officeDocument/2006/relationships/presProps" Target="/ppt/presProps.xml" Id="R1322055c35ac4c5a" /><Relationship Type="http://schemas.openxmlformats.org/officeDocument/2006/relationships/tableStyles" Target="/ppt/tableStyles.xml" Id="R7df3bc51d1354e63" /><Relationship Type="http://schemas.openxmlformats.org/officeDocument/2006/relationships/slide" Target="/ppt/slides/slide1.xml" Id="R05ae85e12e374b5c" /><Relationship Type="http://schemas.openxmlformats.org/officeDocument/2006/relationships/slide" Target="/ppt/slides/slide2.xml" Id="R7249169b1d5e409c" /><Relationship Type="http://schemas.openxmlformats.org/officeDocument/2006/relationships/slide" Target="/ppt/slides/slide3.xml" Id="R4ff134da6e764728" /><Relationship Type="http://schemas.openxmlformats.org/officeDocument/2006/relationships/slide" Target="/ppt/slides/slide4.xml" Id="Ra04940bcf1d6430b" /><Relationship Type="http://schemas.openxmlformats.org/officeDocument/2006/relationships/slide" Target="/ppt/slides/slide5.xml" Id="Rad7344f96dde4805" /><Relationship Type="http://schemas.openxmlformats.org/officeDocument/2006/relationships/slide" Target="/ppt/slides/slide6.xml" Id="R7bdedaa01d944cf1" /><Relationship Type="http://schemas.openxmlformats.org/officeDocument/2006/relationships/slide" Target="/ppt/slides/slide7.xml" Id="R898e9c285fb94eb7" /><Relationship Type="http://schemas.openxmlformats.org/officeDocument/2006/relationships/slide" Target="/ppt/slides/slide8.xml" Id="R19e1f314782c43f9" /><Relationship Type="http://schemas.openxmlformats.org/officeDocument/2006/relationships/slide" Target="/ppt/slides/slide9.xml" Id="R8c311e4c817649bc" /><Relationship Type="http://schemas.openxmlformats.org/officeDocument/2006/relationships/slide" Target="/ppt/slides/slide10.xml" Id="Rd595b95c4e55475e" /><Relationship Type="http://schemas.openxmlformats.org/officeDocument/2006/relationships/slide" Target="/ppt/slides/slide11.xml" Id="R10cd2483c4fc45fd" /><Relationship Type="http://schemas.openxmlformats.org/officeDocument/2006/relationships/slide" Target="/ppt/slides/slide12.xml" Id="R19f1169bc938455b" /><Relationship Type="http://schemas.openxmlformats.org/officeDocument/2006/relationships/slide" Target="/ppt/slides/slide13.xml" Id="R662f5e4f3a2c4920" /><Relationship Type="http://schemas.openxmlformats.org/officeDocument/2006/relationships/slide" Target="/ppt/slides/slide14.xml" Id="R981517232ddf4673" /><Relationship Type="http://schemas.openxmlformats.org/officeDocument/2006/relationships/slide" Target="/ppt/slides/slide15.xml" Id="R7498e778f5614f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ca85c736464f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7ea58112114b03" /><Relationship Type="http://schemas.openxmlformats.org/officeDocument/2006/relationships/notesMaster" Target="/ppt/notesMasters/notesMaster1.xml" Id="R18bb1c1764e84d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8bc2985ccc4bb1" /><Relationship Type="http://schemas.openxmlformats.org/officeDocument/2006/relationships/notesMaster" Target="/ppt/notesMasters/notesMaster1.xml" Id="R2555ffafc94d46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80961492c143ce" /><Relationship Type="http://schemas.openxmlformats.org/officeDocument/2006/relationships/notesMaster" Target="/ppt/notesMasters/notesMaster1.xml" Id="Rfe7cc1189ebf41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67a5bd810b4cc6" /><Relationship Type="http://schemas.openxmlformats.org/officeDocument/2006/relationships/notesMaster" Target="/ppt/notesMasters/notesMaster1.xml" Id="R543e9ce277bb48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43dfb5553248a0" /><Relationship Type="http://schemas.openxmlformats.org/officeDocument/2006/relationships/notesMaster" Target="/ppt/notesMasters/notesMaster1.xml" Id="R88ba08a3d48445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2fe06b7562408c" /><Relationship Type="http://schemas.openxmlformats.org/officeDocument/2006/relationships/notesMaster" Target="/ppt/notesMasters/notesMaster1.xml" Id="R4c58b1ac72964f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990e692faa4f51" /><Relationship Type="http://schemas.openxmlformats.org/officeDocument/2006/relationships/notesMaster" Target="/ppt/notesMasters/notesMaster1.xml" Id="Re4898846e04342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505f352f13406f" /><Relationship Type="http://schemas.openxmlformats.org/officeDocument/2006/relationships/notesMaster" Target="/ppt/notesMasters/notesMaster1.xml" Id="Rd73b36cbe84148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b7dfd948824797" /><Relationship Type="http://schemas.openxmlformats.org/officeDocument/2006/relationships/notesMaster" Target="/ppt/notesMasters/notesMaster1.xml" Id="R910744e8d35645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a29957bf4f4e66" /><Relationship Type="http://schemas.openxmlformats.org/officeDocument/2006/relationships/notesMaster" Target="/ppt/notesMasters/notesMaster1.xml" Id="R2c42b6b34db04a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461863060540c2" /><Relationship Type="http://schemas.openxmlformats.org/officeDocument/2006/relationships/notesMaster" Target="/ppt/notesMasters/notesMaster1.xml" Id="R91547928c61e4e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11ac2858c14259" /><Relationship Type="http://schemas.openxmlformats.org/officeDocument/2006/relationships/notesMaster" Target="/ppt/notesMasters/notesMaster1.xml" Id="R86ad247bd3be4d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c73d9f27ef48f0" /><Relationship Type="http://schemas.openxmlformats.org/officeDocument/2006/relationships/notesMaster" Target="/ppt/notesMasters/notesMaster1.xml" Id="R3300b1d6ac4341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3b77e4b1054f3e" /><Relationship Type="http://schemas.openxmlformats.org/officeDocument/2006/relationships/notesMaster" Target="/ppt/notesMasters/notesMaster1.xml" Id="R115739e5ed1c44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e5505f29b54ee7" /><Relationship Type="http://schemas.openxmlformats.org/officeDocument/2006/relationships/notesMaster" Target="/ppt/notesMasters/notesMaster1.xml" Id="Rfbe09563c7d74b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reports/DELIVERY_REPORT.md. Final current results are from the frozen v2.4 candidate.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reports/STATUS.md.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reports/build-c81fa72c3c174a96bf8c03195b9e6f5e.json; https://archive.ics.uci.edu/dataset/502/online+retail+ii.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compose.yaml; compose.web.yaml; jobs/web_app.py; reports/ARCHITECTURE.md.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jobs/agent.py; jobs/result_contracts.py; jobs/query_runtime.py.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jobs/web_app.py; web/; reports/web-first-integration.json.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knowledge/; jobs/retrieval.py.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jobs/agent.py; jobs/result_contracts.py; jobs/sql_guard.py.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docs/CONTEXT_ENGINEERING.md; reports/CONTEXT_REPORT.md; context-v2-fc31fe03f55a442ba0c39f9969c72d7b.json. Both strategies use RAG. Selected evidence ID/text is retained verbatim; initial representation compaction regressed18/20, so legacy representation was preserved. Optional background is caller-labeled, not automatically detected irrelevant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jobs/evaluate.py; jobs/rag_metrics.py; evaluation/quality_gates_v2.json; Citation validity is structural across traces; failed answers remain wrong in accuracy. Final v6 has zero failed/error traces..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reports/DELIVERY_REPORT.md; reports/delivery-quality-summary.json; reports/freeze-rag-v2.4.json.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reports/DELIVERY_REPORT.md; reports/iteration-regression-0fce36716fa14affb29463bc3284a808.json; reports/rag-v2.4-regression-v5-968f0bf891c445ae8ee598c68d1a93e0.json; reports/rag-v2.4-holdout-d2b7e5379bbf4781941a21125feb7039.json.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reports/CONTEXT_REPORT.md; context-quality-summary.json; context-v2-fc31fe03f55a442ba0c39f9969c72d7b.json; evaluation/context_protocol_v2.json.31 unit tests passed. Most control losses are application-budget stops, not model reasoning errors:9 before any model call,3 during repair,1 other pipeline failure. The control had12 trials that called the model,8 correct; no incorrect executed result was delivered. Managed had3 unique input packet hashes repeated21 times. First metadata-stripping candidate regressed18/20 despite fact retention and was not adopted. Preflight remains heuristic; actual observed inputs were2188–2895 tokens, below the8192 window. Selected-section noise and independent tasks were not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reports/STATUS.md.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https://github.com/NATTAPAT-LEUNGRUNGSAP/customer-intelligence-agent-spark-hdfs ; successful GitHub Actions run https://github.com/NATTAPAT-LEUNGRUNGSAP/customer-intelligence-agent-spark-hdfs/actions/runs/40284829764 . Public repository verified; local Git main pushed; CI unit job completed successfully. This is not a hosted web application: the application runs locally at localhost:8090.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f2db0ef674e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4f8b1c9d343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a0476181b41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8a63f61baa4f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9f58bef094e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bea7d5fe240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207940-D471-493F-8A94-2A16FA1653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916747-68BE-474F-948F-AB83BE20B5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70C309-36CB-4BC4-B9E4-838FF132D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442EEF-11AD-4C5A-916F-D18083F51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6E80EF-F051-47D4-8FED-4EB513CE1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441840-F08C-4E59-BB98-DC1CD2FB5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1B4EDE-ACC9-4F89-A5E4-997924C4AD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CECFE7-64B2-4458-AF4E-38BBBB9B0A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E51DB8-39B3-44F4-BB05-68218F846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87230A-DCB8-4EA7-830A-9851268240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bf8bb3b60046a1" /><Relationship Type="http://schemas.openxmlformats.org/officeDocument/2006/relationships/slideLayout" Target="/ppt/slideLayouts/slideLayout1.xml" Id="R9a781000f55b4acb" /><Relationship Type="http://schemas.openxmlformats.org/officeDocument/2006/relationships/slideLayout" Target="/ppt/slideLayouts/slideLayout2.xml" Id="R5fc95f31224c461f" /><Relationship Type="http://schemas.openxmlformats.org/officeDocument/2006/relationships/slideLayout" Target="/ppt/slideLayouts/slideLayout3.xml" Id="R35e610584a7742e4" /><Relationship Type="http://schemas.openxmlformats.org/officeDocument/2006/relationships/slideLayout" Target="/ppt/slideLayouts/slideLayout4.xml" Id="Rda54ba22dd954285" /><Relationship Type="http://schemas.openxmlformats.org/officeDocument/2006/relationships/slideLayout" Target="/ppt/slideLayouts/slideLayout5.xml" Id="R75268712d5cf404f" /><Relationship Type="http://schemas.openxmlformats.org/officeDocument/2006/relationships/slideLayout" Target="/ppt/slideLayouts/slideLayout6.xml" Id="R0c67156a76ad42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781000f55b4acb"/>
    <p:sldLayoutId xmlns:r="http://schemas.openxmlformats.org/officeDocument/2006/relationships" id="2147483650" r:id="R5fc95f31224c461f"/>
    <p:sldLayoutId xmlns:r="http://schemas.openxmlformats.org/officeDocument/2006/relationships" id="2147483651" r:id="R35e610584a7742e4"/>
    <p:sldLayoutId xmlns:r="http://schemas.openxmlformats.org/officeDocument/2006/relationships" id="2147483652" r:id="Rda54ba22dd954285"/>
    <p:sldLayoutId xmlns:r="http://schemas.openxmlformats.org/officeDocument/2006/relationships" id="2147483653" r:id="R75268712d5cf404f"/>
    <p:sldLayoutId xmlns:r="http://schemas.openxmlformats.org/officeDocument/2006/relationships" id="2147483654" r:id="R0c67156a76ad42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ab966a188c4f5d" /><Relationship Type="http://schemas.openxmlformats.org/officeDocument/2006/relationships/notesSlide" Target="/ppt/notesSlides/notesSlide1.xml" Id="Rcc9405f099f04c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a96273bb84014" /><Relationship Type="http://schemas.openxmlformats.org/officeDocument/2006/relationships/notesSlide" Target="/ppt/notesSlides/notesSlide2.xml" Id="R3d1f81f5fd6249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e8d74f097d4ef2" /><Relationship Type="http://schemas.openxmlformats.org/officeDocument/2006/relationships/notesSlide" Target="/ppt/notesSlides/notesSlide3.xml" Id="R14759f496c8c40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4b18f03ee455a" /><Relationship Type="http://schemas.openxmlformats.org/officeDocument/2006/relationships/notesSlide" Target="/ppt/notesSlides/notesSlide4.xml" Id="R602227044eb447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8a18ac7c44a4a" /><Relationship Type="http://schemas.openxmlformats.org/officeDocument/2006/relationships/notesSlide" Target="/ppt/notesSlides/notesSlide5.xml" Id="Rc10e47515aad4a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2a97261cc34585" /><Relationship Type="http://schemas.openxmlformats.org/officeDocument/2006/relationships/notesSlide" Target="/ppt/notesSlides/notesSlide6.xml" Id="R6648466f7f384d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480fdbd3ba4d67" /><Relationship Type="http://schemas.openxmlformats.org/officeDocument/2006/relationships/notesSlide" Target="/ppt/notesSlides/notesSlide7.xml" Id="R9bbd29041a3c46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c20528b994e79" /><Relationship Type="http://schemas.openxmlformats.org/officeDocument/2006/relationships/notesSlide" Target="/ppt/notesSlides/notesSlide8.xml" Id="Rfc0328e1fd394c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e85bb4737d4ba6" /><Relationship Type="http://schemas.openxmlformats.org/officeDocument/2006/relationships/notesSlide" Target="/ppt/notesSlides/notesSlide9.xml" Id="Rfd94e3620a6c4e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d9fae063546c0" /><Relationship Type="http://schemas.openxmlformats.org/officeDocument/2006/relationships/notesSlide" Target="/ppt/notesSlides/notesSlide10.xml" Id="R6a851c520e4344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aab97e3e94458" /><Relationship Type="http://schemas.openxmlformats.org/officeDocument/2006/relationships/notesSlide" Target="/ppt/notesSlides/notesSlide11.xml" Id="Reac0a5e2fa654f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b10f4c6dc84b21" /><Relationship Type="http://schemas.openxmlformats.org/officeDocument/2006/relationships/notesSlide" Target="/ppt/notesSlides/notesSlide12.xml" Id="Rd9deeffb6b6142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ae0d8eb424969" /><Relationship Type="http://schemas.openxmlformats.org/officeDocument/2006/relationships/notesSlide" Target="/ppt/notesSlides/notesSlide13.xml" Id="R071d1a41387d49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fd7c4ecf6e4606" /><Relationship Type="http://schemas.openxmlformats.org/officeDocument/2006/relationships/notesSlide" Target="/ppt/notesSlides/notesSlide14.xml" Id="R82b934f993ad45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83298729f4854" /><Relationship Type="http://schemas.openxmlformats.org/officeDocument/2006/relationships/notesSlide" Target="/ppt/notesSlides/notesSlide15.xml" Id="Rfadd83f20cbf47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F5CAC-3E46-4D4F-B856-2278BB57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83C34"/>
                </a:solidFill>
              </a:defRPr>
            </a:defPPr>
            <a:lvl1pPr>
              <a:defRPr sz="4200" b="1">
                <a:solidFill>
                  <a:srgbClr val="183C34"/>
                </a:solidFill>
              </a:defRPr>
            </a:lvl1pPr>
            <a:lvl2pPr>
              <a:defRPr sz="4200" b="1">
                <a:solidFill>
                  <a:srgbClr val="183C34"/>
                </a:solidFill>
              </a:defRPr>
            </a:lvl2pPr>
            <a:lvl3pPr>
              <a:defRPr sz="4200" b="1">
                <a:solidFill>
                  <a:srgbClr val="183C34"/>
                </a:solidFill>
              </a:defRPr>
            </a:lvl3pPr>
            <a:lvl4pPr>
              <a:defRPr sz="4200" b="1">
                <a:solidFill>
                  <a:srgbClr val="183C34"/>
                </a:solidFill>
              </a:defRPr>
            </a:lvl4pPr>
            <a:lvl5pPr>
              <a:defRPr sz="4200" b="1">
                <a:solidFill>
                  <a:srgbClr val="183C34"/>
                </a:solidFill>
              </a:defRPr>
            </a:lvl5pPr>
            <a:lvl6pPr>
              <a:defRPr sz="4200" b="1">
                <a:solidFill>
                  <a:srgbClr val="183C34"/>
                </a:solidFill>
              </a:defRPr>
            </a:lvl6pPr>
            <a:lvl7pPr>
              <a:defRPr sz="4200" b="1">
                <a:solidFill>
                  <a:srgbClr val="183C34"/>
                </a:solidFill>
              </a:defRPr>
            </a:lvl7pPr>
            <a:lvl8pPr>
              <a:defRPr sz="4200" b="1">
                <a:solidFill>
                  <a:srgbClr val="183C34"/>
                </a:solidFill>
              </a:defRPr>
            </a:lvl8pPr>
            <a:lvl9pPr>
              <a:defRPr sz="42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83C34"/>
                </a:solidFill>
              </a:defRPr>
            </a:pPr>
            <a:r>
              <a:rPr sz="4200" b="1">
                <a:solidFill>
                  <a:srgbClr val="183C34"/>
                </a:solidFill>
              </a:rPr>
              <a:t>Customer Intelligence Agent</a:t>
            </a:r>
          </a:p>
          <a:p xmlns:a="http://schemas.openxmlformats.org/drawingml/2006/main">
            <a:pPr>
              <a:defRPr sz="4200" b="1">
                <a:solidFill>
                  <a:srgbClr val="183C34"/>
                </a:solidFill>
              </a:defRPr>
            </a:pPr>
            <a:r>
              <a:rPr sz="4200" b="1">
                <a:solidFill>
                  <a:srgbClr val="183C34"/>
                </a:solidFill>
              </a:rPr>
              <a:t>with Spark &amp; HDFS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B80BC-89CB-472D-8A9A-F5190402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2665B"/>
                </a:solidFill>
              </a:defRPr>
            </a:defPPr>
            <a:lvl1pPr>
              <a:defRPr sz="2100" b="0">
                <a:solidFill>
                  <a:srgbClr val="42665B"/>
                </a:solidFill>
              </a:defRPr>
            </a:lvl1pPr>
            <a:lvl2pPr>
              <a:defRPr sz="2100" b="0">
                <a:solidFill>
                  <a:srgbClr val="42665B"/>
                </a:solidFill>
              </a:defRPr>
            </a:lvl2pPr>
            <a:lvl3pPr>
              <a:defRPr sz="2100" b="0">
                <a:solidFill>
                  <a:srgbClr val="42665B"/>
                </a:solidFill>
              </a:defRPr>
            </a:lvl3pPr>
            <a:lvl4pPr>
              <a:defRPr sz="2100" b="0">
                <a:solidFill>
                  <a:srgbClr val="42665B"/>
                </a:solidFill>
              </a:defRPr>
            </a:lvl4pPr>
            <a:lvl5pPr>
              <a:defRPr sz="2100" b="0">
                <a:solidFill>
                  <a:srgbClr val="42665B"/>
                </a:solidFill>
              </a:defRPr>
            </a:lvl5pPr>
            <a:lvl6pPr>
              <a:defRPr sz="2100" b="0">
                <a:solidFill>
                  <a:srgbClr val="42665B"/>
                </a:solidFill>
              </a:defRPr>
            </a:lvl6pPr>
            <a:lvl7pPr>
              <a:defRPr sz="2100" b="0">
                <a:solidFill>
                  <a:srgbClr val="42665B"/>
                </a:solidFill>
              </a:defRPr>
            </a:lvl7pPr>
            <a:lvl8pPr>
              <a:defRPr sz="2100" b="0">
                <a:solidFill>
                  <a:srgbClr val="42665B"/>
                </a:solidFill>
              </a:defRPr>
            </a:lvl8pPr>
            <a:lvl9pPr>
              <a:defRPr sz="2100" b="0">
                <a:solidFill>
                  <a:srgbClr val="42665B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2665B"/>
                </a:solidFill>
              </a:defRPr>
            </a:pPr>
            <a:r>
              <a:rPr sz="2100" b="0">
                <a:solidFill>
                  <a:srgbClr val="42665B"/>
                </a:solidFill>
              </a:rPr>
              <a:t>ถามข้อมูลลูกค้าด้วยภาษาธรรมชาติ</a:t>
            </a:r>
          </a:p>
          <a:p xmlns:a="http://schemas.openxmlformats.org/drawingml/2006/main">
            <a:pPr>
              <a:defRPr sz="2100" b="0">
                <a:solidFill>
                  <a:srgbClr val="42665B"/>
                </a:solidFill>
              </a:defRPr>
            </a:pPr>
            <a:r>
              <a:rPr sz="2100" b="0">
                <a:solidFill>
                  <a:srgbClr val="42665B"/>
                </a:solidFill>
              </a:rPr>
              <a:t>RAG · SQL generation · Guarded Spark execution</a:t>
            </a:r>
          </a:p>
          <a:p xmlns:a="http://schemas.openxmlformats.org/drawingml/2006/main">
            <a:pPr>
              <a:defRPr sz="2100" b="0">
                <a:solidFill>
                  <a:srgbClr val="42665B"/>
                </a:solidFill>
              </a:defRPr>
            </a:pPr>
            <a:r>
              <a:rPr sz="2100" b="0">
                <a:solidFill>
                  <a:srgbClr val="42665B"/>
                </a:solidFill>
              </a:rPr>
              <a:t>26 ตุลาคม 2026 | v2.4</a:t>
            </a:r>
          </a:p>
        </p:txBody>
      </p:sp>
    </p:spTree>
    <p:extLst>
      <p:ext uri="{BB962C8B-B14F-4D97-AF65-F5344CB8AC3E}">
        <p14:creationId xmlns:p14="http://schemas.microsoft.com/office/powerpoint/2010/main" val="1457879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08662-7DD4-45F3-BE10-D63C95C1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โปรเจกต์ทำอะไร และช่วยเรื่องอะไร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48C40-3ACF-4691-94DC-C3FCDDB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ผู้ใช้ถามยอดขาย คำสั่งซื้อ และกลุ่มลูกค้าเป็นภาษาธรรมชาติ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1DC06-A6AE-4914-B140-996E882B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Agent ค้นนิยามธุรกิจ แล้วสร้าง Spark SQL เพื่ออ่านข้อมูลจริง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52596-D3D3-42C0-BA76-34DC3396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แสดงผลพร้อม SQL และหลักฐาน ให้ผู้ใช้ตรวจสอบต่อได้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A904E-0319-4A3F-95AB-D698E4A6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ยังไม่ได้วัดผลว่าประหยัดเวลาหรือเพิ่มรายได้เท่าไร</a:t>
            </a:r>
          </a:p>
        </p:txBody>
      </p:sp>
    </p:spTree>
    <p:extLst>
      <p:ext uri="{BB962C8B-B14F-4D97-AF65-F5344CB8AC3E}">
        <p14:creationId xmlns:p14="http://schemas.microsoft.com/office/powerpoint/2010/main" val="1695832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E1E92-55DD-41AA-8F83-FF57E4F8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ข้อมูลจริงและตารางวิเคราะห์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C7DFE-C655-41C2-A8ED-325FA7A7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ข้อมูล 2009–2011 · Snapshot 2011-12-01 · หน้าต่างลูกค้า 180 วัน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ABB3F-63A1-4253-9C62-908B4FD0F008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952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ตาราง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ระดับข้อมูล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จำนวนแถว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sales_lines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รายการสินค้าเดิม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1,067,371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orders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หนึ่ง completed-sale invoice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40,077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customer_summary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identified customer / snapshot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3,450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145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3A584-2CA0-48A8-BEA2-68757A5A38B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53350" y="22860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15B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2402C-D589-4CDC-9B45-64F775D9750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52875" y="22860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15B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9168C-4DC2-46FF-AC73-269BCD8C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Architecture และเทคโนโลยี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20DB9-906B-49B6-AD5D-4835C5C2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E6"/>
          </a:solidFill>
          <a:ln xmlns:a="http://schemas.openxmlformats.org/drawingml/2006/main" w="9525">
            <a:solidFill>
              <a:srgbClr val="14715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3C34"/>
                </a:solidFill>
              </a:defRPr>
            </a:defPPr>
            <a:lvl1pPr algn="ctr">
              <a:defRPr sz="1875">
                <a:solidFill>
                  <a:srgbClr val="183C34"/>
                </a:solidFill>
              </a:defRPr>
            </a:lvl1pPr>
            <a:lvl2pPr algn="ctr">
              <a:defRPr sz="1875">
                <a:solidFill>
                  <a:srgbClr val="183C34"/>
                </a:solidFill>
              </a:defRPr>
            </a:lvl2pPr>
            <a:lvl3pPr algn="ctr">
              <a:defRPr sz="1875">
                <a:solidFill>
                  <a:srgbClr val="183C34"/>
                </a:solidFill>
              </a:defRPr>
            </a:lvl3pPr>
            <a:lvl4pPr algn="ctr">
              <a:defRPr sz="1875">
                <a:solidFill>
                  <a:srgbClr val="183C34"/>
                </a:solidFill>
              </a:defRPr>
            </a:lvl4pPr>
            <a:lvl5pPr algn="ctr">
              <a:defRPr sz="1875">
                <a:solidFill>
                  <a:srgbClr val="183C34"/>
                </a:solidFill>
              </a:defRPr>
            </a:lvl5pPr>
            <a:lvl6pPr algn="ctr">
              <a:defRPr sz="1875">
                <a:solidFill>
                  <a:srgbClr val="183C34"/>
                </a:solidFill>
              </a:defRPr>
            </a:lvl6pPr>
            <a:lvl7pPr algn="ctr">
              <a:defRPr sz="1875">
                <a:solidFill>
                  <a:srgbClr val="183C34"/>
                </a:solidFill>
              </a:defRPr>
            </a:lvl7pPr>
            <a:lvl8pPr algn="ctr">
              <a:defRPr sz="1875">
                <a:solidFill>
                  <a:srgbClr val="183C34"/>
                </a:solidFill>
              </a:defRPr>
            </a:lvl8pPr>
            <a:lvl9pPr algn="ctr">
              <a:defRPr sz="1875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Web UI</a:t>
            </a:r>
          </a:p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คำถามและตารางผลลัพธ์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A228A-6BAA-4F16-9BF5-A8DF50C2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66875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E6"/>
          </a:solidFill>
          <a:ln xmlns:a="http://schemas.openxmlformats.org/drawingml/2006/main" w="9525">
            <a:solidFill>
              <a:srgbClr val="14715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3C34"/>
                </a:solidFill>
              </a:defRPr>
            </a:defPPr>
            <a:lvl1pPr algn="ctr">
              <a:defRPr sz="1875">
                <a:solidFill>
                  <a:srgbClr val="183C34"/>
                </a:solidFill>
              </a:defRPr>
            </a:lvl1pPr>
            <a:lvl2pPr algn="ctr">
              <a:defRPr sz="1875">
                <a:solidFill>
                  <a:srgbClr val="183C34"/>
                </a:solidFill>
              </a:defRPr>
            </a:lvl2pPr>
            <a:lvl3pPr algn="ctr">
              <a:defRPr sz="1875">
                <a:solidFill>
                  <a:srgbClr val="183C34"/>
                </a:solidFill>
              </a:defRPr>
            </a:lvl3pPr>
            <a:lvl4pPr algn="ctr">
              <a:defRPr sz="1875">
                <a:solidFill>
                  <a:srgbClr val="183C34"/>
                </a:solidFill>
              </a:defRPr>
            </a:lvl4pPr>
            <a:lvl5pPr algn="ctr">
              <a:defRPr sz="1875">
                <a:solidFill>
                  <a:srgbClr val="183C34"/>
                </a:solidFill>
              </a:defRPr>
            </a:lvl5pPr>
            <a:lvl6pPr algn="ctr">
              <a:defRPr sz="1875">
                <a:solidFill>
                  <a:srgbClr val="183C34"/>
                </a:solidFill>
              </a:defRPr>
            </a:lvl6pPr>
            <a:lvl7pPr algn="ctr">
              <a:defRPr sz="1875">
                <a:solidFill>
                  <a:srgbClr val="183C34"/>
                </a:solidFill>
              </a:defRPr>
            </a:lvl7pPr>
            <a:lvl8pPr algn="ctr">
              <a:defRPr sz="1875">
                <a:solidFill>
                  <a:srgbClr val="183C34"/>
                </a:solidFill>
              </a:defRPr>
            </a:lvl8pPr>
            <a:lvl9pPr algn="ctr">
              <a:defRPr sz="1875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Python Agent Harness</a:t>
            </a:r>
          </a:p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RAG · guards · repair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59832-0751-426A-B65D-117D12C9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66875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E6"/>
          </a:solidFill>
          <a:ln xmlns:a="http://schemas.openxmlformats.org/drawingml/2006/main" w="9525">
            <a:solidFill>
              <a:srgbClr val="14715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3C34"/>
                </a:solidFill>
              </a:defRPr>
            </a:defPPr>
            <a:lvl1pPr algn="ctr">
              <a:defRPr sz="1875">
                <a:solidFill>
                  <a:srgbClr val="183C34"/>
                </a:solidFill>
              </a:defRPr>
            </a:lvl1pPr>
            <a:lvl2pPr algn="ctr">
              <a:defRPr sz="1875">
                <a:solidFill>
                  <a:srgbClr val="183C34"/>
                </a:solidFill>
              </a:defRPr>
            </a:lvl2pPr>
            <a:lvl3pPr algn="ctr">
              <a:defRPr sz="1875">
                <a:solidFill>
                  <a:srgbClr val="183C34"/>
                </a:solidFill>
              </a:defRPr>
            </a:lvl3pPr>
            <a:lvl4pPr algn="ctr">
              <a:defRPr sz="1875">
                <a:solidFill>
                  <a:srgbClr val="183C34"/>
                </a:solidFill>
              </a:defRPr>
            </a:lvl4pPr>
            <a:lvl5pPr algn="ctr">
              <a:defRPr sz="1875">
                <a:solidFill>
                  <a:srgbClr val="183C34"/>
                </a:solidFill>
              </a:defRPr>
            </a:lvl5pPr>
            <a:lvl6pPr algn="ctr">
              <a:defRPr sz="1875">
                <a:solidFill>
                  <a:srgbClr val="183C34"/>
                </a:solidFill>
              </a:defRPr>
            </a:lvl6pPr>
            <a:lvl7pPr algn="ctr">
              <a:defRPr sz="1875">
                <a:solidFill>
                  <a:srgbClr val="183C34"/>
                </a:solidFill>
              </a:defRPr>
            </a:lvl7pPr>
            <a:lvl8pPr algn="ctr">
              <a:defRPr sz="1875">
                <a:solidFill>
                  <a:srgbClr val="183C34"/>
                </a:solidFill>
              </a:defRPr>
            </a:lvl8pPr>
            <a:lvl9pPr algn="ctr">
              <a:defRPr sz="1875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Ollama · Qwen3.5 9B</a:t>
            </a:r>
          </a:p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สร้าง SQL /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D8E65-4C90-4F3C-81C7-4195CB2F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83C34"/>
                </a:solidFill>
              </a:defRPr>
            </a:defPPr>
            <a:lvl1pPr>
              <a:defRPr sz="2325" b="1">
                <a:solidFill>
                  <a:srgbClr val="183C34"/>
                </a:solidFill>
              </a:defRPr>
            </a:lvl1pPr>
            <a:lvl2pPr>
              <a:defRPr sz="2325" b="1">
                <a:solidFill>
                  <a:srgbClr val="183C34"/>
                </a:solidFill>
              </a:defRPr>
            </a:lvl2pPr>
            <a:lvl3pPr>
              <a:defRPr sz="2325" b="1">
                <a:solidFill>
                  <a:srgbClr val="183C34"/>
                </a:solidFill>
              </a:defRPr>
            </a:lvl3pPr>
            <a:lvl4pPr>
              <a:defRPr sz="2325" b="1">
                <a:solidFill>
                  <a:srgbClr val="183C34"/>
                </a:solidFill>
              </a:defRPr>
            </a:lvl4pPr>
            <a:lvl5pPr>
              <a:defRPr sz="2325" b="1">
                <a:solidFill>
                  <a:srgbClr val="183C34"/>
                </a:solidFill>
              </a:defRPr>
            </a:lvl5pPr>
            <a:lvl6pPr>
              <a:defRPr sz="2325" b="1">
                <a:solidFill>
                  <a:srgbClr val="183C34"/>
                </a:solidFill>
              </a:defRPr>
            </a:lvl6pPr>
            <a:lvl7pPr>
              <a:defRPr sz="2325" b="1">
                <a:solidFill>
                  <a:srgbClr val="183C34"/>
                </a:solidFill>
              </a:defRPr>
            </a:lvl7pPr>
            <a:lvl8pPr>
              <a:defRPr sz="2325" b="1">
                <a:solidFill>
                  <a:srgbClr val="183C34"/>
                </a:solidFill>
              </a:defRPr>
            </a:lvl8pPr>
            <a:lvl9pPr>
              <a:defRPr sz="2325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3C34"/>
                </a:solidFill>
              </a:defRPr>
            </a:pPr>
            <a:r>
              <a:rPr sz="2325" b="1">
                <a:solidFill>
                  <a:srgbClr val="183C34"/>
                </a:solidFill>
              </a:rPr>
              <a:t>Spark 4.1.3  →  Master + Workers 2 ตัว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F3006-23FC-43EB-991F-FDEAFDE1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83C34"/>
                </a:solidFill>
              </a:defRPr>
            </a:defPPr>
            <a:lvl1pPr>
              <a:defRPr sz="2325" b="1">
                <a:solidFill>
                  <a:srgbClr val="183C34"/>
                </a:solidFill>
              </a:defRPr>
            </a:lvl1pPr>
            <a:lvl2pPr>
              <a:defRPr sz="2325" b="1">
                <a:solidFill>
                  <a:srgbClr val="183C34"/>
                </a:solidFill>
              </a:defRPr>
            </a:lvl2pPr>
            <a:lvl3pPr>
              <a:defRPr sz="2325" b="1">
                <a:solidFill>
                  <a:srgbClr val="183C34"/>
                </a:solidFill>
              </a:defRPr>
            </a:lvl3pPr>
            <a:lvl4pPr>
              <a:defRPr sz="2325" b="1">
                <a:solidFill>
                  <a:srgbClr val="183C34"/>
                </a:solidFill>
              </a:defRPr>
            </a:lvl4pPr>
            <a:lvl5pPr>
              <a:defRPr sz="2325" b="1">
                <a:solidFill>
                  <a:srgbClr val="183C34"/>
                </a:solidFill>
              </a:defRPr>
            </a:lvl5pPr>
            <a:lvl6pPr>
              <a:defRPr sz="2325" b="1">
                <a:solidFill>
                  <a:srgbClr val="183C34"/>
                </a:solidFill>
              </a:defRPr>
            </a:lvl6pPr>
            <a:lvl7pPr>
              <a:defRPr sz="2325" b="1">
                <a:solidFill>
                  <a:srgbClr val="183C34"/>
                </a:solidFill>
              </a:defRPr>
            </a:lvl7pPr>
            <a:lvl8pPr>
              <a:defRPr sz="2325" b="1">
                <a:solidFill>
                  <a:srgbClr val="183C34"/>
                </a:solidFill>
              </a:defRPr>
            </a:lvl8pPr>
            <a:lvl9pPr>
              <a:defRPr sz="2325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3C34"/>
                </a:solidFill>
              </a:defRPr>
            </a:pPr>
            <a:r>
              <a:rPr sz="2325" b="1">
                <a:solidFill>
                  <a:srgbClr val="183C34"/>
                </a:solidFill>
              </a:rPr>
              <a:t>HDFS / Hadoop 3.4.1  →  NameNode + DataNodes 2 ตัว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A6EB3-9532-4745-97F8-788B67DA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D63"/>
                </a:solidFill>
              </a:defRPr>
            </a:defPPr>
            <a:lvl1pPr>
              <a:defRPr sz="2025" b="0">
                <a:solidFill>
                  <a:srgbClr val="526D63"/>
                </a:solidFill>
              </a:defRPr>
            </a:lvl1pPr>
            <a:lvl2pPr>
              <a:defRPr sz="2025" b="0">
                <a:solidFill>
                  <a:srgbClr val="526D63"/>
                </a:solidFill>
              </a:defRPr>
            </a:lvl2pPr>
            <a:lvl3pPr>
              <a:defRPr sz="2025" b="0">
                <a:solidFill>
                  <a:srgbClr val="526D63"/>
                </a:solidFill>
              </a:defRPr>
            </a:lvl3pPr>
            <a:lvl4pPr>
              <a:defRPr sz="2025" b="0">
                <a:solidFill>
                  <a:srgbClr val="526D63"/>
                </a:solidFill>
              </a:defRPr>
            </a:lvl4pPr>
            <a:lvl5pPr>
              <a:defRPr sz="2025" b="0">
                <a:solidFill>
                  <a:srgbClr val="526D63"/>
                </a:solidFill>
              </a:defRPr>
            </a:lvl5pPr>
            <a:lvl6pPr>
              <a:defRPr sz="2025" b="0">
                <a:solidFill>
                  <a:srgbClr val="526D63"/>
                </a:solidFill>
              </a:defRPr>
            </a:lvl6pPr>
            <a:lvl7pPr>
              <a:defRPr sz="2025" b="0">
                <a:solidFill>
                  <a:srgbClr val="526D63"/>
                </a:solidFill>
              </a:defRPr>
            </a:lvl7pPr>
            <a:lvl8pPr>
              <a:defRPr sz="2025" b="0">
                <a:solidFill>
                  <a:srgbClr val="526D63"/>
                </a:solidFill>
              </a:defRPr>
            </a:lvl8pPr>
            <a:lvl9pPr>
              <a:defRPr sz="2025" b="0">
                <a:solidFill>
                  <a:srgbClr val="526D6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D63"/>
                </a:solidFill>
              </a:defRPr>
            </a:pPr>
            <a:r>
              <a:rPr sz="2025" b="0">
                <a:solidFill>
                  <a:srgbClr val="526D63"/>
                </a:solidFill>
              </a:rPr>
              <a:t>Docker บนเครื่องเดียว · HDFS replication = 2</a:t>
            </a:r>
          </a:p>
          <a:p xmlns:a="http://schemas.openxmlformats.org/drawingml/2006/main">
            <a:pPr>
              <a:defRPr sz="2025" b="0">
                <a:solidFill>
                  <a:srgbClr val="526D63"/>
                </a:solidFill>
              </a:defRPr>
            </a:pPr>
            <a:r>
              <a:rPr sz="2025" b="0">
                <a:solidFill>
                  <a:srgbClr val="526D63"/>
                </a:solidFill>
              </a:rPr>
              <a:t>Custom Python harness; ไม่ได้ใช้ LangGraph หรือ OPA</a:t>
            </a:r>
          </a:p>
        </p:txBody>
      </p:sp>
    </p:spTree>
    <p:extLst>
      <p:ext uri="{BB962C8B-B14F-4D97-AF65-F5344CB8AC3E}">
        <p14:creationId xmlns:p14="http://schemas.microsoft.com/office/powerpoint/2010/main" val="12493786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9F3F6-AFFD-4B26-8D7C-2F4708BB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Workflow และ Agent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87E0A-06E3-4F3A-8277-F21CC19B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1  คำถาม → RAG → ตรวจข้อมูลและ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92A2F-54BE-4947-AC6E-7C4CB64A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2  สร้าง SQL → citations → AST / population contract →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0E75A-BDF1-4D09-924B-9AD3EC6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3  Spark รัน SQL → ตรวจผลบางเงื่อนไข → คืนตารางและ 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FC727-4484-4826-A715-7CAF4FA9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4  ถ้าถูกปฏิเสธหรือผิดพลาด → ให้แก้ รวมไม่เกิน 3 รอบ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8788C-AA48-4251-AC7F-6DF1DA56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ข้อมูลไม่พอ: ถามกลับ   |   ครบงบแก้: failed   |   RAG ค้นครั้งเดียว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3162699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20B62-7279-4C2D-BD21-7CF74B0A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Web application ที่เรียกใช้งานจริง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19B9E-F5BC-428B-9D3C-FAA43F97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เปิด localhost:8090 → ระบุคำถามและช่วงเวลา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4B4BE-8E0C-4AC4-849F-13993AAA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มีสถานะกำลังประมวลผล / ถามกลับ / ผิดพลาด / ตารางผลลัพธ์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47B15-078A-4650-BD4A-848FD332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เปิดดู SQL หลักฐาน การแก้ไข และ trace 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37A92-D7A7-4F87-A468-FF7524A4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ทดสอบจริง: จำนวน invoice ต.ค. 2011 = 2,040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786A0-BA50-4527-959E-D149DE58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แต่ละคำถามแยก context · รับทีละคำถาม · เป็น local application</a:t>
            </a:r>
          </a:p>
        </p:txBody>
      </p:sp>
    </p:spTree>
    <p:extLst>
      <p:ext uri="{BB962C8B-B14F-4D97-AF65-F5344CB8AC3E}">
        <p14:creationId xmlns:p14="http://schemas.microsoft.com/office/powerpoint/2010/main" val="4845282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923D2-8D45-4239-B590-961AD912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Harness: Knowledge และความหมายข้อมูล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1CC3B-461C-4360-8366-E1D550A048B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952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หัวข้อ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สิ่งที่มี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ข้อจำกัด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Data Dictionary / KM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schema, grain, metric,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Corpus ขนาดเล็ก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RAG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BM25 + ไทย/อังกฤษ + dependencies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ต้องวัดกับคำถามเพิ่ม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Ontology / mapping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คำธุรกิจเชื่อม metric/schema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ยังไม่มี formal ontology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207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00583-4AAD-44E1-B2B6-22A81EDD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Harness: Contracts, Policy และการแก้ไข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548FE-C7AD-4D26-BF0B-E5841468C909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หัวข้อ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สิ่งที่มี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ข้อจำกัด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Pre-tool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citations, AST, population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ไม่ครอบคลุมทุกความหมาย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Post-tool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NULL ID / fraction / row cap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ไม่ใช่ semantic grading เต็มรูปแบบ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Python rules + SQL guard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ยังไม่มี OPA / role-based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Self-correction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แก้ตาม error สูงสุด 3 รอบ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review ใช้โมเดลเดิม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160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BAD48-F146-4C4D-A607-A3AE56ED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Context engineering และ context rot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FFF8C-49F3-4860-BD58-EFAB39DC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เก็บหลักฐานและคำถามเดิมครบ พร้อม hash ตรวจสอบ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14AF3-08F6-4528-9D58-169D74C5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เก็บเฉพาะ SQL / citations / error ล่าสุด ไม่สะสมคำอธิบายเก่า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7CF60-87CA-477C-A862-424915A9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เพิ่มงบ input แบบประมาณ + บันทึก prompt_eval_count จาก Ollama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624F1-2A3C-4F20-86AF-597FD7FA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ทดสอบข้อความรบกวน 0 / 3,000 / 12,000 ตัวอักษร + สลับตำแหน่ง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787BE-F579-4B41-BEB6-1FF9EB52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ตัด background ที่ระบุว่าไม่จำเป็น · ไม่ตัดข้อความหลักฐานที่เลือกไว้</a:t>
            </a:r>
          </a:p>
        </p:txBody>
      </p:sp>
    </p:spTree>
    <p:extLst>
      <p:ext uri="{BB962C8B-B14F-4D97-AF65-F5344CB8AC3E}">
        <p14:creationId xmlns:p14="http://schemas.microsoft.com/office/powerpoint/2010/main" val="21058024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070C8-0E36-4B4A-B861-AEB7CA8C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การวัดผล: วัดอะไรและทำไม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1A363-7A19-444B-AE08-A1E625C7CDF9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มิติ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ตัววัด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จุดประสงค์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Retrieval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Recall@6, MRR@6, nDCG@6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หลักฐานครบ / ลำดับดี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คำตอบ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Spark rows เทียบ gold SQL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ผลลัพธ์ถูกต้อง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Grounding /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citations / clarification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ID จริง / ถามกลับถูก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ประสิทธิภาพ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p95 / calls / tokens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ต้นทุนและเวลารอ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95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4A6F1-E917-4976-ACC5-758B4A9C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ผล frozen v2.4: ผ่านเกณฑ์บนชุดใหม่ 20 ข้อ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04D4A-F0F4-49EB-9AA7-8E563711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Frozen v2.4 ก่อนเพิ่ม Context v2 · ไม่ใช่ holdout ของรุ่นปัจจุบัน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2F731-CAB7-45EB-AEE7-4454BFDA7D05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ตัววัด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ผลจริง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เกณฑ์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Recall / MRR / nDCG @6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100% / 0.892 / 0.893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95% / 0.85 / 0.80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ผล SQL และ clarification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20 / 20 ถูก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≥90%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Clarification / citation validity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100% / 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100% / 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p95 retrieval / warm query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16.69 ms / 5.43 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≤50 ms / ≤20 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512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CB4AE-F81B-4D91-9296-8FCFEA05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ผลทดสอบ และรอบที่ไม่ผ่าน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1D026-872B-40F4-B949-005AF150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ไม่ลดเกณฑ์ · รอบก่อนเผย retrieval และ reviewer failures ที่นำมาแก้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17F47-C178-4052-B24A-84206663637D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ชุดทดสอบที่รันจริง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ผล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การตีความ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Unit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31 ผ่าน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เพิ่ม context invariants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Exposed regression v5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20 / 20 ถูก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ใช้พัฒนา ไม่ใช่ชุดใหม่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Fresh combinations v6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20 / 20 ถูก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freeze ก่อนรัน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ก่อนแก้: v4 และ v5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18 / 20 แต่ละชุด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ไม่ผ่านทุก gate; เก็บผลไว้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692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FCB1E-1337-40F6-B198-8D0E8AE8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Context v2: ผล stress test ที่รันจริง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B6DA6-6FCE-4C00-8F3B-214F2C5E6749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2581275"/>
                <a:gridCol w="2581275"/>
              </a:tblGrid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42 รอบทดลอง / 3 โจทย์ใช้ซ้ำ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Managed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Unfiltered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คำตอบถูก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21 / 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8 / 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Budget stop ก่อนเรียกโมเดล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Budget stop ระหว่างแก้ 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Pipeline ไม่สำเร็จด้วยเหตุอื่น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เก็บ ID / text ของหลักฐานครบ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26A62-726C-44E7-ACBF-04226E47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3C34"/>
                </a:solidFill>
              </a:defRPr>
            </a:defPPr>
            <a:lvl1pPr>
              <a:defRPr sz="1800" b="1">
                <a:solidFill>
                  <a:srgbClr val="183C34"/>
                </a:solidFill>
              </a:defRPr>
            </a:lvl1pPr>
            <a:lvl2pPr>
              <a:defRPr sz="1800" b="1">
                <a:solidFill>
                  <a:srgbClr val="183C34"/>
                </a:solidFill>
              </a:defRPr>
            </a:lvl2pPr>
            <a:lvl3pPr>
              <a:defRPr sz="1800" b="1">
                <a:solidFill>
                  <a:srgbClr val="183C34"/>
                </a:solidFill>
              </a:defRPr>
            </a:lvl3pPr>
            <a:lvl4pPr>
              <a:defRPr sz="1800" b="1">
                <a:solidFill>
                  <a:srgbClr val="183C34"/>
                </a:solidFill>
              </a:defRPr>
            </a:lvl4pPr>
            <a:lvl5pPr>
              <a:defRPr sz="1800" b="1">
                <a:solidFill>
                  <a:srgbClr val="183C34"/>
                </a:solidFill>
              </a:defRPr>
            </a:lvl5pPr>
            <a:lvl6pPr>
              <a:defRPr sz="1800" b="1">
                <a:solidFill>
                  <a:srgbClr val="183C34"/>
                </a:solidFill>
              </a:defRPr>
            </a:lvl6pPr>
            <a:lvl7pPr>
              <a:defRPr sz="1800" b="1">
                <a:solidFill>
                  <a:srgbClr val="183C34"/>
                </a:solidFill>
              </a:defRPr>
            </a:lvl7pPr>
            <a:lvl8pPr>
              <a:defRPr sz="1800" b="1">
                <a:solidFill>
                  <a:srgbClr val="183C34"/>
                </a:solidFill>
              </a:defRPr>
            </a:lvl8pPr>
            <a:lvl9pPr>
              <a:defRPr sz="18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83C34"/>
                </a:solidFill>
              </a:defRPr>
            </a:pPr>
            <a:r>
              <a:rPr sz="1800" b="1">
                <a:solidFill>
                  <a:srgbClr val="183C34"/>
                </a:solidFill>
              </a:rPr>
              <a:t>Regression 20/20 · 3 managed packets ใช้ซ้ำ · ไม่พิสูจน์ context rot ทั่วไป</a:t>
            </a:r>
          </a:p>
        </p:txBody>
      </p:sp>
    </p:spTree>
    <p:extLst>
      <p:ext uri="{BB962C8B-B14F-4D97-AF65-F5344CB8AC3E}">
        <p14:creationId xmlns:p14="http://schemas.microsoft.com/office/powerpoint/2010/main" val="11397045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700BE-953F-4305-8D62-D94403FF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ข้อจำกัดและงานที่ยังต้องวัด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504F8-9320-4703-94BB-3C41829F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รันสำเร็จและ citation ถูก ไม่รับประกันความหมายถูกทุกครั้ง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FF608-B868-47C6-9312-09D06F2A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งบ token ยังประมาณ · prompt 2,188–2,895 tokens (window 8,192)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2F5F4-CA04-4FB2-A1A0-CA90BD1B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Corpus / benchmark เล็กและผู้พัฒนาสร้างเอง ต้องมี fresh cases เพิ่ม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D55D0-8659-4C3B-9748-34F03755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เครื่องเดียว ไม่มี authentication; cancellation เป็น best effort</a:t>
            </a:r>
          </a:p>
        </p:txBody>
      </p:sp>
    </p:spTree>
    <p:extLst>
      <p:ext uri="{BB962C8B-B14F-4D97-AF65-F5344CB8AC3E}">
        <p14:creationId xmlns:p14="http://schemas.microsoft.com/office/powerpoint/2010/main" val="20478613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30E5C-ACC7-47E9-A692-20CB62E1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การส่งมอบและการรันซ้ำ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9BE6B-B731-4BDD-B3FF-A73E6626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Source + Docker setup + data acquisition + evaluation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3D209-291A-41EF-B56F-9D43CAF0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เริ่ม cluster → build data → เปิด web UI → ถามและตรวจ trace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F2C12-7D90-4E36-BC22-93AEF49C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GitHub Public: NATTAPAT-LEUNGRUNGSAP/</a:t>
            </a:r>
          </a:p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customer-intelligence-agent-spark-hdfs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205E6-F702-453C-8D15-FDE6D50E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ก่อนส่ง: ทดสอบ data build จากเครื่องใหม่ และซ้อม live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E2DD7-BE7B-4660-B0FF-8D016F17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Public GitHub · Local web application · CI unit tests</a:t>
            </a:r>
          </a:p>
        </p:txBody>
      </p:sp>
    </p:spTree>
    <p:extLst>
      <p:ext uri="{BB962C8B-B14F-4D97-AF65-F5344CB8AC3E}">
        <p14:creationId xmlns:p14="http://schemas.microsoft.com/office/powerpoint/2010/main" val="904440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2026-10-26T08:19:35.3290000Z</dcterms:created>
  <dcterms:modified xsi:type="dcterms:W3CDTF">2026-10-26T08:19:35.3290000Z</dcterms:modified>
</coreProperties>
</file>