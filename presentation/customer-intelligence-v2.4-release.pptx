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ff5d6aca7a4bc5" /><Relationship Type="http://schemas.openxmlformats.org/officeDocument/2006/relationships/extended-properties" Target="/docProps/app.xml" Id="Rf87169a537014cd5" /><Relationship Type="http://schemas.openxmlformats.org/officeDocument/2006/relationships/officeDocument" Target="/ppt/presentation.xml" Id="R14895ade3bb648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8898efe0747a6"/>
  </p:sldMasterIdLst>
  <p:notesMasterIdLst>
    <p:notesMasterId xmlns:r="http://schemas.openxmlformats.org/officeDocument/2006/relationships" r:id="R3b2d701f6b014708"/>
  </p:notesMasterIdLst>
  <p:sldIdLst>
    <p:sldId xmlns:r="http://schemas.openxmlformats.org/officeDocument/2006/relationships" id="256" r:id="R11fedd2e822949e7"/>
    <p:sldId xmlns:r="http://schemas.openxmlformats.org/officeDocument/2006/relationships" id="257" r:id="R278b5c33e0a64693"/>
    <p:sldId xmlns:r="http://schemas.openxmlformats.org/officeDocument/2006/relationships" id="258" r:id="R86344ace3fab4ab0"/>
    <p:sldId xmlns:r="http://schemas.openxmlformats.org/officeDocument/2006/relationships" id="259" r:id="Rd8849be1f61c4e89"/>
    <p:sldId xmlns:r="http://schemas.openxmlformats.org/officeDocument/2006/relationships" id="260" r:id="Rcb7b2aad250a4c82"/>
    <p:sldId xmlns:r="http://schemas.openxmlformats.org/officeDocument/2006/relationships" id="261" r:id="R09c181968b6b4189"/>
    <p:sldId xmlns:r="http://schemas.openxmlformats.org/officeDocument/2006/relationships" id="262" r:id="R8241de167ad64c72"/>
    <p:sldId xmlns:r="http://schemas.openxmlformats.org/officeDocument/2006/relationships" id="263" r:id="Rb81c3914d8264120"/>
    <p:sldId xmlns:r="http://schemas.openxmlformats.org/officeDocument/2006/relationships" id="264" r:id="R7bf9e91a941a4098"/>
    <p:sldId xmlns:r="http://schemas.openxmlformats.org/officeDocument/2006/relationships" id="265" r:id="R629c411b5a744a9b"/>
    <p:sldId xmlns:r="http://schemas.openxmlformats.org/officeDocument/2006/relationships" id="266" r:id="Rb18d23b6de1c4b33"/>
    <p:sldId xmlns:r="http://schemas.openxmlformats.org/officeDocument/2006/relationships" id="267" r:id="Rfb51635b24b54197"/>
    <p:sldId xmlns:r="http://schemas.openxmlformats.org/officeDocument/2006/relationships" id="268" r:id="Rfa866e9b3613460c"/>
    <p:sldId xmlns:r="http://schemas.openxmlformats.org/officeDocument/2006/relationships" id="269" r:id="Red0ff9b22a48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77a54920143f6" /><Relationship Type="http://schemas.openxmlformats.org/officeDocument/2006/relationships/slideMaster" Target="/ppt/slideMasters/slideMaster1.xml" Id="R9748898efe0747a6" /><Relationship Type="http://schemas.openxmlformats.org/officeDocument/2006/relationships/notesMaster" Target="/ppt/notesMasters/notesMaster1.xml" Id="R3b2d701f6b014708" /><Relationship Type="http://schemas.openxmlformats.org/officeDocument/2006/relationships/presProps" Target="/ppt/presProps.xml" Id="R7cec494f6e194d77" /><Relationship Type="http://schemas.openxmlformats.org/officeDocument/2006/relationships/tableStyles" Target="/ppt/tableStyles.xml" Id="R441f7ce1fc84451c" /><Relationship Type="http://schemas.openxmlformats.org/officeDocument/2006/relationships/slide" Target="/ppt/slides/slide1.xml" Id="R11fedd2e822949e7" /><Relationship Type="http://schemas.openxmlformats.org/officeDocument/2006/relationships/slide" Target="/ppt/slides/slide2.xml" Id="R278b5c33e0a64693" /><Relationship Type="http://schemas.openxmlformats.org/officeDocument/2006/relationships/slide" Target="/ppt/slides/slide3.xml" Id="R86344ace3fab4ab0" /><Relationship Type="http://schemas.openxmlformats.org/officeDocument/2006/relationships/slide" Target="/ppt/slides/slide4.xml" Id="Rd8849be1f61c4e89" /><Relationship Type="http://schemas.openxmlformats.org/officeDocument/2006/relationships/slide" Target="/ppt/slides/slide5.xml" Id="Rcb7b2aad250a4c82" /><Relationship Type="http://schemas.openxmlformats.org/officeDocument/2006/relationships/slide" Target="/ppt/slides/slide6.xml" Id="R09c181968b6b4189" /><Relationship Type="http://schemas.openxmlformats.org/officeDocument/2006/relationships/slide" Target="/ppt/slides/slide7.xml" Id="R8241de167ad64c72" /><Relationship Type="http://schemas.openxmlformats.org/officeDocument/2006/relationships/slide" Target="/ppt/slides/slide8.xml" Id="Rb81c3914d8264120" /><Relationship Type="http://schemas.openxmlformats.org/officeDocument/2006/relationships/slide" Target="/ppt/slides/slide9.xml" Id="R7bf9e91a941a4098" /><Relationship Type="http://schemas.openxmlformats.org/officeDocument/2006/relationships/slide" Target="/ppt/slides/slide10.xml" Id="R629c411b5a744a9b" /><Relationship Type="http://schemas.openxmlformats.org/officeDocument/2006/relationships/slide" Target="/ppt/slides/slide11.xml" Id="Rb18d23b6de1c4b33" /><Relationship Type="http://schemas.openxmlformats.org/officeDocument/2006/relationships/slide" Target="/ppt/slides/slide12.xml" Id="Rfb51635b24b54197" /><Relationship Type="http://schemas.openxmlformats.org/officeDocument/2006/relationships/slide" Target="/ppt/slides/slide13.xml" Id="Rfa866e9b3613460c" /><Relationship Type="http://schemas.openxmlformats.org/officeDocument/2006/relationships/slide" Target="/ppt/slides/slide14.xml" Id="Red0ff9b22a48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3f4fd960a49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2b18da106e44f4" /><Relationship Type="http://schemas.openxmlformats.org/officeDocument/2006/relationships/notesMaster" Target="/ppt/notesMasters/notesMaster1.xml" Id="Rb4934c377f61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b4aae07e3d443e" /><Relationship Type="http://schemas.openxmlformats.org/officeDocument/2006/relationships/notesMaster" Target="/ppt/notesMasters/notesMaster1.xml" Id="Re912b8811f5f4d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49b6584a9f419d" /><Relationship Type="http://schemas.openxmlformats.org/officeDocument/2006/relationships/notesMaster" Target="/ppt/notesMasters/notesMaster1.xml" Id="Rb9a14244e5f643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18b6c26da545a5" /><Relationship Type="http://schemas.openxmlformats.org/officeDocument/2006/relationships/notesMaster" Target="/ppt/notesMasters/notesMaster1.xml" Id="R9aaa02cb1dc84d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65c358f5a34eed" /><Relationship Type="http://schemas.openxmlformats.org/officeDocument/2006/relationships/notesMaster" Target="/ppt/notesMasters/notesMaster1.xml" Id="Reecce389f731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1778d139714815" /><Relationship Type="http://schemas.openxmlformats.org/officeDocument/2006/relationships/notesMaster" Target="/ppt/notesMasters/notesMaster1.xml" Id="Re915215eb39f4d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c0a6409bde4240" /><Relationship Type="http://schemas.openxmlformats.org/officeDocument/2006/relationships/notesMaster" Target="/ppt/notesMasters/notesMaster1.xml" Id="Rb86267facc3842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743a67fd504b85" /><Relationship Type="http://schemas.openxmlformats.org/officeDocument/2006/relationships/notesMaster" Target="/ppt/notesMasters/notesMaster1.xml" Id="R5d0a477b0cdd49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f9e952639d45ee" /><Relationship Type="http://schemas.openxmlformats.org/officeDocument/2006/relationships/notesMaster" Target="/ppt/notesMasters/notesMaster1.xml" Id="Rbd36f052e21f44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f062fe73d3439f" /><Relationship Type="http://schemas.openxmlformats.org/officeDocument/2006/relationships/notesMaster" Target="/ppt/notesMasters/notesMaster1.xml" Id="R9703ac68c0f74b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5539af22e44e91" /><Relationship Type="http://schemas.openxmlformats.org/officeDocument/2006/relationships/notesMaster" Target="/ppt/notesMasters/notesMaster1.xml" Id="R3d8d57d0abf745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72a697f1a04bf5" /><Relationship Type="http://schemas.openxmlformats.org/officeDocument/2006/relationships/notesMaster" Target="/ppt/notesMasters/notesMaster1.xml" Id="R9189082af3e742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422d715a3a43f6" /><Relationship Type="http://schemas.openxmlformats.org/officeDocument/2006/relationships/notesMaster" Target="/ppt/notesMasters/notesMaster1.xml" Id="Rd510d4c7f4ee4d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2afb2422b94a59" /><Relationship Type="http://schemas.openxmlformats.org/officeDocument/2006/relationships/notesMaster" Target="/ppt/notesMasters/notesMaster1.xml" Id="R0e531ad24b884b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reports/DELIVERY_REPORT.md. Final current results are from the frozen v2.4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reports/STATUS.md.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reports/build-c81fa72c3c174a96bf8c03195b9e6f5e.json; https://archive.ics.uci.edu/dataset/502/online+retail+ii.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compose.yaml; compose.web.yaml; jobs/web_app.py; reports/ARCHITECTURE.md.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jobs/agent.py; jobs/result_contracts.py; jobs/query_runtime.py.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jobs/web_app.py; web/; reports/web-first-integration.json.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knowledge/; jobs/retrieval.py.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jobs/agent.py; jobs/result_contracts.py; jobs/sql_guard.py.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jobs/context_budget.py; jobs/verify_iteration.py; https://www.anthropic.com/engineering/effective-context-engineering-for-ai-agents.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jobs/evaluate.py; jobs/rag_metrics.py; evaluation/quality_gates_v2.json; Citation validity is structural across traces; failed answers remain wrong in accuracy. Final v6 has zero failed/error traces..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reports/DELIVERY_REPORT.md; reports/delivery-quality-summary.json; reports/freeze-rag-v2.4.json.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reports/DELIVERY_REPORT.md; reports/iteration-regression-0fce36716fa14affb29463bc3284a808.json; reports/rag-v2.4-regression-v5-968f0bf891c445ae8ee598c68d1a93e0.json; reports/rag-v2.4-holdout-d2b7e5379bbf4781941a21125feb7039.json.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reports/STATUS.md. Scores apply only to the stated version. Author-generated supported task combinations do not establish domain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https://github.com/NATTAPAT-LEUNGRUNGSAP/customer-intelligence-agent-spark-hdfs ; successful GitHub Actions run https://github.com/NATTAPAT-LEUNGRUNGSAP/customer-intelligence-agent-spark-hdfs/actions/runs/40284829764 . Public repository verified; local Git main pushed; CI unit job completed successfully. This is not a hosted web application: the application runs locally at localhost:8090.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cc5b587234a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79dcfdfd242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d2811693048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4ff46c1db48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0d5747e0f45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90dbb37ec4e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3e020bdb9a4b49" /><Relationship Type="http://schemas.openxmlformats.org/officeDocument/2006/relationships/slideLayout" Target="/ppt/slideLayouts/slideLayout1.xml" Id="Rd75b8b0247404cd2" /><Relationship Type="http://schemas.openxmlformats.org/officeDocument/2006/relationships/slideLayout" Target="/ppt/slideLayouts/slideLayout2.xml" Id="R1a90de7fb0a74763" /><Relationship Type="http://schemas.openxmlformats.org/officeDocument/2006/relationships/slideLayout" Target="/ppt/slideLayouts/slideLayout3.xml" Id="Rb185d7655297466a" /><Relationship Type="http://schemas.openxmlformats.org/officeDocument/2006/relationships/slideLayout" Target="/ppt/slideLayouts/slideLayout4.xml" Id="R8589127737be4e97" /><Relationship Type="http://schemas.openxmlformats.org/officeDocument/2006/relationships/slideLayout" Target="/ppt/slideLayouts/slideLayout5.xml" Id="Rbaa034ea9f874808" /><Relationship Type="http://schemas.openxmlformats.org/officeDocument/2006/relationships/slideLayout" Target="/ppt/slideLayouts/slideLayout6.xml" Id="Reae9f4802fa541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5b8b0247404cd2"/>
    <p:sldLayoutId xmlns:r="http://schemas.openxmlformats.org/officeDocument/2006/relationships" id="2147483650" r:id="R1a90de7fb0a74763"/>
    <p:sldLayoutId xmlns:r="http://schemas.openxmlformats.org/officeDocument/2006/relationships" id="2147483651" r:id="Rb185d7655297466a"/>
    <p:sldLayoutId xmlns:r="http://schemas.openxmlformats.org/officeDocument/2006/relationships" id="2147483652" r:id="R8589127737be4e97"/>
    <p:sldLayoutId xmlns:r="http://schemas.openxmlformats.org/officeDocument/2006/relationships" id="2147483653" r:id="Rbaa034ea9f874808"/>
    <p:sldLayoutId xmlns:r="http://schemas.openxmlformats.org/officeDocument/2006/relationships" id="2147483654" r:id="Reae9f4802fa541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275bd16024849" /><Relationship Type="http://schemas.openxmlformats.org/officeDocument/2006/relationships/notesSlide" Target="/ppt/notesSlides/notesSlide1.xml" Id="Rbf217a2912424b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baaf54c574c51" /><Relationship Type="http://schemas.openxmlformats.org/officeDocument/2006/relationships/notesSlide" Target="/ppt/notesSlides/notesSlide2.xml" Id="Rd4aa9b34ed5745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8c91ff3ff4647" /><Relationship Type="http://schemas.openxmlformats.org/officeDocument/2006/relationships/notesSlide" Target="/ppt/notesSlides/notesSlide3.xml" Id="R8fceb97c280a4a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2f739cfc34c72" /><Relationship Type="http://schemas.openxmlformats.org/officeDocument/2006/relationships/notesSlide" Target="/ppt/notesSlides/notesSlide4.xml" Id="R49f37d36515c4d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5a81fdf154d89" /><Relationship Type="http://schemas.openxmlformats.org/officeDocument/2006/relationships/notesSlide" Target="/ppt/notesSlides/notesSlide5.xml" Id="R2c83da833f7c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5086d5ea44e37" /><Relationship Type="http://schemas.openxmlformats.org/officeDocument/2006/relationships/notesSlide" Target="/ppt/notesSlides/notesSlide6.xml" Id="Re65373ef6a4b49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79b04dc1249fd" /><Relationship Type="http://schemas.openxmlformats.org/officeDocument/2006/relationships/notesSlide" Target="/ppt/notesSlides/notesSlide7.xml" Id="R4d2e5fd303594b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e27e847ca4927" /><Relationship Type="http://schemas.openxmlformats.org/officeDocument/2006/relationships/notesSlide" Target="/ppt/notesSlides/notesSlide8.xml" Id="R70c8e425b9f04c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6c38c2e1b4ffd" /><Relationship Type="http://schemas.openxmlformats.org/officeDocument/2006/relationships/notesSlide" Target="/ppt/notesSlides/notesSlide9.xml" Id="R774c30ae03cb4e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959ac5f6144502" /><Relationship Type="http://schemas.openxmlformats.org/officeDocument/2006/relationships/notesSlide" Target="/ppt/notesSlides/notesSlide10.xml" Id="Rf410b4de354444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0bc6087b34f49" /><Relationship Type="http://schemas.openxmlformats.org/officeDocument/2006/relationships/notesSlide" Target="/ppt/notesSlides/notesSlide11.xml" Id="Rfb7f5db8931d4e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8f8fb54a34229" /><Relationship Type="http://schemas.openxmlformats.org/officeDocument/2006/relationships/notesSlide" Target="/ppt/notesSlides/notesSlide12.xml" Id="R52f9b412d9794d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78367933143b1" /><Relationship Type="http://schemas.openxmlformats.org/officeDocument/2006/relationships/notesSlide" Target="/ppt/notesSlides/notesSlide13.xml" Id="Rc19e7279c77844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e790c74f9457c" /><Relationship Type="http://schemas.openxmlformats.org/officeDocument/2006/relationships/notesSlide" Target="/ppt/notesSlides/notesSlide14.xml" Id="R7bb86e1936fb4a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5CAC-3E46-4D4F-B856-2278BB57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83C34"/>
                </a:solidFill>
              </a:defRPr>
            </a:defPPr>
            <a:lvl1pPr>
              <a:defRPr sz="4200" b="1">
                <a:solidFill>
                  <a:srgbClr val="183C34"/>
                </a:solidFill>
              </a:defRPr>
            </a:lvl1pPr>
            <a:lvl2pPr>
              <a:defRPr sz="4200" b="1">
                <a:solidFill>
                  <a:srgbClr val="183C34"/>
                </a:solidFill>
              </a:defRPr>
            </a:lvl2pPr>
            <a:lvl3pPr>
              <a:defRPr sz="4200" b="1">
                <a:solidFill>
                  <a:srgbClr val="183C34"/>
                </a:solidFill>
              </a:defRPr>
            </a:lvl3pPr>
            <a:lvl4pPr>
              <a:defRPr sz="4200" b="1">
                <a:solidFill>
                  <a:srgbClr val="183C34"/>
                </a:solidFill>
              </a:defRPr>
            </a:lvl4pPr>
            <a:lvl5pPr>
              <a:defRPr sz="4200" b="1">
                <a:solidFill>
                  <a:srgbClr val="183C34"/>
                </a:solidFill>
              </a:defRPr>
            </a:lvl5pPr>
            <a:lvl6pPr>
              <a:defRPr sz="4200" b="1">
                <a:solidFill>
                  <a:srgbClr val="183C34"/>
                </a:solidFill>
              </a:defRPr>
            </a:lvl6pPr>
            <a:lvl7pPr>
              <a:defRPr sz="4200" b="1">
                <a:solidFill>
                  <a:srgbClr val="183C34"/>
                </a:solidFill>
              </a:defRPr>
            </a:lvl7pPr>
            <a:lvl8pPr>
              <a:defRPr sz="4200" b="1">
                <a:solidFill>
                  <a:srgbClr val="183C34"/>
                </a:solidFill>
              </a:defRPr>
            </a:lvl8pPr>
            <a:lvl9pPr>
              <a:defRPr sz="42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83C34"/>
                </a:solidFill>
              </a:defRPr>
            </a:pPr>
            <a:r>
              <a:rPr sz="4200" b="1">
                <a:solidFill>
                  <a:srgbClr val="183C34"/>
                </a:solidFill>
              </a:rPr>
              <a:t>Customer Intelligence Agent</a:t>
            </a:r>
          </a:p>
          <a:p xmlns:a="http://schemas.openxmlformats.org/drawingml/2006/main">
            <a:pPr>
              <a:defRPr sz="4200" b="1">
                <a:solidFill>
                  <a:srgbClr val="183C34"/>
                </a:solidFill>
              </a:defRPr>
            </a:pPr>
            <a:r>
              <a:rPr sz="4200" b="1">
                <a:solidFill>
                  <a:srgbClr val="183C34"/>
                </a:solidFill>
              </a:rPr>
              <a:t>with Spark &amp; HDFS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80BC-89CB-472D-8A9A-F519040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42665B"/>
                </a:solidFill>
              </a:defRPr>
            </a:defPPr>
            <a:lvl1pPr>
              <a:defRPr sz="2100" b="0">
                <a:solidFill>
                  <a:srgbClr val="42665B"/>
                </a:solidFill>
              </a:defRPr>
            </a:lvl1pPr>
            <a:lvl2pPr>
              <a:defRPr sz="2100" b="0">
                <a:solidFill>
                  <a:srgbClr val="42665B"/>
                </a:solidFill>
              </a:defRPr>
            </a:lvl2pPr>
            <a:lvl3pPr>
              <a:defRPr sz="2100" b="0">
                <a:solidFill>
                  <a:srgbClr val="42665B"/>
                </a:solidFill>
              </a:defRPr>
            </a:lvl3pPr>
            <a:lvl4pPr>
              <a:defRPr sz="2100" b="0">
                <a:solidFill>
                  <a:srgbClr val="42665B"/>
                </a:solidFill>
              </a:defRPr>
            </a:lvl4pPr>
            <a:lvl5pPr>
              <a:defRPr sz="2100" b="0">
                <a:solidFill>
                  <a:srgbClr val="42665B"/>
                </a:solidFill>
              </a:defRPr>
            </a:lvl5pPr>
            <a:lvl6pPr>
              <a:defRPr sz="2100" b="0">
                <a:solidFill>
                  <a:srgbClr val="42665B"/>
                </a:solidFill>
              </a:defRPr>
            </a:lvl6pPr>
            <a:lvl7pPr>
              <a:defRPr sz="2100" b="0">
                <a:solidFill>
                  <a:srgbClr val="42665B"/>
                </a:solidFill>
              </a:defRPr>
            </a:lvl7pPr>
            <a:lvl8pPr>
              <a:defRPr sz="2100" b="0">
                <a:solidFill>
                  <a:srgbClr val="42665B"/>
                </a:solidFill>
              </a:defRPr>
            </a:lvl8pPr>
            <a:lvl9pPr>
              <a:defRPr sz="2100" b="0">
                <a:solidFill>
                  <a:srgbClr val="42665B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ถามข้อมูลลูกค้าด้วยภาษาธรรมชาติ</a:t>
            </a:r>
          </a:p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RAG · SQL generation · Guarded Spark execution</a:t>
            </a:r>
          </a:p>
          <a:p xmlns:a="http://schemas.openxmlformats.org/drawingml/2006/main">
            <a:pPr>
              <a:defRPr sz="2100" b="0">
                <a:solidFill>
                  <a:srgbClr val="42665B"/>
                </a:solidFill>
              </a:defRPr>
            </a:pPr>
            <a:r>
              <a:rPr sz="2100" b="0">
                <a:solidFill>
                  <a:srgbClr val="42665B"/>
                </a:solidFill>
              </a:rPr>
              <a:t>26 ตุลาคม 2026 | v2.4</a:t>
            </a:r>
          </a:p>
        </p:txBody>
      </p:sp>
    </p:spTree>
    <p:extLst>
      <p:ext uri="{BB962C8B-B14F-4D97-AF65-F5344CB8AC3E}">
        <p14:creationId xmlns:p14="http://schemas.microsoft.com/office/powerpoint/2010/main" val="1457879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08662-7DD4-45F3-BE10-D63C95C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โปรเจกต์ทำอะไร และช่วยเรื่องอะไร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48C40-3ACF-4691-94DC-C3FCDDB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ผู้ใช้ถามยอดขาย คำสั่งซื้อ และกลุ่มลูกค้าเป็นภาษาธรรมชาติ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1DC06-A6AE-4914-B140-996E882B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Agent ค้นนิยามธุรกิจ แล้วสร้าง Spark SQL เพื่ออ่านข้อมูลจริง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52596-D3D3-42C0-BA76-34DC339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แสดงผลพร้อม SQL และหลักฐาน ให้ผู้ใช้ตรวจสอบต่อได้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A904E-0319-4A3F-95AB-D698E4A6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ยังไม่ได้วัดผลว่าประหยัดเวลาหรือเพิ่มรายได้เท่าไร</a:t>
            </a:r>
          </a:p>
        </p:txBody>
      </p:sp>
    </p:spTree>
    <p:extLst>
      <p:ext uri="{BB962C8B-B14F-4D97-AF65-F5344CB8AC3E}">
        <p14:creationId xmlns:p14="http://schemas.microsoft.com/office/powerpoint/2010/main" val="1695832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E1E92-55DD-41AA-8F83-FF57E4F8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ข้อมูลจริงและตารางวิเคราะห์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7DFE-C655-41C2-A8ED-325FA7A7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ข้อมูล 2009–2011 · Snapshot 2011-12-01 · หน้าต่างลูกค้า 180 วัน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ABB3F-63A1-4253-9C62-908B4FD0F008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952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ตาราง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ระดับข้อมูล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จำนวนแถว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sales_lines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รายการสินค้าเดิม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1,067,371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orders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หนึ่ง completed-sale invoice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40,077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customer_summary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identified customer / snapshot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3,450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5145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3A584-2CA0-48A8-BEA2-68757A5A38B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53350" y="22860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15B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2402C-D589-4CDC-9B45-64F775D975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52875" y="228600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715B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9168C-4DC2-46FF-AC73-269BCD8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Architecture และเทคโนโลยี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20DB9-906B-49B6-AD5D-4835C5C2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คำถามและตารางผลลัพธ์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A228A-6BAA-4F16-9BF5-A8DF50C2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Python Agent Harness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RAG · guards · repair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59832-0751-426A-B65D-117D12C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66875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6"/>
          </a:solidFill>
          <a:ln xmlns:a="http://schemas.openxmlformats.org/drawingml/2006/main" w="9525">
            <a:solidFill>
              <a:srgbClr val="14715B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83C34"/>
                </a:solidFill>
              </a:defRPr>
            </a:defPPr>
            <a:lvl1pPr algn="ctr">
              <a:defRPr sz="1875">
                <a:solidFill>
                  <a:srgbClr val="183C34"/>
                </a:solidFill>
              </a:defRPr>
            </a:lvl1pPr>
            <a:lvl2pPr algn="ctr">
              <a:defRPr sz="1875">
                <a:solidFill>
                  <a:srgbClr val="183C34"/>
                </a:solidFill>
              </a:defRPr>
            </a:lvl2pPr>
            <a:lvl3pPr algn="ctr">
              <a:defRPr sz="1875">
                <a:solidFill>
                  <a:srgbClr val="183C34"/>
                </a:solidFill>
              </a:defRPr>
            </a:lvl3pPr>
            <a:lvl4pPr algn="ctr">
              <a:defRPr sz="1875">
                <a:solidFill>
                  <a:srgbClr val="183C34"/>
                </a:solidFill>
              </a:defRPr>
            </a:lvl4pPr>
            <a:lvl5pPr algn="ctr">
              <a:defRPr sz="1875">
                <a:solidFill>
                  <a:srgbClr val="183C34"/>
                </a:solidFill>
              </a:defRPr>
            </a:lvl5pPr>
            <a:lvl6pPr algn="ctr">
              <a:defRPr sz="1875">
                <a:solidFill>
                  <a:srgbClr val="183C34"/>
                </a:solidFill>
              </a:defRPr>
            </a:lvl6pPr>
            <a:lvl7pPr algn="ctr">
              <a:defRPr sz="1875">
                <a:solidFill>
                  <a:srgbClr val="183C34"/>
                </a:solidFill>
              </a:defRPr>
            </a:lvl7pPr>
            <a:lvl8pPr algn="ctr">
              <a:defRPr sz="1875">
                <a:solidFill>
                  <a:srgbClr val="183C34"/>
                </a:solidFill>
              </a:defRPr>
            </a:lvl8pPr>
            <a:lvl9pPr algn="ctr">
              <a:defRPr sz="1875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Ollama · Qwen3.5 9B</a:t>
            </a:r>
          </a:p>
          <a:p xmlns:a="http://schemas.openxmlformats.org/drawingml/2006/main">
            <a:pPr algn="ctr">
              <a:defRPr sz="1875">
                <a:solidFill>
                  <a:srgbClr val="183C34"/>
                </a:solidFill>
              </a:defRPr>
            </a:pPr>
            <a:r>
              <a:rPr sz="1875">
                <a:solidFill>
                  <a:srgbClr val="183C34"/>
                </a:solidFill>
              </a:rPr>
              <a:t>สร้าง SQL /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D8E65-4C90-4F3C-81C7-4195CB2F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C34"/>
                </a:solidFill>
              </a:defRPr>
            </a:defPPr>
            <a:lvl1pPr>
              <a:defRPr sz="2325" b="1">
                <a:solidFill>
                  <a:srgbClr val="183C34"/>
                </a:solidFill>
              </a:defRPr>
            </a:lvl1pPr>
            <a:lvl2pPr>
              <a:defRPr sz="2325" b="1">
                <a:solidFill>
                  <a:srgbClr val="183C34"/>
                </a:solidFill>
              </a:defRPr>
            </a:lvl2pPr>
            <a:lvl3pPr>
              <a:defRPr sz="2325" b="1">
                <a:solidFill>
                  <a:srgbClr val="183C34"/>
                </a:solidFill>
              </a:defRPr>
            </a:lvl3pPr>
            <a:lvl4pPr>
              <a:defRPr sz="2325" b="1">
                <a:solidFill>
                  <a:srgbClr val="183C34"/>
                </a:solidFill>
              </a:defRPr>
            </a:lvl4pPr>
            <a:lvl5pPr>
              <a:defRPr sz="2325" b="1">
                <a:solidFill>
                  <a:srgbClr val="183C34"/>
                </a:solidFill>
              </a:defRPr>
            </a:lvl5pPr>
            <a:lvl6pPr>
              <a:defRPr sz="2325" b="1">
                <a:solidFill>
                  <a:srgbClr val="183C34"/>
                </a:solidFill>
              </a:defRPr>
            </a:lvl6pPr>
            <a:lvl7pPr>
              <a:defRPr sz="2325" b="1">
                <a:solidFill>
                  <a:srgbClr val="183C34"/>
                </a:solidFill>
              </a:defRPr>
            </a:lvl7pPr>
            <a:lvl8pPr>
              <a:defRPr sz="2325" b="1">
                <a:solidFill>
                  <a:srgbClr val="183C34"/>
                </a:solidFill>
              </a:defRPr>
            </a:lvl8pPr>
            <a:lvl9pPr>
              <a:defRPr sz="2325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C34"/>
                </a:solidFill>
              </a:defRPr>
            </a:pPr>
            <a:r>
              <a:rPr sz="2325" b="1">
                <a:solidFill>
                  <a:srgbClr val="183C34"/>
                </a:solidFill>
              </a:rPr>
              <a:t>Spark 4.1.3  →  Master + Workers 2 ตัว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F3006-23FC-43EB-991F-FDEAFDE1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3C34"/>
                </a:solidFill>
              </a:defRPr>
            </a:defPPr>
            <a:lvl1pPr>
              <a:defRPr sz="2325" b="1">
                <a:solidFill>
                  <a:srgbClr val="183C34"/>
                </a:solidFill>
              </a:defRPr>
            </a:lvl1pPr>
            <a:lvl2pPr>
              <a:defRPr sz="2325" b="1">
                <a:solidFill>
                  <a:srgbClr val="183C34"/>
                </a:solidFill>
              </a:defRPr>
            </a:lvl2pPr>
            <a:lvl3pPr>
              <a:defRPr sz="2325" b="1">
                <a:solidFill>
                  <a:srgbClr val="183C34"/>
                </a:solidFill>
              </a:defRPr>
            </a:lvl3pPr>
            <a:lvl4pPr>
              <a:defRPr sz="2325" b="1">
                <a:solidFill>
                  <a:srgbClr val="183C34"/>
                </a:solidFill>
              </a:defRPr>
            </a:lvl4pPr>
            <a:lvl5pPr>
              <a:defRPr sz="2325" b="1">
                <a:solidFill>
                  <a:srgbClr val="183C34"/>
                </a:solidFill>
              </a:defRPr>
            </a:lvl5pPr>
            <a:lvl6pPr>
              <a:defRPr sz="2325" b="1">
                <a:solidFill>
                  <a:srgbClr val="183C34"/>
                </a:solidFill>
              </a:defRPr>
            </a:lvl6pPr>
            <a:lvl7pPr>
              <a:defRPr sz="2325" b="1">
                <a:solidFill>
                  <a:srgbClr val="183C34"/>
                </a:solidFill>
              </a:defRPr>
            </a:lvl7pPr>
            <a:lvl8pPr>
              <a:defRPr sz="2325" b="1">
                <a:solidFill>
                  <a:srgbClr val="183C34"/>
                </a:solidFill>
              </a:defRPr>
            </a:lvl8pPr>
            <a:lvl9pPr>
              <a:defRPr sz="2325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C34"/>
                </a:solidFill>
              </a:defRPr>
            </a:pPr>
            <a:r>
              <a:rPr sz="2325" b="1">
                <a:solidFill>
                  <a:srgbClr val="183C34"/>
                </a:solidFill>
              </a:rPr>
              <a:t>HDFS / Hadoop 3.4.1  →  NameNode + DataNodes 2 ตัว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6EB3-9532-4745-97F8-788B67DA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D63"/>
                </a:solidFill>
              </a:defRPr>
            </a:defPPr>
            <a:lvl1pPr>
              <a:defRPr sz="2025" b="0">
                <a:solidFill>
                  <a:srgbClr val="526D63"/>
                </a:solidFill>
              </a:defRPr>
            </a:lvl1pPr>
            <a:lvl2pPr>
              <a:defRPr sz="2025" b="0">
                <a:solidFill>
                  <a:srgbClr val="526D63"/>
                </a:solidFill>
              </a:defRPr>
            </a:lvl2pPr>
            <a:lvl3pPr>
              <a:defRPr sz="2025" b="0">
                <a:solidFill>
                  <a:srgbClr val="526D63"/>
                </a:solidFill>
              </a:defRPr>
            </a:lvl3pPr>
            <a:lvl4pPr>
              <a:defRPr sz="2025" b="0">
                <a:solidFill>
                  <a:srgbClr val="526D63"/>
                </a:solidFill>
              </a:defRPr>
            </a:lvl4pPr>
            <a:lvl5pPr>
              <a:defRPr sz="2025" b="0">
                <a:solidFill>
                  <a:srgbClr val="526D63"/>
                </a:solidFill>
              </a:defRPr>
            </a:lvl5pPr>
            <a:lvl6pPr>
              <a:defRPr sz="2025" b="0">
                <a:solidFill>
                  <a:srgbClr val="526D63"/>
                </a:solidFill>
              </a:defRPr>
            </a:lvl6pPr>
            <a:lvl7pPr>
              <a:defRPr sz="2025" b="0">
                <a:solidFill>
                  <a:srgbClr val="526D63"/>
                </a:solidFill>
              </a:defRPr>
            </a:lvl7pPr>
            <a:lvl8pPr>
              <a:defRPr sz="2025" b="0">
                <a:solidFill>
                  <a:srgbClr val="526D63"/>
                </a:solidFill>
              </a:defRPr>
            </a:lvl8pPr>
            <a:lvl9pPr>
              <a:defRPr sz="2025" b="0">
                <a:solidFill>
                  <a:srgbClr val="526D63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D63"/>
                </a:solidFill>
              </a:defRPr>
            </a:pPr>
            <a:r>
              <a:rPr sz="2025" b="0">
                <a:solidFill>
                  <a:srgbClr val="526D63"/>
                </a:solidFill>
              </a:rPr>
              <a:t>Docker บนเครื่องเดียว · HDFS replication = 2</a:t>
            </a:r>
          </a:p>
          <a:p xmlns:a="http://schemas.openxmlformats.org/drawingml/2006/main">
            <a:pPr>
              <a:defRPr sz="2025" b="0">
                <a:solidFill>
                  <a:srgbClr val="526D63"/>
                </a:solidFill>
              </a:defRPr>
            </a:pPr>
            <a:r>
              <a:rPr sz="2025" b="0">
                <a:solidFill>
                  <a:srgbClr val="526D63"/>
                </a:solidFill>
              </a:rPr>
              <a:t>Custom Python harness; ไม่ได้ใช้ LangGraph หรือ OPA</a:t>
            </a:r>
          </a:p>
        </p:txBody>
      </p:sp>
    </p:spTree>
    <p:extLst>
      <p:ext uri="{BB962C8B-B14F-4D97-AF65-F5344CB8AC3E}">
        <p14:creationId xmlns:p14="http://schemas.microsoft.com/office/powerpoint/2010/main" val="1249378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9F3F6-AFFD-4B26-8D7C-2F4708B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Workflow และ Agent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87E0A-06E3-4F3A-8277-F21CC19B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1  คำถาม → RAG → ตรวจข้อมูลและ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92A2F-54BE-4947-AC6E-7C4CB64A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2  สร้าง SQL → citations → AST / population contract →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0E75A-BDF1-4D09-924B-9AD3EC6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3  Spark รัน SQL → ตรวจผลบางเงื่อนไข → คืนตารางและ 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FC727-4484-4826-A715-7CAF4FA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4  ถ้าถูกปฏิเสธหรือผิดพลาด → ให้แก้ รวมไม่เกิน 3 รอบ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8788C-AA48-4251-AC7F-6DF1DA5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ข้อมูลไม่พอ: ถามกลับ   |   ครบงบแก้: failed   |   RAG ค้นครั้งเดียว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316269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20B62-7279-4C2D-BD21-7CF74B0A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Web application ที่เรียกใช้งานจริง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19B9E-F5BC-428B-9D3C-FAA43F9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เปิด localhost:8090 → ระบุคำถามและช่วงเวลา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4B4BE-8E0C-4AC4-849F-13993AAA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มีสถานะกำลังประมวลผล / ถามกลับ / ผิดพลาด / ตารางผลลัพธ์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47B15-078A-4650-BD4A-848FD332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เปิดดู SQL หลักฐาน การแก้ไข และ trace 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37A92-D7A7-4F87-A468-FF7524A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ทดสอบจริง: จำนวน invoice ต.ค. 2011 = 2,040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786A0-BA50-4527-959E-D149DE5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แต่ละคำถามแยก context · รับทีละคำถาม · เป็น local application</a:t>
            </a:r>
          </a:p>
        </p:txBody>
      </p:sp>
    </p:spTree>
    <p:extLst>
      <p:ext uri="{BB962C8B-B14F-4D97-AF65-F5344CB8AC3E}">
        <p14:creationId xmlns:p14="http://schemas.microsoft.com/office/powerpoint/2010/main" val="484528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23D2-8D45-4239-B590-961AD912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Harness: Knowledge และความหมายข้อมูล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1CC3B-461C-4360-8366-E1D550A048B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952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สิ่งที่มี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ข้อจำกัด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Data Dictionary /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schema, grain, metric,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Corpus ขนาดเล็ก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RAG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BM25 + ไทย/อังกฤษ + dependencies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ต้องวัดกับคำถามเพิ่ม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Ontology / mapping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คำธุรกิจเชื่อม metric/schema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ยังไม่มี formal ontology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20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00583-4AAD-44E1-B2B6-22A81ED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Harness: Contracts, Policy และการแก้ไข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548FE-C7AD-4D26-BF0B-E5841468C90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หัวข้อ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สิ่งที่มี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ข้อจำกัด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Pre-tool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citations, AST, population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ไม่ครอบคลุมทุกความหมาย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Post-tool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NULL ID / fraction / row cap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ไม่ใช่ semantic grading เต็มรูปแบบ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Python rules + SQL guard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ยังไม่มี OPA / role-based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Self-correction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แก้ตาม error สูงสุด 3 รอบ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review ใช้โมเดลเดิม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16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BAD48-F146-4C4D-A607-A3AE56ED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Context engineering และ context rot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FFF8C-49F3-4860-BD58-EFAB39D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เลือกหลักฐานตามคำถาม พร้อม schema และ policy ที่จำเป็น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14AF3-08F6-4528-9D58-169D74C5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ใช้เฉพาะสถานะแก้ล่าสุด ไม่สะสมประวัติทุก attempt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7CF60-87CA-477C-A862-424915A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เพิ่มงบ input แบบประมาณ + บันทึก prompt_eval_count จาก Ollama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624F1-2A3C-4F20-86AF-597FD7F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ทดสอบเบื้องต้น: ข้อความรบกวน 0 / 400 / 1,200 ตัวอักษร + oversize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787BE-F579-4B41-BEB6-1FF9EB52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มีการจัดการ context แต่ยังพิสูจน์ไม่ได้ว่าแก้ context rot ทั่วไป</a:t>
            </a:r>
          </a:p>
        </p:txBody>
      </p:sp>
    </p:spTree>
    <p:extLst>
      <p:ext uri="{BB962C8B-B14F-4D97-AF65-F5344CB8AC3E}">
        <p14:creationId xmlns:p14="http://schemas.microsoft.com/office/powerpoint/2010/main" val="2105802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070C8-0E36-4B4A-B861-AEB7CA8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การวัดผล: วัดอะไรและทำไม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1A363-7A19-444B-AE08-A1E625C7CDF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มิติ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ตัววัด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จุดประสงค์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Retrieval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Recall@6, MRR@6, nDCG@6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หลักฐานครบ / ลำดับดี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คำตอบ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Spark rows เทียบ gold SQL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ผลลัพธ์ถูกต้อง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Grounding /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citations / clarification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ID จริง / ถามกลับถูก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ประสิทธิภาพ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p95 / calls / tokens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ต้นทุนและเวลารอ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95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4A6F1-E917-4976-ACC5-758B4A9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ผล frozen v2.4: ผ่านเกณฑ์บนชุดใหม่ 20 ข้อ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4D4A-F0F4-49EB-9AA7-8E563711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17 SQL + 3 clarification · ชุดเล็กที่ผู้พัฒนาสร้างในกลุ่มงานที่รองรับ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2F731-CAB7-45EB-AEE7-4454BFDA7D0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ตัววัด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ผลจริง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เกณฑ์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Recall / MRR / nDCG @6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0.892 / 0.893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95% / 0.85 / 0.80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ผล SQL และ clarification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≥90%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Clarification / citation validity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100% / 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p95 retrieval / warm query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16.69 ms / 5.43 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≤50 ms / ≤20 s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512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CB4AE-F81B-4D91-9296-8FCFEA05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ผลทดสอบ และรอบที่ไม่ผ่าน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1D026-872B-40F4-B949-005AF150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ไม่ลดเกณฑ์ · รอบก่อนเผย retrieval และ reviewer failures ที่นำมาแก้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17F47-C178-4052-B24A-84206663637D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40005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ชุดทดสอบที่รันจริง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การตีความ</a:t>
                      </a:r>
                    </a:p>
                  </a:txBody>
                  <a:tcPr marL="91440" marR="91440" marT="45720" marB="45720">
                    <a:solidFill>
                      <a:srgbClr val="14715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Unit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25 ผ่าน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HTTP + guards + contracts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Exposed regression v5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ใช้พัฒนา ไม่ใช่ชุดใหม่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Fresh combinations v6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20 / 20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freeze ก่อนรัน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ก่อนแก้: v4 และ v5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18 / 20 แต่ละชุด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</a:rPr>
                        <a:t>ไม่ผ่านทุก gate; เก็บผลไว้</a:t>
                      </a:r>
                    </a:p>
                  </a:txBody>
                  <a:tcPr marL="91440" marR="91440" marT="45720" marB="45720">
                    <a:solidFill>
                      <a:srgbClr val="E8EF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692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700BE-953F-4305-8D62-D94403FF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ข้อจำกัดและงานที่ยังต้องวัด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504F8-9320-4703-94BB-3C41829F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รันสำเร็จและ citation ถูก ไม่รับประกันความหมายถูกทุกครั้ง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FF608-B868-47C6-9312-09D06F2A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Context budget เป็น heuristic; ยังไม่มี exact tokenizer preflight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2F5F4-CA04-4FB2-A1A0-CA90BD1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Corpus / benchmark เล็กและผู้พัฒนาสร้างเอง ต้องมี fresh cases เพิ่ม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D55D0-8659-4C3B-9748-34F03755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เครื่องเดียว ไม่มี authentication; cancellation เป็น best effort</a:t>
            </a:r>
          </a:p>
        </p:txBody>
      </p:sp>
    </p:spTree>
    <p:extLst>
      <p:ext uri="{BB962C8B-B14F-4D97-AF65-F5344CB8AC3E}">
        <p14:creationId xmlns:p14="http://schemas.microsoft.com/office/powerpoint/2010/main" val="2047861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30E5C-ACC7-47E9-A692-20CB62E1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C34"/>
                </a:solidFill>
              </a:defRPr>
            </a:defPPr>
            <a:lvl1pPr>
              <a:defRPr sz="3000" b="1">
                <a:solidFill>
                  <a:srgbClr val="183C34"/>
                </a:solidFill>
              </a:defRPr>
            </a:lvl1pPr>
            <a:lvl2pPr>
              <a:defRPr sz="3000" b="1">
                <a:solidFill>
                  <a:srgbClr val="183C34"/>
                </a:solidFill>
              </a:defRPr>
            </a:lvl2pPr>
            <a:lvl3pPr>
              <a:defRPr sz="3000" b="1">
                <a:solidFill>
                  <a:srgbClr val="183C34"/>
                </a:solidFill>
              </a:defRPr>
            </a:lvl3pPr>
            <a:lvl4pPr>
              <a:defRPr sz="3000" b="1">
                <a:solidFill>
                  <a:srgbClr val="183C34"/>
                </a:solidFill>
              </a:defRPr>
            </a:lvl4pPr>
            <a:lvl5pPr>
              <a:defRPr sz="3000" b="1">
                <a:solidFill>
                  <a:srgbClr val="183C34"/>
                </a:solidFill>
              </a:defRPr>
            </a:lvl5pPr>
            <a:lvl6pPr>
              <a:defRPr sz="3000" b="1">
                <a:solidFill>
                  <a:srgbClr val="183C34"/>
                </a:solidFill>
              </a:defRPr>
            </a:lvl6pPr>
            <a:lvl7pPr>
              <a:defRPr sz="3000" b="1">
                <a:solidFill>
                  <a:srgbClr val="183C34"/>
                </a:solidFill>
              </a:defRPr>
            </a:lvl7pPr>
            <a:lvl8pPr>
              <a:defRPr sz="3000" b="1">
                <a:solidFill>
                  <a:srgbClr val="183C34"/>
                </a:solidFill>
              </a:defRPr>
            </a:lvl8pPr>
            <a:lvl9pPr>
              <a:defRPr sz="3000" b="1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C34"/>
                </a:solidFill>
              </a:defRPr>
            </a:pPr>
            <a:r>
              <a:rPr sz="3000" b="1">
                <a:solidFill>
                  <a:srgbClr val="183C34"/>
                </a:solidFill>
              </a:rPr>
              <a:t>การส่งมอบและการรันซ้ำ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9BE6B-B731-4BDD-B3FF-A73E662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Source + Docker setup + data acquisition + evaluation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3D209-291A-41EF-B56F-9D43CAF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เริ่ม cluster → build data → เปิด web UI → ถามและตรวจ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F2C12-7D90-4E36-BC22-93AEF49C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GitHub Public: NATTAPAT-LEUNGRUNGSAP/</a:t>
            </a:r>
          </a:p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customer-intelligence-agent-spark-hdfs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205E6-F702-453C-8D15-FDE6D50E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C34"/>
                </a:solidFill>
              </a:defRPr>
            </a:defPPr>
            <a:lvl1pPr>
              <a:defRPr sz="2100" b="0">
                <a:solidFill>
                  <a:srgbClr val="183C34"/>
                </a:solidFill>
              </a:defRPr>
            </a:lvl1pPr>
            <a:lvl2pPr>
              <a:defRPr sz="2100" b="0">
                <a:solidFill>
                  <a:srgbClr val="183C34"/>
                </a:solidFill>
              </a:defRPr>
            </a:lvl2pPr>
            <a:lvl3pPr>
              <a:defRPr sz="2100" b="0">
                <a:solidFill>
                  <a:srgbClr val="183C34"/>
                </a:solidFill>
              </a:defRPr>
            </a:lvl3pPr>
            <a:lvl4pPr>
              <a:defRPr sz="2100" b="0">
                <a:solidFill>
                  <a:srgbClr val="183C34"/>
                </a:solidFill>
              </a:defRPr>
            </a:lvl4pPr>
            <a:lvl5pPr>
              <a:defRPr sz="2100" b="0">
                <a:solidFill>
                  <a:srgbClr val="183C34"/>
                </a:solidFill>
              </a:defRPr>
            </a:lvl5pPr>
            <a:lvl6pPr>
              <a:defRPr sz="2100" b="0">
                <a:solidFill>
                  <a:srgbClr val="183C34"/>
                </a:solidFill>
              </a:defRPr>
            </a:lvl6pPr>
            <a:lvl7pPr>
              <a:defRPr sz="2100" b="0">
                <a:solidFill>
                  <a:srgbClr val="183C34"/>
                </a:solidFill>
              </a:defRPr>
            </a:lvl7pPr>
            <a:lvl8pPr>
              <a:defRPr sz="2100" b="0">
                <a:solidFill>
                  <a:srgbClr val="183C34"/>
                </a:solidFill>
              </a:defRPr>
            </a:lvl8pPr>
            <a:lvl9pPr>
              <a:defRPr sz="2100" b="0">
                <a:solidFill>
                  <a:srgbClr val="183C34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34"/>
                </a:solidFill>
              </a:defRPr>
            </a:pPr>
            <a:r>
              <a:rPr sz="2100" b="0">
                <a:solidFill>
                  <a:srgbClr val="183C34"/>
                </a:solidFill>
              </a:rPr>
              <a:t>ก่อนส่ง: ทดสอบ data build จากเครื่องใหม่ และซ้อม 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E2DD7-BE7B-4660-B0FF-8D016F17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4715B"/>
                </a:solidFill>
              </a:defRPr>
            </a:defPPr>
            <a:lvl1pPr>
              <a:defRPr sz="1800" b="1">
                <a:solidFill>
                  <a:srgbClr val="14715B"/>
                </a:solidFill>
              </a:defRPr>
            </a:lvl1pPr>
            <a:lvl2pPr>
              <a:defRPr sz="1800" b="1">
                <a:solidFill>
                  <a:srgbClr val="14715B"/>
                </a:solidFill>
              </a:defRPr>
            </a:lvl2pPr>
            <a:lvl3pPr>
              <a:defRPr sz="1800" b="1">
                <a:solidFill>
                  <a:srgbClr val="14715B"/>
                </a:solidFill>
              </a:defRPr>
            </a:lvl3pPr>
            <a:lvl4pPr>
              <a:defRPr sz="1800" b="1">
                <a:solidFill>
                  <a:srgbClr val="14715B"/>
                </a:solidFill>
              </a:defRPr>
            </a:lvl4pPr>
            <a:lvl5pPr>
              <a:defRPr sz="1800" b="1">
                <a:solidFill>
                  <a:srgbClr val="14715B"/>
                </a:solidFill>
              </a:defRPr>
            </a:lvl5pPr>
            <a:lvl6pPr>
              <a:defRPr sz="1800" b="1">
                <a:solidFill>
                  <a:srgbClr val="14715B"/>
                </a:solidFill>
              </a:defRPr>
            </a:lvl6pPr>
            <a:lvl7pPr>
              <a:defRPr sz="1800" b="1">
                <a:solidFill>
                  <a:srgbClr val="14715B"/>
                </a:solidFill>
              </a:defRPr>
            </a:lvl7pPr>
            <a:lvl8pPr>
              <a:defRPr sz="1800" b="1">
                <a:solidFill>
                  <a:srgbClr val="14715B"/>
                </a:solidFill>
              </a:defRPr>
            </a:lvl8pPr>
            <a:lvl9pPr>
              <a:defRPr sz="1800" b="1">
                <a:solidFill>
                  <a:srgbClr val="14715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715B"/>
                </a:solidFill>
              </a:defRPr>
            </a:pPr>
            <a:r>
              <a:rPr sz="1800" b="1">
                <a:solidFill>
                  <a:srgbClr val="14715B"/>
                </a:solidFill>
              </a:rPr>
              <a:t>กำหนดส่ง 9 พฤศจิกายน 2026 · GitHub เผยแพร่แล้ว · CI unit tests ผ่าน</a:t>
            </a:r>
          </a:p>
        </p:txBody>
      </p:sp>
    </p:spTree>
    <p:extLst>
      <p:ext uri="{BB962C8B-B14F-4D97-AF65-F5344CB8AC3E}">
        <p14:creationId xmlns:p14="http://schemas.microsoft.com/office/powerpoint/2010/main" val="904440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2026-10-26T07:18:55.3040000Z</dcterms:created>
  <dcterms:modified xsi:type="dcterms:W3CDTF">2026-10-26T07:18:55.3040000Z</dcterms:modified>
</coreProperties>
</file>