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  <ns0:Override PartName="/ppt/slides/slide24.xml" ContentType="application/vnd.openxmlformats-officedocument.presentationml.slide+xml"/>
  <ns0:Override PartName="/ppt/notesSlides/notesSlide24.xml" ContentType="application/vnd.openxmlformats-officedocument.presentationml.notesSlide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slides/slide26.xml" ContentType="application/vnd.openxmlformats-officedocument.presentationml.slide+xml"/>
  <ns0:Override PartName="/ppt/notesSlides/notesSlide26.xml" ContentType="application/vnd.openxmlformats-officedocument.presentationml.notesSlide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Override PartName="/ppt/slides/slide28.xml" ContentType="application/vnd.openxmlformats-officedocument.presentationml.slide+xml"/>
  <ns0:Override PartName="/ppt/notesSlides/notesSlide28.xml" ContentType="application/vnd.openxmlformats-officedocument.presentationml.notesSlide+xml"/>
  <ns0:Override PartName="/ppt/slides/slide29.xml" ContentType="application/vnd.openxmlformats-officedocument.presentationml.slide+xml"/>
  <ns0:Override PartName="/ppt/notesSlides/notesSlide29.xml" ContentType="application/vnd.openxmlformats-officedocument.presentationml.notesSlide+xml"/>
  <ns0:Override PartName="/ppt/slides/slide30.xml" ContentType="application/vnd.openxmlformats-officedocument.presentationml.slide+xml"/>
  <ns0:Override PartName="/ppt/notesSlides/notesSlide30.xml" ContentType="application/vnd.openxmlformats-officedocument.presentationml.notesSlide+xml"/>
  <ns0:Override PartName="/ppt/slides/slide31.xml" ContentType="application/vnd.openxmlformats-officedocument.presentationml.slide+xml"/>
  <ns0:Override PartName="/ppt/notesSlides/notesSlide31.xml" ContentType="application/vnd.openxmlformats-officedocument.presentationml.notes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9422f21b64b5c" /><Relationship Type="http://schemas.openxmlformats.org/officeDocument/2006/relationships/extended-properties" Target="/docProps/app.xml" Id="R64be352384674d47" /><Relationship Type="http://schemas.openxmlformats.org/officeDocument/2006/relationships/officeDocument" Target="/ppt/presentation.xml" Id="R2187691d910948c0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8d19e8fb6154e84"/>
  </p:sldMasterIdLst>
  <p:notesMasterIdLst>
    <p:notesMasterId r:id="R374357e111b44370"/>
  </p:notesMasterIdLst>
  <p:sldIdLst>
    <p:sldId id="256" r:id="Rf26c61c082b34e56"/>
    <p:sldId id="257" r:id="R306f1c47cb6343fb"/>
    <p:sldId id="258" r:id="R904562a8597f4bb7"/>
    <p:sldId id="259" r:id="Raae1472c692a4c73"/>
    <p:sldId id="260" r:id="Rb44978b98bb84fcc"/>
    <p:sldId id="261" r:id="R31dc3ebf79db4041"/>
    <p:sldId id="262" r:id="R46e30c230351492f"/>
    <p:sldId id="263" r:id="Re0c1367e709d4c7a"/>
    <p:sldId id="264" r:id="Rbf074b30ae5f4aa6"/>
    <p:sldId id="265" r:id="R27744757e0994b5a"/>
    <p:sldId id="266" r:id="Ra45e8f54b7d54997"/>
    <p:sldId id="267" r:id="R3920151dcc504282"/>
    <p:sldId id="268" r:id="R93670c08d33d49f2"/>
    <p:sldId id="269" r:id="R0838ca30e38547ab"/>
    <p:sldId id="270" r:id="Rfb9d802a2dc04698"/>
    <p:sldId id="271" r:id="Rf80b07586ff04ad3"/>
    <p:sldId id="272" r:id="R8d0392344a534397"/>
    <p:sldId id="273" r:id="Raf6353b2eb1b41bf"/>
    <p:sldId id="274" r:id="R832973f328084ab4"/>
    <p:sldId id="275" r:id="R2e04ee3a04094c4d"/>
    <p:sldId id="276" r:id="Rf6781c7ee5fd4577"/>
    <p:sldId id="277" r:id="R84e59695dad542d2"/>
    <p:sldId id="278" r:id="R275237ae53974660"/>
    <p:sldId id="279" r:id="R26a6f77023f3447f"/>
    <p:sldId id="280" r:id="R38a7d1bd7d374d59"/>
    <p:sldId id="281" r:id="Rdd98e5694ccf4171"/>
    <p:sldId id="282" r:id="R92151163538545ad"/>
    <p:sldId id="283" r:id="R69e0fed0b8ca4a56"/>
    <p:sldId id="284" r:id="Re97a5b2db39b42f0"/>
    <p:sldId id="285" r:id="Rb33df00e4d7b49be"/>
    <p:sldId id="286" r:id="R08f2dbf8bdf94d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569705d1221b4d20" /><ns0:Relationship Type="http://schemas.openxmlformats.org/officeDocument/2006/relationships/slideMaster" Target="/ppt/slideMasters/slideMaster1.xml" Id="Rb8d19e8fb6154e84" /><ns0:Relationship Type="http://schemas.openxmlformats.org/officeDocument/2006/relationships/notesMaster" Target="/ppt/notesMasters/notesMaster1.xml" Id="R374357e111b44370" /><ns0:Relationship Type="http://schemas.openxmlformats.org/officeDocument/2006/relationships/presProps" Target="/ppt/presProps.xml" Id="R7440b4b3bff44712" /><ns0:Relationship Type="http://schemas.openxmlformats.org/officeDocument/2006/relationships/tableStyles" Target="/ppt/tableStyles.xml" Id="R71591432b5a749ad" /><ns0:Relationship Type="http://schemas.openxmlformats.org/officeDocument/2006/relationships/slide" Target="/ppt/slides/slide1.xml" Id="Rf26c61c082b34e56" /><ns0:Relationship Type="http://schemas.openxmlformats.org/officeDocument/2006/relationships/slide" Target="/ppt/slides/slide2.xml" Id="R306f1c47cb6343fb" /><ns0:Relationship Type="http://schemas.openxmlformats.org/officeDocument/2006/relationships/slide" Target="/ppt/slides/slide3.xml" Id="R904562a8597f4bb7" /><ns0:Relationship Type="http://schemas.openxmlformats.org/officeDocument/2006/relationships/slide" Target="/ppt/slides/slide4.xml" Id="Raae1472c692a4c73" /><ns0:Relationship Type="http://schemas.openxmlformats.org/officeDocument/2006/relationships/slide" Target="/ppt/slides/slide5.xml" Id="Rb44978b98bb84fcc" /><ns0:Relationship Type="http://schemas.openxmlformats.org/officeDocument/2006/relationships/slide" Target="/ppt/slides/slide6.xml" Id="R31dc3ebf79db4041" /><ns0:Relationship Type="http://schemas.openxmlformats.org/officeDocument/2006/relationships/slide" Target="/ppt/slides/slide7.xml" Id="R46e30c230351492f" /><ns0:Relationship Type="http://schemas.openxmlformats.org/officeDocument/2006/relationships/slide" Target="/ppt/slides/slide8.xml" Id="Re0c1367e709d4c7a" /><ns0:Relationship Type="http://schemas.openxmlformats.org/officeDocument/2006/relationships/slide" Target="/ppt/slides/slide9.xml" Id="Rbf074b30ae5f4aa6" /><ns0:Relationship Type="http://schemas.openxmlformats.org/officeDocument/2006/relationships/slide" Target="/ppt/slides/slide10.xml" Id="R27744757e0994b5a" /><ns0:Relationship Type="http://schemas.openxmlformats.org/officeDocument/2006/relationships/slide" Target="/ppt/slides/slide11.xml" Id="Ra45e8f54b7d54997" /><ns0:Relationship Type="http://schemas.openxmlformats.org/officeDocument/2006/relationships/slide" Target="/ppt/slides/slide12.xml" Id="R3920151dcc504282" /><ns0:Relationship Type="http://schemas.openxmlformats.org/officeDocument/2006/relationships/slide" Target="/ppt/slides/slide13.xml" Id="R93670c08d33d49f2" /><ns0:Relationship Type="http://schemas.openxmlformats.org/officeDocument/2006/relationships/slide" Target="/ppt/slides/slide14.xml" Id="R0838ca30e38547ab" /><ns0:Relationship Type="http://schemas.openxmlformats.org/officeDocument/2006/relationships/slide" Target="/ppt/slides/slide15.xml" Id="Rfb9d802a2dc04698" /><ns0:Relationship Type="http://schemas.openxmlformats.org/officeDocument/2006/relationships/slide" Target="/ppt/slides/slide16.xml" Id="Rf80b07586ff04ad3" /><ns0:Relationship Type="http://schemas.openxmlformats.org/officeDocument/2006/relationships/slide" Target="/ppt/slides/slide17.xml" Id="R8d0392344a534397" /><ns0:Relationship Type="http://schemas.openxmlformats.org/officeDocument/2006/relationships/slide" Target="/ppt/slides/slide18.xml" Id="Raf6353b2eb1b41bf" /><ns0:Relationship Type="http://schemas.openxmlformats.org/officeDocument/2006/relationships/slide" Target="/ppt/slides/slide19.xml" Id="R832973f328084ab4" /><ns0:Relationship Type="http://schemas.openxmlformats.org/officeDocument/2006/relationships/slide" Target="/ppt/slides/slide20.xml" Id="R2e04ee3a04094c4d" /><ns0:Relationship Type="http://schemas.openxmlformats.org/officeDocument/2006/relationships/slide" Target="/ppt/slides/slide21.xml" Id="Rf6781c7ee5fd4577" /><ns0:Relationship Type="http://schemas.openxmlformats.org/officeDocument/2006/relationships/slide" Target="/ppt/slides/slide22.xml" Id="R84e59695dad542d2" /><ns0:Relationship Type="http://schemas.openxmlformats.org/officeDocument/2006/relationships/slide" Target="/ppt/slides/slide23.xml" Id="R275237ae53974660" /><ns0:Relationship Type="http://schemas.openxmlformats.org/officeDocument/2006/relationships/slide" Target="/ppt/slides/slide24.xml" Id="R26a6f77023f3447f" /><ns0:Relationship Type="http://schemas.openxmlformats.org/officeDocument/2006/relationships/slide" Target="/ppt/slides/slide25.xml" Id="R38a7d1bd7d374d59" /><ns0:Relationship Type="http://schemas.openxmlformats.org/officeDocument/2006/relationships/slide" Target="/ppt/slides/slide26.xml" Id="Rdd98e5694ccf4171" /><ns0:Relationship Type="http://schemas.openxmlformats.org/officeDocument/2006/relationships/slide" Target="/ppt/slides/slide27.xml" Id="R92151163538545ad" /><ns0:Relationship Type="http://schemas.openxmlformats.org/officeDocument/2006/relationships/slide" Target="/ppt/slides/slide28.xml" Id="R69e0fed0b8ca4a56" /><ns0:Relationship Type="http://schemas.openxmlformats.org/officeDocument/2006/relationships/slide" Target="/ppt/slides/slide29.xml" Id="Re97a5b2db39b42f0" /><ns0:Relationship Type="http://schemas.openxmlformats.org/officeDocument/2006/relationships/slide" Target="/ppt/slides/slide30.xml" Id="Rb33df00e4d7b49be" /><ns0:Relationship Type="http://schemas.openxmlformats.org/officeDocument/2006/relationships/slide" Target="/ppt/slides/slide31.xml" Id="R08f2dbf8bdf94d18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25c729bc540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1ba00533e14a77" /><Relationship Type="http://schemas.openxmlformats.org/officeDocument/2006/relationships/notesMaster" Target="/ppt/notesMasters/notesMaster1.xml" Id="R89e3bcab1004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7b1361adaa4f02" /><Relationship Type="http://schemas.openxmlformats.org/officeDocument/2006/relationships/notesMaster" Target="/ppt/notesMasters/notesMaster1.xml" Id="R7deafcd68bb1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8ac77b044408f" /><Relationship Type="http://schemas.openxmlformats.org/officeDocument/2006/relationships/notesMaster" Target="/ppt/notesMasters/notesMaster1.xml" Id="R868bf0d46fa547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476bf9c53a441a" /><Relationship Type="http://schemas.openxmlformats.org/officeDocument/2006/relationships/notesMaster" Target="/ppt/notesMasters/notesMaster1.xml" Id="R3bbdfaa63aee49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1bd08418964385" /><Relationship Type="http://schemas.openxmlformats.org/officeDocument/2006/relationships/notesMaster" Target="/ppt/notesMasters/notesMaster1.xml" Id="R9838fa89e079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00610179a44d29" /><Relationship Type="http://schemas.openxmlformats.org/officeDocument/2006/relationships/notesMaster" Target="/ppt/notesMasters/notesMaster1.xml" Id="R44e17dfa295142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d36c7edd44e86" /><Relationship Type="http://schemas.openxmlformats.org/officeDocument/2006/relationships/notesMaster" Target="/ppt/notesMasters/notesMaster1.xml" Id="R192244ae69ba43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03240f1d1941fb" /><Relationship Type="http://schemas.openxmlformats.org/officeDocument/2006/relationships/notesMaster" Target="/ppt/notesMasters/notesMaster1.xml" Id="R8f971cd25e5345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bdc9a3a0544ca7" /><Relationship Type="http://schemas.openxmlformats.org/officeDocument/2006/relationships/notesMaster" Target="/ppt/notesMasters/notesMaster1.xml" Id="R492e3df47c3b49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4eb2c9cdd64960" /><Relationship Type="http://schemas.openxmlformats.org/officeDocument/2006/relationships/notesMaster" Target="/ppt/notesMasters/notesMaster1.xml" Id="R5cd6a455572d44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3aa826946f4b9f" /><Relationship Type="http://schemas.openxmlformats.org/officeDocument/2006/relationships/notesMaster" Target="/ppt/notesMasters/notesMaster1.xml" Id="R6c81a8c80f834f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248edce7cb41af" /><Relationship Type="http://schemas.openxmlformats.org/officeDocument/2006/relationships/notesMaster" Target="/ppt/notesMasters/notesMaster1.xml" Id="R3673567fdd0941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9ae40dee34492a" /><Relationship Type="http://schemas.openxmlformats.org/officeDocument/2006/relationships/notesMaster" Target="/ppt/notesMasters/notesMaster1.xml" Id="R7426d98f4e5e4b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1c9eb61fa94ac2" /><Relationship Type="http://schemas.openxmlformats.org/officeDocument/2006/relationships/notesMaster" Target="/ppt/notesMasters/notesMaster1.xml" Id="Ra838ea4b05a14c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c7c68902f5445d" /><Relationship Type="http://schemas.openxmlformats.org/officeDocument/2006/relationships/notesMaster" Target="/ppt/notesMasters/notesMaster1.xml" Id="R767f2cb7751147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d38ef1df0d4597" /><Relationship Type="http://schemas.openxmlformats.org/officeDocument/2006/relationships/notesMaster" Target="/ppt/notesMasters/notesMaster1.xml" Id="Rfbe326f5961b46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acfbca92474fea" /><Relationship Type="http://schemas.openxmlformats.org/officeDocument/2006/relationships/notesMaster" Target="/ppt/notesMasters/notesMaster1.xml" Id="R6ec29808cb304c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25b384aa6442b3" /><Relationship Type="http://schemas.openxmlformats.org/officeDocument/2006/relationships/notesMaster" Target="/ppt/notesMasters/notesMaster1.xml" Id="Rbe29e14b78d2438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484f640208437e" /><Relationship Type="http://schemas.openxmlformats.org/officeDocument/2006/relationships/notesMaster" Target="/ppt/notesMasters/notesMaster1.xml" Id="R2cb7c54578d547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917b7b448d47c9" /><Relationship Type="http://schemas.openxmlformats.org/officeDocument/2006/relationships/notesMaster" Target="/ppt/notesMasters/notesMaster1.xml" Id="Rc055ca0ccfe541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ac47f0c36d4a53" /><Relationship Type="http://schemas.openxmlformats.org/officeDocument/2006/relationships/notesMaster" Target="/ppt/notesMasters/notesMaster1.xml" Id="Rf3d1896f7f7342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ba61f9de124952" /><Relationship Type="http://schemas.openxmlformats.org/officeDocument/2006/relationships/notesMaster" Target="/ppt/notesMasters/notesMaster1.xml" Id="R962d4c383bec41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5c82e6dcd74e34" /><Relationship Type="http://schemas.openxmlformats.org/officeDocument/2006/relationships/notesMaster" Target="/ppt/notesMasters/notesMaster1.xml" Id="Rc7c8d96825074b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125369f74f41c6" /><Relationship Type="http://schemas.openxmlformats.org/officeDocument/2006/relationships/notesMaster" Target="/ppt/notesMasters/notesMaster1.xml" Id="R8a7fda2b35c848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1697d68aa04ca5" /><Relationship Type="http://schemas.openxmlformats.org/officeDocument/2006/relationships/notesMaster" Target="/ppt/notesMasters/notesMaster1.xml" Id="R30d7f54a526f4e4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51ee540c3e4b58" /><Relationship Type="http://schemas.openxmlformats.org/officeDocument/2006/relationships/notesMaster" Target="/ppt/notesMasters/notesMaster1.xml" Id="R81614013631e41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14161ecbf674ff6" /><Relationship Type="http://schemas.openxmlformats.org/officeDocument/2006/relationships/notesMaster" Target="/ppt/notesMasters/notesMaster1.xml" Id="R9727da84049947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7096546c484749" /><Relationship Type="http://schemas.openxmlformats.org/officeDocument/2006/relationships/notesMaster" Target="/ppt/notesMasters/notesMaster1.xml" Id="R6bf8127f85dd4f7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af68aef23f4f56" /><Relationship Type="http://schemas.openxmlformats.org/officeDocument/2006/relationships/notesMaster" Target="/ppt/notesMasters/notesMaster1.xml" Id="R2a0c56aa96104f4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91fa4f09364770" /><Relationship Type="http://schemas.openxmlformats.org/officeDocument/2006/relationships/notesMaster" Target="/ppt/notesMasters/notesMaster1.xml" Id="R9603d3b170c94ab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f87798cbd624505" /><Relationship Type="http://schemas.openxmlformats.org/officeDocument/2006/relationships/notesMaster" Target="/ppt/notesMasters/notesMaster1.xml" Id="R0e0f53eb5c7f4f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reports/GOVERNANCE_REPORT.md; reports/governance-quality-summary.json.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jobs/agent.py; jobs/retrieval.py; jobs/query_runtime.py; compose.yaml. Diagram groups citation, AST, semantics, OPA pre-check and model review in one pre-tool block. Retrieval runs once; repairs retain evidence. Unavailable OPA/budget or exhausted attempts stop without delivering an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infra/hadoop/config/hdfs-site.xml; infra/hadoop/entrypoint.sh; jobs/web_app.py; jobs/query_runtime.py; scripts/start.ps1. Worker count 2 is configured by the startup script. OPA and Ollama are separate services; Ollama is on the host. All containers share one physical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infra/hadoop/config/hdfs-site.xml; infra/hadoop/entrypoint.sh; jobs/web_app.py; jobs/query_runtime.py; scripts/start.ps1. Worker count 2 is configured by the startup script. OPA and Ollama are separate services; Ollama is on the host. All containers share one physical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infra/hadoop/config/hdfs-site.xml; infra/hadoop/entrypoint.sh; jobs/web_app.py; jobs/query_runtime.py; scripts/start.ps1. Worker count 2 is configured by the startup script. OPA and Ollama are separate services; Ollama is on the host. All containers share one physical host. Actual result: reports/governance-web-verification.json. Diagram simplifies bidirectional RPC/data flow; returned rows go to the driver after executor computation.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jobs/retrieval.py;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ontology/customer-intelligence.ttl; ontology/shapes.ttl; jobs/ontology.py.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https://www.w3.org/TR/shacl/ ; ontology/shapes.ttl; jobs/ontology.py; tests/test_governance.py. sh:minCount and sh:maxCount enforce cardinality, sh:class enforces value class. Source grain agreement is an additional Python check, not a SHACL rule in this project. Formula strings are not mathematically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jobs/context_engine.py;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jobs/semantic_contracts.py; jobs/result_contracts.py; tests/test_governance.py.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policies/analytics.rego; jobs/result_contracts.py; tests/integration_governance.py.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reports/governance-web-verification.json. Actual current HTTP + ontology + OPA pre/post + Qwen + Spark/HDFS verification passed. This slide is an editable workflow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reports/governance-web-verification.json; jobs/web_app.py.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jobs/evaluate_acceptance.py; jobs/evaluate.py;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1b0c156344f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28dda152b46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7a52dc70248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237a90a7545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13cd0b98842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d3c386e5148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afd77600ed43ea" /><Relationship Type="http://schemas.openxmlformats.org/officeDocument/2006/relationships/slideLayout" Target="/ppt/slideLayouts/slideLayout1.xml" Id="Rf29fd2ef7bdc49f1" /><Relationship Type="http://schemas.openxmlformats.org/officeDocument/2006/relationships/slideLayout" Target="/ppt/slideLayouts/slideLayout2.xml" Id="Rc1a2bf19c0ff4a38" /><Relationship Type="http://schemas.openxmlformats.org/officeDocument/2006/relationships/slideLayout" Target="/ppt/slideLayouts/slideLayout3.xml" Id="R046dbbf0b9464bbf" /><Relationship Type="http://schemas.openxmlformats.org/officeDocument/2006/relationships/slideLayout" Target="/ppt/slideLayouts/slideLayout4.xml" Id="Rc3560e64de3c459f" /><Relationship Type="http://schemas.openxmlformats.org/officeDocument/2006/relationships/slideLayout" Target="/ppt/slideLayouts/slideLayout5.xml" Id="R1e6f0efadbe14816" /><Relationship Type="http://schemas.openxmlformats.org/officeDocument/2006/relationships/slideLayout" Target="/ppt/slideLayouts/slideLayout6.xml" Id="Rb992ccd510b145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9fd2ef7bdc49f1"/>
    <p:sldLayoutId xmlns:r="http://schemas.openxmlformats.org/officeDocument/2006/relationships" id="2147483650" r:id="Rc1a2bf19c0ff4a38"/>
    <p:sldLayoutId xmlns:r="http://schemas.openxmlformats.org/officeDocument/2006/relationships" id="2147483651" r:id="R046dbbf0b9464bbf"/>
    <p:sldLayoutId xmlns:r="http://schemas.openxmlformats.org/officeDocument/2006/relationships" id="2147483652" r:id="Rc3560e64de3c459f"/>
    <p:sldLayoutId xmlns:r="http://schemas.openxmlformats.org/officeDocument/2006/relationships" id="2147483653" r:id="R1e6f0efadbe14816"/>
    <p:sldLayoutId xmlns:r="http://schemas.openxmlformats.org/officeDocument/2006/relationships" id="2147483654" r:id="Rb992ccd510b145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4a249fade4f8a" /><Relationship Type="http://schemas.openxmlformats.org/officeDocument/2006/relationships/notesSlide" Target="/ppt/notesSlides/notesSlide1.xml" Id="Reca443d28da645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f8d9e2283459a" /><Relationship Type="http://schemas.openxmlformats.org/officeDocument/2006/relationships/notesSlide" Target="/ppt/notesSlides/notesSlide2.xml" Id="Rf9ce7ecae5b945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31a2195a640ea" /><Relationship Type="http://schemas.openxmlformats.org/officeDocument/2006/relationships/notesSlide" Target="/ppt/notesSlides/notesSlide3.xml" Id="Rdeb2da004469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d9e15c0b24a5d" /><Relationship Type="http://schemas.openxmlformats.org/officeDocument/2006/relationships/notesSlide" Target="/ppt/notesSlides/notesSlide4.xml" Id="R77c0b59a0f88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9aa188545470b" /><Relationship Type="http://schemas.openxmlformats.org/officeDocument/2006/relationships/notesSlide" Target="/ppt/notesSlides/notesSlide5.xml" Id="Rb85292b0143c4c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580f7147f48d0" /><Relationship Type="http://schemas.openxmlformats.org/officeDocument/2006/relationships/notesSlide" Target="/ppt/notesSlides/notesSlide6.xml" Id="R76174810ac694e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355afa8fe489b" /><Relationship Type="http://schemas.openxmlformats.org/officeDocument/2006/relationships/notesSlide" Target="/ppt/notesSlides/notesSlide7.xml" Id="R382112789bff40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b10f1d4c342bf" /><Relationship Type="http://schemas.openxmlformats.org/officeDocument/2006/relationships/notesSlide" Target="/ppt/notesSlides/notesSlide8.xml" Id="Ra1033bb79b8e4d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2def4efad43af" /><Relationship Type="http://schemas.openxmlformats.org/officeDocument/2006/relationships/notesSlide" Target="/ppt/notesSlides/notesSlide9.xml" Id="R125ec354cd9a47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56c561a1274a3f" /><Relationship Type="http://schemas.openxmlformats.org/officeDocument/2006/relationships/notesSlide" Target="/ppt/notesSlides/notesSlide10.xml" Id="R4a2579300fc246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8f48692c943e1" /><Relationship Type="http://schemas.openxmlformats.org/officeDocument/2006/relationships/notesSlide" Target="/ppt/notesSlides/notesSlide11.xml" Id="Rcb51cfa5da984b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2bb1704fc416d" /><Relationship Type="http://schemas.openxmlformats.org/officeDocument/2006/relationships/notesSlide" Target="/ppt/notesSlides/notesSlide12.xml" Id="Rc972c7c53cfe4b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3f9dbe6e5425a" /><Relationship Type="http://schemas.openxmlformats.org/officeDocument/2006/relationships/notesSlide" Target="/ppt/notesSlides/notesSlide13.xml" Id="Ra17078461df842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30bd5595c4038" /><Relationship Type="http://schemas.openxmlformats.org/officeDocument/2006/relationships/notesSlide" Target="/ppt/notesSlides/notesSlide14.xml" Id="R31e42c50c2394a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bf0c4206b4052" /><Relationship Type="http://schemas.openxmlformats.org/officeDocument/2006/relationships/notesSlide" Target="/ppt/notesSlides/notesSlide15.xml" Id="R8fe58399440442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d4dc258394082" /><Relationship Type="http://schemas.openxmlformats.org/officeDocument/2006/relationships/notesSlide" Target="/ppt/notesSlides/notesSlide16.xml" Id="R10b50d82237f44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0c5de80ea4fc3" /><Relationship Type="http://schemas.openxmlformats.org/officeDocument/2006/relationships/notesSlide" Target="/ppt/notesSlides/notesSlide17.xml" Id="R1318e8ccc0be44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e7f4729734e19" /><Relationship Type="http://schemas.openxmlformats.org/officeDocument/2006/relationships/notesSlide" Target="/ppt/notesSlides/notesSlide18.xml" Id="R05f679ddbe4947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cb4af16e34b08" /><Relationship Type="http://schemas.openxmlformats.org/officeDocument/2006/relationships/notesSlide" Target="/ppt/notesSlides/notesSlide19.xml" Id="R4d7a642cf7794f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506c8cd346414b" /><Relationship Type="http://schemas.openxmlformats.org/officeDocument/2006/relationships/notesSlide" Target="/ppt/notesSlides/notesSlide20.xml" Id="R3f62705dfe3544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ec12207ea4005" /><Relationship Type="http://schemas.openxmlformats.org/officeDocument/2006/relationships/notesSlide" Target="/ppt/notesSlides/notesSlide21.xml" Id="R278bcc48e44b4d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0d101fc5c4e7c" /><Relationship Type="http://schemas.openxmlformats.org/officeDocument/2006/relationships/notesSlide" Target="/ppt/notesSlides/notesSlide22.xml" Id="Rdbd174d951524c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cfa46c87c4698" /><Relationship Type="http://schemas.openxmlformats.org/officeDocument/2006/relationships/notesSlide" Target="/ppt/notesSlides/notesSlide23.xml" Id="Rba9925b2638a4d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2034c04e94112" /><Relationship Type="http://schemas.openxmlformats.org/officeDocument/2006/relationships/notesSlide" Target="/ppt/notesSlides/notesSlide24.xml" Id="Rd8ef379a69bc43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ad106d42844d6" /><Relationship Type="http://schemas.openxmlformats.org/officeDocument/2006/relationships/notesSlide" Target="/ppt/notesSlides/notesSlide25.xml" Id="R05ebbb0c739949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4421be323495e" /><Relationship Type="http://schemas.openxmlformats.org/officeDocument/2006/relationships/notesSlide" Target="/ppt/notesSlides/notesSlide26.xml" Id="Rc29a6821d3654ca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f0a8292724da7" /><Relationship Type="http://schemas.openxmlformats.org/officeDocument/2006/relationships/notesSlide" Target="/ppt/notesSlides/notesSlide27.xml" Id="Rcf8591e96c08430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5dd7f63f54678" /><Relationship Type="http://schemas.openxmlformats.org/officeDocument/2006/relationships/notesSlide" Target="/ppt/notesSlides/notesSlide28.xml" Id="R308118b4d022402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b18515d05468a" /><Relationship Type="http://schemas.openxmlformats.org/officeDocument/2006/relationships/notesSlide" Target="/ppt/notesSlides/notesSlide29.xml" Id="R97cf09649399478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a41baf0f343aa" /><Relationship Type="http://schemas.openxmlformats.org/officeDocument/2006/relationships/notesSlide" Target="/ppt/notesSlides/notesSlide30.xml" Id="Ra83c2c4dc8b148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51da043734cdd" /><Relationship Type="http://schemas.openxmlformats.org/officeDocument/2006/relationships/notesSlide" Target="/ppt/notesSlides/notesSlide31.xml" Id="Rc983c49d50df48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8EB0B-A853-4DDA-9EA4-749D242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Customer Intelligence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87C82-D824-48B9-9043-7B7FF98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ถามข้อมูลยอดขายและลูกค้าด้วยภาษาธรรมชาติ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E7937-5BB4-4DF6-8892-6EC65D5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5CDA-BF7F-476F-AB48-BACC13C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102B46"/>
                </a:solidFill>
              </a:defRPr>
            </a:defPPr>
            <a:lvl1pPr>
              <a:defRPr sz="4350" b="1">
                <a:solidFill>
                  <a:srgbClr val="102B46"/>
                </a:solidFill>
              </a:defRPr>
            </a:lvl1pPr>
            <a:lvl2pPr>
              <a:defRPr sz="4350" b="1">
                <a:solidFill>
                  <a:srgbClr val="102B46"/>
                </a:solidFill>
              </a:defRPr>
            </a:lvl2pPr>
            <a:lvl3pPr>
              <a:defRPr sz="4350" b="1">
                <a:solidFill>
                  <a:srgbClr val="102B46"/>
                </a:solidFill>
              </a:defRPr>
            </a:lvl3pPr>
            <a:lvl4pPr>
              <a:defRPr sz="4350" b="1">
                <a:solidFill>
                  <a:srgbClr val="102B46"/>
                </a:solidFill>
              </a:defRPr>
            </a:lvl4pPr>
            <a:lvl5pPr>
              <a:defRPr sz="4350" b="1">
                <a:solidFill>
                  <a:srgbClr val="102B46"/>
                </a:solidFill>
              </a:defRPr>
            </a:lvl5pPr>
            <a:lvl6pPr>
              <a:defRPr sz="4350" b="1">
                <a:solidFill>
                  <a:srgbClr val="102B46"/>
                </a:solidFill>
              </a:defRPr>
            </a:lvl6pPr>
            <a:lvl7pPr>
              <a:defRPr sz="4350" b="1">
                <a:solidFill>
                  <a:srgbClr val="102B46"/>
                </a:solidFill>
              </a:defRPr>
            </a:lvl7pPr>
            <a:lvl8pPr>
              <a:defRPr sz="4350" b="1">
                <a:solidFill>
                  <a:srgbClr val="102B46"/>
                </a:solidFill>
              </a:defRPr>
            </a:lvl8pPr>
            <a:lvl9pPr>
              <a:defRPr sz="43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02B46"/>
                </a:solidFill>
              </a:defRPr>
            </a:pPr>
            <a:r>
              <a:rPr sz="4350" b="1">
                <a:solidFill>
                  <a:srgbClr val="102B46"/>
                </a:solidFill>
              </a:rPr>
              <a:t>Spark + HDFS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0F5C6-F011-4812-A03D-8B34D5C5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คำถามธุรกิจ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C840E-1D23-4F01-A1F4-2D0BBAC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69CA-8E41-4B16-AB10-5684940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ค้นนิยามธุรกิจ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สร้างคำสั่งค้นข้อมูล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4F5F-9C71-4916-888A-BED72E0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5D813-01D7-477A-99EF-415353D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ผลจากข้อมูลจริง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2E0C8-A2C6-4A45-8D4A-4AF65C8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SQL = คำสั่งค้นและคำนวณข้อมูล • หลักฐาน = นิยามธุรกิจและคำอธิบายตารางที่ค้นพบ</a:t>
            </a:r>
          </a:p>
        </p:txBody>
      </p:sp>
    </p:spTree>
    <p:extLst>
      <p:ext uri="{BB962C8B-B14F-4D97-AF65-F5344CB8AC3E}">
        <p14:creationId xmlns:p14="http://schemas.microsoft.com/office/powerpoint/2010/main" val="895952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0EE62-B046-4395-87FE-D595C1DB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จากคำถามธุรกิจสู่คำตอบที่ตรวจสอบได้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704F-99C6-4A4D-8B76-8388663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ผู้ใช้ไม่ต้องเริ่มจากการเขียน SQL 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EF75B-95B6-43D7-932A-D7371E2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46E8-578B-4AFC-86C8-8E4E60B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ผู้ใช้ถาม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“เดือน ต.ค. 2011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มี invoice กี่ใบ?”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AFD3-26B4-41C1-B12E-37A7AE4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E12A-E976-4DE6-8347-02E01EE9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9547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Agent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ค้นนิยาม invoice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สร้างและตรวจ 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534F-A4B1-409F-8535-595206A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C980-BC66-4EAD-82FC-239C50C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Web application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ตารางผลลัพธ์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evidence +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83C5A-8331-42AD-A554-9D31C05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รองรับคำถามในนิยามข้อมูลที่เตรียมไว้ ยังไม่ได้วัดผลด้านเวลาทำงานของผู้ใช้หรือรายได้</a:t>
            </a:r>
          </a:p>
        </p:txBody>
      </p:sp>
    </p:spTree>
    <p:extLst>
      <p:ext uri="{BB962C8B-B14F-4D97-AF65-F5344CB8AC3E}">
        <p14:creationId xmlns:p14="http://schemas.microsoft.com/office/powerpoint/2010/main" val="313194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8D496-0F0C-49AD-9362-957B907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สิ่งที่พัฒนา และประโยชน์ที่แสดงได้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002B4-BBA2-4390-A068-9D095BF3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แยกความสามารถที่เพิ่มขึ้นออกจากผลที่วัดได้จริง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DB97-C565-4B43-859D-F361AE25FCA5}"/>
              </a:ext>
            </a:extLst>
          </p:cNvPr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838700"/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ส่วนที่พัฒนา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ประโยชน์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หลักฐานที่ใช้เล่า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RAG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ค้นนิยามก่อนสร้าง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Recall@6 = 100% ใน 60 คำถามใหม่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Ontology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เชื่อมคำธุรกิจกับสูตรและตาราง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กราฟ 9 metrics / 3 ตาราง ตรวจ SHACL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Semantic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ตรวจ grain เวลา และประชากรลูกค้า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แก้ CTE ที่ถูกปฏิเสธเกินจำเป็นแล้ว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OPA + ตรวจผล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บังคับกฎก่อนรันและก่อนส่งคำตอบ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3 integration tests ใช้ OPA จริงผ่าน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Context engineering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คุม input และลดประวัติสะสม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ตัดข้อความรบกวน 12/12; เก็บทั้งหมด 10/12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Web application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ถามและตรวจคำตอบผ่านหน้าเดียว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HTTP จริงได้ 2,040 invoices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Evaluation 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ตรวจคำตอบและการถดถอย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ชุดใหม่ 60/60; โจทย์เดิม 80/80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522F7-0AF1-4335-B1D3-E66172C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ผลรวมยังแยกไม่ได้ว่าแต่ละส่วนเพิ่ม accuracy เท่าไร • ยังไม่รับรองว่าแก้ context rot ได้ทั่วไป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E196D-9BD0-4A0E-982F-BE17FB7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6599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7D736-6A3B-4076-9F3D-73F8EFAE795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643063" y="2828925"/>
            <a:ext cx="32385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BF97-7F2B-4764-868D-73D272F7194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334375" y="4438650"/>
            <a:ext cx="50006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1D412-D1DB-4EFF-A1CE-384625BA1AF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238875" y="2314575"/>
            <a:ext cx="2095500" cy="1181100"/>
          </a:xfrm>
          <a:prstGeom xmlns:a="http://schemas.openxmlformats.org/drawingml/2006/main" prst="bentConnector4">
            <a:avLst>
              <a:gd name="adj1" fmla="val 10909"/>
              <a:gd name="adj2" fmla="val 80645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0F1CD-F38B-4B49-9F22-93D2F6D460DC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881563" y="28289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9A945-DAE4-43F3-AF6C-9D0D8AFBF19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38875" y="23145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1A621-AFC9-4E6E-A786-89AFC0E3F1F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62250" y="2314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7F065-129F-470A-B0CE-FECA00D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Architecture: เส้นทางคำถามและเส้นทางข้อมูล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388F3-10CC-4086-83C2-0894813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Custom Python single-agent harness เชื่อมโมเดลกับ Spark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1A8D-9625-4699-8B00-8CF1DADE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0CE4-7F93-483A-9325-4951916E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0225"/>
            <a:ext cx="22383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Python HTTP + 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1914-A10F-42AE-B070-B41A79E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2714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Agent harness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RAG / policy /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FAFAE-38DA-42FF-A2A8-D9EB826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0225"/>
            <a:ext cx="2476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Ollama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A2C58-B960-4922-A3F3-EFC3560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271462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knowledge/*.md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นิยาม / schema /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2DB4B-7901-4CE4-A47F-9E5FC22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95675"/>
            <a:ext cx="24765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Master + 2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EF79B-2B4B-418E-BBEC-13E6114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3476625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NameNode + 2 DataNodes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9994A-C36D-42FF-BE0E-ACDB747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SQL หลังตรวจ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D2408-2D2E-4225-B9BF-7626C26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Docker บนเครื่องเดียว • HDFS replication 2 • การเชื่อม tool เป็น Python โดยตรง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892B1-EC9C-44C7-A6FF-C30297C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95675"/>
            <a:ext cx="223837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OPA/Rego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กฎอนุญาตใช้ Spark</a:t>
            </a:r>
          </a:p>
        </p:txBody>
      </p:sp>
    </p:spTree>
    <p:extLst>
      <p:ext uri="{BB962C8B-B14F-4D97-AF65-F5344CB8AC3E}">
        <p14:creationId xmlns:p14="http://schemas.microsoft.com/office/powerpoint/2010/main" val="253578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A4CA5-2C8F-4503-A775-FD3F009801B9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H="1" flipV="1">
            <a:off x="5857875" y="4238625"/>
            <a:ext cx="1190625" cy="952500"/>
          </a:xfrm>
          <a:prstGeom xmlns:a="http://schemas.openxmlformats.org/drawingml/2006/main" prst="bentConnector4">
            <a:avLst>
              <a:gd name="adj1" fmla="val 19200"/>
              <a:gd name="adj2" fmla="val 76000"/>
            </a:avLst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C0A1D-AC19-41BE-A554-80E4ACF684EB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6286500" y="5191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C303-9B7B-4BC6-9B75-10C32001DF8A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9191625" y="4238625"/>
            <a:ext cx="1428750" cy="952500"/>
          </a:xfrm>
          <a:prstGeom xmlns:a="http://schemas.openxmlformats.org/drawingml/2006/main" prst="bentConnector5">
            <a:avLst>
              <a:gd name="adj1" fmla="val 0"/>
              <a:gd name="adj2" fmla="val 24000"/>
              <a:gd name="adj3" fmla="val 84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C6C1A-FCD2-4326-AF8D-5DC2DCA7E9E1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0382250" y="2438400"/>
            <a:ext cx="238125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9DCF1-9426-4517-8656-3E80197AB7E9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191625" y="37576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91407-0B41-457E-AFF6-B539765197B2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667500" y="37576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39EF3-CE24-44BC-B904-2F59A5BE11C0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667250" y="37576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0B340-B259-48BB-AC57-291B5A774DB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143125" y="37576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A9BEC-CBCD-4432-8B31-8A1C3AC4BD0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24875" y="2114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23DBE-F9F1-4093-88F5-BD9D4A5A320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667375" y="2114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9E2D0-2EA1-4DCA-881A-AA9AA8B0DB2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9875" y="2114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B7808-23B6-42E4-B782-08F40F6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ภาพรวมระบบ: เส้นทางข้อมูลและเส้นทางคำถาม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BA483-9EA6-4F48-A7CE-FCB65DDE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ภาพเดียวกับแนวคิดใน README แยกงานเตรียมข้อมูลออกจากงานตอบคำถาม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10ECE-04A1-467A-8DC5-215E4E70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228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Online Retail II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83308-BEDD-43DA-94A8-45E16E1D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90700"/>
            <a:ext cx="228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CSV staging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743B9-1B03-4BE8-86F4-F0CB8375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90700"/>
            <a:ext cx="228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102B46"/>
                </a:solidFill>
              </a:defRPr>
            </a:defPPr>
            <a:lvl1pPr algn="ctr">
              <a:defRPr sz="1650">
                <a:solidFill>
                  <a:srgbClr val="102B46"/>
                </a:solidFill>
              </a:defRPr>
            </a:lvl1pPr>
            <a:lvl2pPr algn="ctr">
              <a:defRPr sz="1650">
                <a:solidFill>
                  <a:srgbClr val="102B46"/>
                </a:solidFill>
              </a:defRPr>
            </a:lvl2pPr>
            <a:lvl3pPr algn="ctr">
              <a:defRPr sz="1650">
                <a:solidFill>
                  <a:srgbClr val="102B46"/>
                </a:solidFill>
              </a:defRPr>
            </a:lvl3pPr>
            <a:lvl4pPr algn="ctr">
              <a:defRPr sz="1650">
                <a:solidFill>
                  <a:srgbClr val="102B46"/>
                </a:solidFill>
              </a:defRPr>
            </a:lvl4pPr>
            <a:lvl5pPr algn="ctr">
              <a:defRPr sz="1650">
                <a:solidFill>
                  <a:srgbClr val="102B46"/>
                </a:solidFill>
              </a:defRPr>
            </a:lvl5pPr>
            <a:lvl6pPr algn="ctr">
              <a:defRPr sz="1650">
                <a:solidFill>
                  <a:srgbClr val="102B46"/>
                </a:solidFill>
              </a:defRPr>
            </a:lvl6pPr>
            <a:lvl7pPr algn="ctr">
              <a:defRPr sz="1650">
                <a:solidFill>
                  <a:srgbClr val="102B46"/>
                </a:solidFill>
              </a:defRPr>
            </a:lvl7pPr>
            <a:lvl8pPr algn="ctr">
              <a:defRPr sz="1650">
                <a:solidFill>
                  <a:srgbClr val="102B46"/>
                </a:solidFill>
              </a:defRPr>
            </a:lvl8pPr>
            <a:lvl9pPr algn="ctr">
              <a:defRPr sz="16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102B46"/>
                </a:solidFill>
              </a:defRPr>
            </a:pPr>
            <a:r>
              <a:rPr sz="1650">
                <a:solidFill>
                  <a:srgbClr val="102B46"/>
                </a:solidFill>
              </a:rPr>
              <a:t>Spark ETL</a:t>
            </a:r>
          </a:p>
          <a:p xmlns:a="http://schemas.openxmlformats.org/drawingml/2006/main">
            <a:pPr algn="ctr">
              <a:defRPr sz="1650">
                <a:solidFill>
                  <a:srgbClr val="102B46"/>
                </a:solidFill>
              </a:defRPr>
            </a:pPr>
            <a:r>
              <a:rPr sz="1650">
                <a:solidFill>
                  <a:srgbClr val="102B46"/>
                </a:solidFill>
              </a:rPr>
              <a:t>ตรวจยอด / สร้างตาราง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80FD6-7664-47DC-8A70-39EE2399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90700"/>
            <a:ext cx="257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Parquet บน HDFS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375D3-3506-4681-9B63-A4660CAE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336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02B46"/>
                </a:solidFill>
              </a:defRPr>
            </a:defPPr>
            <a:lvl1pPr>
              <a:defRPr sz="1575" b="0">
                <a:solidFill>
                  <a:srgbClr val="102B46"/>
                </a:solidFill>
              </a:defRPr>
            </a:lvl1pPr>
            <a:lvl2pPr>
              <a:defRPr sz="1575" b="0">
                <a:solidFill>
                  <a:srgbClr val="102B46"/>
                </a:solidFill>
              </a:defRPr>
            </a:lvl2pPr>
            <a:lvl3pPr>
              <a:defRPr sz="1575" b="0">
                <a:solidFill>
                  <a:srgbClr val="102B46"/>
                </a:solidFill>
              </a:defRPr>
            </a:lvl3pPr>
            <a:lvl4pPr>
              <a:defRPr sz="1575" b="0">
                <a:solidFill>
                  <a:srgbClr val="102B46"/>
                </a:solidFill>
              </a:defRPr>
            </a:lvl4pPr>
            <a:lvl5pPr>
              <a:defRPr sz="1575" b="0">
                <a:solidFill>
                  <a:srgbClr val="102B46"/>
                </a:solidFill>
              </a:defRPr>
            </a:lvl5pPr>
            <a:lvl6pPr>
              <a:defRPr sz="1575" b="0">
                <a:solidFill>
                  <a:srgbClr val="102B46"/>
                </a:solidFill>
              </a:defRPr>
            </a:lvl6pPr>
            <a:lvl7pPr>
              <a:defRPr sz="1575" b="0">
                <a:solidFill>
                  <a:srgbClr val="102B46"/>
                </a:solidFill>
              </a:defRPr>
            </a:lvl7pPr>
            <a:lvl8pPr>
              <a:defRPr sz="1575" b="0">
                <a:solidFill>
                  <a:srgbClr val="102B46"/>
                </a:solidFill>
              </a:defRPr>
            </a:lvl8pPr>
            <a:lvl9pPr>
              <a:defRPr sz="15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เตรียมข้อมูลก่อนใช้งาน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E4F87-DFFD-4BB6-B047-79903249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76600"/>
            <a:ext cx="161925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Web UI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รับคำถาม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BD6AD-8AB1-4A7C-81B3-D915149D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76600"/>
            <a:ext cx="2143125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RAG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knowledge + ontology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9C898-B5FD-4BBF-8933-E69D4A71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161925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LLM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สร้าง 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2677B-5A0B-4441-9F68-E567B20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2143125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ตรวจ SQL / review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OPA ก่อนรัน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B9905-D991-45B6-8E24-B80DBAE2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76600"/>
            <a:ext cx="20955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Spark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ประมวลผล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5CBB8-0B0B-46C6-80EE-087F5CC6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91075"/>
            <a:ext cx="2143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ตรวจผลลัพธ์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OPA หลังรัน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A7AC9-E18B-4466-926B-94749DC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91075"/>
            <a:ext cx="2952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Web UI คืนตาราง + SQL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เอกสารอ้างอิง + 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F3E10-22D7-436F-8522-15D8F1BC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เส้นประ: ส่ง SQL/error ล่าสุดกลับไปแก้ เมื่อยังแก้ไขได้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C493F-E549-4BDF-97F3-18939CA3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7695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02B46"/>
                </a:solidFill>
              </a:defRPr>
            </a:defPPr>
            <a:lvl1pPr>
              <a:defRPr sz="1575" b="0">
                <a:solidFill>
                  <a:srgbClr val="102B46"/>
                </a:solidFill>
              </a:defRPr>
            </a:lvl1pPr>
            <a:lvl2pPr>
              <a:defRPr sz="1575" b="0">
                <a:solidFill>
                  <a:srgbClr val="102B46"/>
                </a:solidFill>
              </a:defRPr>
            </a:lvl2pPr>
            <a:lvl3pPr>
              <a:defRPr sz="1575" b="0">
                <a:solidFill>
                  <a:srgbClr val="102B46"/>
                </a:solidFill>
              </a:defRPr>
            </a:lvl3pPr>
            <a:lvl4pPr>
              <a:defRPr sz="1575" b="0">
                <a:solidFill>
                  <a:srgbClr val="102B46"/>
                </a:solidFill>
              </a:defRPr>
            </a:lvl4pPr>
            <a:lvl5pPr>
              <a:defRPr sz="1575" b="0">
                <a:solidFill>
                  <a:srgbClr val="102B46"/>
                </a:solidFill>
              </a:defRPr>
            </a:lvl5pPr>
            <a:lvl6pPr>
              <a:defRPr sz="1575" b="0">
                <a:solidFill>
                  <a:srgbClr val="102B46"/>
                </a:solidFill>
              </a:defRPr>
            </a:lvl6pPr>
            <a:lvl7pPr>
              <a:defRPr sz="1575" b="0">
                <a:solidFill>
                  <a:srgbClr val="102B46"/>
                </a:solidFill>
              </a:defRPr>
            </a:lvl7pPr>
            <a:lvl8pPr>
              <a:defRPr sz="1575" b="0">
                <a:solidFill>
                  <a:srgbClr val="102B46"/>
                </a:solidFill>
              </a:defRPr>
            </a:lvl8pPr>
            <a:lvl9pPr>
              <a:defRPr sz="15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ข้อมูลไม่พอให้ถามกลับ • รวมสูงสุด 3 attempts • OPA ติดต่อไม่ได้หรือเกินงบให้หยุด</a:t>
            </a:r>
          </a:p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RAG ค้นครั้งเดียว ส่วนการตรวจอาจปฏิเสธก่อนหรือหลัง Spark ได้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1CFDE-3293-493D-A68A-813B4F13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1284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59699-D975-4D21-8A59-83627DE2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ภายใน Docker: ใครทำหน้าที่อะไร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DA9AE-A2EE-42AA-BBE0-21B3690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ใช้งานประจำ 8 containers บนเครื่องเดียว และมี 2 services ที่เรียกเมื่อทำงานเฉพาะ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69A91-6801-4002-A9E0-A2F601923BAC}"/>
              </a:ext>
            </a:extLst>
          </p:cNvPr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457700"/>
              </a:tblGrid>
              <a:tr h="4360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Service / จำนวน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หน้าที่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สิ่งที่เก็บหรือใช้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NameNode /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ดูสารบัญไฟล์ HDFS และตำแหน่ง blocks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Metadata ของระบบไฟล์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DataNodes / 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เก็บและส่ง blocks ของไฟล์จริง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ข้อมูล Parquet และสำเนา blocks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 Master /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จัดสรรทรัพยากรให้ Spark applications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สถานะ workers / CPU / memory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 Workers / 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รัน executors ตามแผนจาก driver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ข้อมูลชั่วคราวระหว่างคำนวณ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OPA /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ตัดสินนโยบายอนุญาตหรือปฏิเสธ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อ่านกฎ Rego จากโฟลเดอร์ policies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Web / 1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HTTP API + agent + Spark driver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อ่าน knowledge/ontology และเขียน trace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spark-job / ชั่วคราว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รัน ETL, smoke test และ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อ่าน data / เขียน HDFS และ reports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prepare-data / ชั่วคราว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ดาวน์โหลดและเตรียมข้อมูลต้นทาง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เขียนไฟล์ต้นทางและ CSV ใน data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0BA38-F5FA-4704-8A88-4AE2714B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02B46"/>
                </a:solidFill>
              </a:defRPr>
            </a:defPPr>
            <a:lvl1pPr>
              <a:defRPr sz="1575" b="0">
                <a:solidFill>
                  <a:srgbClr val="102B46"/>
                </a:solidFill>
              </a:defRPr>
            </a:lvl1pPr>
            <a:lvl2pPr>
              <a:defRPr sz="1575" b="0">
                <a:solidFill>
                  <a:srgbClr val="102B46"/>
                </a:solidFill>
              </a:defRPr>
            </a:lvl2pPr>
            <a:lvl3pPr>
              <a:defRPr sz="1575" b="0">
                <a:solidFill>
                  <a:srgbClr val="102B46"/>
                </a:solidFill>
              </a:defRPr>
            </a:lvl3pPr>
            <a:lvl4pPr>
              <a:defRPr sz="1575" b="0">
                <a:solidFill>
                  <a:srgbClr val="102B46"/>
                </a:solidFill>
              </a:defRPr>
            </a:lvl4pPr>
            <a:lvl5pPr>
              <a:defRPr sz="1575" b="0">
                <a:solidFill>
                  <a:srgbClr val="102B46"/>
                </a:solidFill>
              </a:defRPr>
            </a:lvl5pPr>
            <a:lvl6pPr>
              <a:defRPr sz="1575" b="0">
                <a:solidFill>
                  <a:srgbClr val="102B46"/>
                </a:solidFill>
              </a:defRPr>
            </a:lvl6pPr>
            <a:lvl7pPr>
              <a:defRPr sz="1575" b="0">
                <a:solidFill>
                  <a:srgbClr val="102B46"/>
                </a:solidFill>
              </a:defRPr>
            </a:lvl7pPr>
            <a:lvl8pPr>
              <a:defRPr sz="1575" b="0">
                <a:solidFill>
                  <a:srgbClr val="102B46"/>
                </a:solidFill>
              </a:defRPr>
            </a:lvl8pPr>
            <a:lvl9pPr>
              <a:defRPr sz="15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Container = กระบวนการแยกสภาพแวดล้อม • Ollama และไฟล์โมเดลอยู่บน host นอก Docker</a:t>
            </a:r>
          </a:p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Master จัดทรัพยากร ส่วน driver วางแผน SQL และ workers คำนวณ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9611D-1476-41AC-BBE8-B7C74E4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0857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8A0F7-E3D3-4506-8E1C-E31BED9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ข้อมูลอยู่ตรงไหน และอะไรอยู่ต่อเมื่อปิด container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2EAB-1F3D-46C1-B892-8EFA932D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แยกข้อมูลถาวรออกจากไฟล์ที่ใช้ร่วมกับเครื่อง host และข้อมูลคำนวณชั่วคราว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5F2AB-65CB-4E59-91C6-036B8DC93D36}"/>
              </a:ext>
            </a:extLst>
          </p:cNvPr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143375"/>
                <a:gridCol w="3600450"/>
              </a:tblGrid>
              <a:tr h="4905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ที่เก็บ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มีอะไรอยู่ข้างใน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วิธีเชื่อมกับ container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Docker volume: namenode-data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สารบัญไฟล์ HDFS และ metadata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NameNode: /data/name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Docker volumes: datanode-1/2-data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blocks ของ Parquet และสำเนาข้อมูล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DataNodes: /data/data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โฟลเดอร์ data บน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ไฟล์ต้นทางและ CSV staging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prepare-data เขียน / Spark อ่าน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knowledge / ontology / policies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นิยามธุรกิจ กราฟความหมาย และกฎ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bind mount อ่านอย่างเดียว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โฟลเดอร์ reports บน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ผล build, evaluation และ trace คำตอบ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spark-job และ web เขียนได้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jobs / sql / web บน host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โค้ด pipeline, agent และหน้าเว็บ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mount ให้ container อ่าน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หน่วยความจำ / พื้นที่ชั่วคราวของ Spark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cache, shuffle และผลระหว่างคำนวณ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ใช้ขณะทำงาน ไม่ใช่แหล่งเก็บข้อมูลหลัก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BC02C-07F3-48A5-86C7-CEC60BFA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02B46"/>
                </a:solidFill>
              </a:defRPr>
            </a:defPPr>
            <a:lvl1pPr>
              <a:defRPr sz="1575" b="0">
                <a:solidFill>
                  <a:srgbClr val="102B46"/>
                </a:solidFill>
              </a:defRPr>
            </a:lvl1pPr>
            <a:lvl2pPr>
              <a:defRPr sz="1575" b="0">
                <a:solidFill>
                  <a:srgbClr val="102B46"/>
                </a:solidFill>
              </a:defRPr>
            </a:lvl2pPr>
            <a:lvl3pPr>
              <a:defRPr sz="1575" b="0">
                <a:solidFill>
                  <a:srgbClr val="102B46"/>
                </a:solidFill>
              </a:defRPr>
            </a:lvl3pPr>
            <a:lvl4pPr>
              <a:defRPr sz="1575" b="0">
                <a:solidFill>
                  <a:srgbClr val="102B46"/>
                </a:solidFill>
              </a:defRPr>
            </a:lvl4pPr>
            <a:lvl5pPr>
              <a:defRPr sz="1575" b="0">
                <a:solidFill>
                  <a:srgbClr val="102B46"/>
                </a:solidFill>
              </a:defRPr>
            </a:lvl5pPr>
            <a:lvl6pPr>
              <a:defRPr sz="1575" b="0">
                <a:solidFill>
                  <a:srgbClr val="102B46"/>
                </a:solidFill>
              </a:defRPr>
            </a:lvl6pPr>
            <a:lvl7pPr>
              <a:defRPr sz="1575" b="0">
                <a:solidFill>
                  <a:srgbClr val="102B46"/>
                </a:solidFill>
              </a:defRPr>
            </a:lvl7pPr>
            <a:lvl8pPr>
              <a:defRPr sz="1575" b="0">
                <a:solidFill>
                  <a:srgbClr val="102B46"/>
                </a:solidFill>
              </a:defRPr>
            </a:lvl8pPr>
            <a:lvl9pPr>
              <a:defRPr sz="15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Volume = พื้นที่เก็บข้อมูลที่แยกจากอายุ container • Bind mount = ใช้โฟลเดอร์ host ร่วมกัน</a:t>
            </a:r>
          </a:p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การลบ volumes จะลบข้อมูล HDFS • replication 2 บน host เดียวไม่ป้องกันเครื่องเสียทั้งเครื่อง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70BE9-91D2-44DD-BFC6-9451D35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8304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1AE72-94EF-4ACC-BFDD-82B1E4C10697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5810250" y="3905250"/>
            <a:ext cx="1428750" cy="1328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8319D-FDA1-4AA3-BA9C-2042FEAC2089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429750" y="44005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1F762-0564-4030-8775-3B36ED7C2C8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390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B7969-DD87-47E2-9C49-B8598309910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190875" y="280987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D301F-1939-43A9-9AE0-A291DE7CF03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3145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79955-4875-4AF9-B1BE-BFE419C5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ตัวอย่างหนึ่งคำถามเดินทางผ่าน Docker อย่างไร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FA95-6BC5-4F68-BDB9-F7211DE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“เดือนตุลาคม 2011 มี invoice สำเร็จกี่ใบ?”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4116C-D9E3-4CB0-9B19-06C5B2F4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523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1  Web + agent + driver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RAG / สร้าง SQL / ตรวจคำสั่ง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1F18C-322E-4AC8-8160-7A37E65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19275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OPA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ตัดสินก่อนและหลัง 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C5574-4C3A-4504-9276-D9F3AB01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523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2  Spark Master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จัดสรร executors บน workers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BAD1D-D1BB-4052-A48E-F842C8A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3  Workers / executors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อ่านและคำนวณจากข้อมูล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F727C-84B3-4564-A340-EC5820DC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91075"/>
            <a:ext cx="43815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HDFS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NameNode บอกตำแหน่ง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DataNodes ส่ง blocks ของ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F4139-EA52-4834-ACBA-43FA4386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52387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4  ผลกลับมาที่ driver / Web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ตรวจผล แล้วแสดง 2,040 invoices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พร้อม SQL เอกสารอ้างอิง และ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A0C5E-805B-48B8-8C2E-A1A13DB9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Driver เป็นผู้วางแผนและประสานงาน SQL • Master จัดทรัพยากร ไม่ได้เก็บข้อมูลธุรกรรม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ตัวเลข 2,040 มาจาก HTTP test ที่รันจริง ไม่ใช่ตัวเลขสมมติในแผนภาพ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F4E84-440D-4B06-B1F6-02DE6660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264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FC8F-544B-4C54-A49E-545C430947A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772650" y="2886075"/>
            <a:ext cx="1809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FA290-1DF8-415D-A545-095081FA784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2886075"/>
            <a:ext cx="3676650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730-A1BA-4046-9D44-ED40DF8457A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38375" y="2886075"/>
            <a:ext cx="75342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9DCA-4FB9-40DB-BCDA-10036F1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Data pipeline: ข้อมูลดิบกลายเป็นตารางวิเคราะห์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85DC-42ED-4642-8BE5-F606878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UCI Online Retail II ข้อมูลธุรกรรมปี 2009–2011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794D-B947-4BE6-9CC3-B823F42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8EB70-6822-4D0C-BCFF-25CFFDE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ไฟล์ต้นทาง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B430-A723-4AA1-9D68-029AE58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A3F43-1BB1-4D89-853D-5C3F6D7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 ETL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แยกประเภทธุรกรรม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71A65-DE38-4A0C-B56D-6F6EE04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4518E-F8E8-4C12-AEB2-2A8FAB09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Parquet บน 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จัดเก็บเป็นชุดข้อมูล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BFE5D-B655-4F3D-AE04-503D5F8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sales_lines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หนึ่งรายการสินค้าเดิม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4FAA-9E24-4471-8981-F8FC54B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orders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40,077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 completed-sale invoice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AE07C-DE2B-4A13-BFA4-40F0F16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customer_summary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3,450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หนึ่งลูกค้าที่ระบุ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E7ED7-305A-4200-8483-786A2E24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Grain = หนึ่งแถวแทนอะไร เช่น 1 invoice หรือ 1 รายการสินค้า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ตารางลูกค้าสรุปย้อนหลัง 180 วัน ณ 2011-12-01</a:t>
            </a:r>
          </a:p>
        </p:txBody>
      </p:sp>
    </p:spTree>
    <p:extLst>
      <p:ext uri="{BB962C8B-B14F-4D97-AF65-F5344CB8AC3E}">
        <p14:creationId xmlns:p14="http://schemas.microsoft.com/office/powerpoint/2010/main" val="6407402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5ECA3-99E4-42DB-B905-B5BF23C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4 ชั้นที่ประกอบเป็น Agent ของโปรเจกต์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FDA1-B3B7-4242-A0FE-0DC5C19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แต่ละชั้นเพิ่มสิ่งที่ต้องควบคุมรอบโมเดล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22A2-0F36-4C12-AC77-D74F1DD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7ED35-2689-45D5-9D24-2A85788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1 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20ABE-3AC4-45D7-B85A-8B5C2DC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บทบาท + กติกา + รูปแบบ JSON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กำหนดสิ่งที่โมเดลต้องสร้าง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CE248-CD47-49F7-8A76-D6BC197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 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EAE7-4B4C-4D1B-95C4-5949381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คำถาม + RAG evidence + สถานะล่าสุด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เลือกสิ่งที่โมเดลเห็นในแต่ละรอบ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2034A-D3F5-4E88-A4FA-5A866A1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3 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46EE6-4F04-4912-A82D-F01B034B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OPA + SQL guards + Spark tool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ตรวจผลลัพธ์และบันทึก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4F04D-7663-43C8-993E-6F32A61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4 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3FA0D-B50E-4680-9003-A678C61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 / แก้ใหม่ / ถามกลับ / 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กำหนดการจบงาน สูงสุด 3 attempts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FC41-D81E-48FF-AB8E-989C72D6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แต่ละชั้นเชื่อมกันใน custom Python harness ของโปรเจกต์</a:t>
            </a:r>
          </a:p>
        </p:txBody>
      </p:sp>
    </p:spTree>
    <p:extLst>
      <p:ext uri="{BB962C8B-B14F-4D97-AF65-F5344CB8AC3E}">
        <p14:creationId xmlns:p14="http://schemas.microsoft.com/office/powerpoint/2010/main" val="4061881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7B874-50C9-4070-93B7-C20B43AA616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096000" y="2876550"/>
            <a:ext cx="36766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3C71-B26E-4877-A7FD-71ECBA7F35A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00750" y="2876550"/>
            <a:ext cx="952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B997-5AB4-419F-AB98-53F6E63D3EA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28850" y="2876550"/>
            <a:ext cx="38671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6AA2-48C3-4DA8-A8EA-84F9C64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Prompt: จากข้อกำหนดสู่ SQL ที่มีโครงสร้าง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3545-1C23-4BF6-8944-6E9F414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โมเดลสร้างข้อเสนอ SQL ส่วน harness เป็นผู้อนุญาตให้รัน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28E0-4D1E-4700-83B9-C9D7D4D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939C5-841B-4DEE-A68B-C582A7D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Role + rules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วิเคราะห์ข้อมูลตามนิยาม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4D792-E353-485A-90F7-CFBCFBE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Question + evidence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คำถามและหลักฐาน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EC37F-2745-4329-9F77-5DCCB18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Output schema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JSON ที่ตรวจต่อได้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1788-3B43-49AA-9803-9FEF623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86150"/>
            <a:ext cx="4857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 SQL ตามบริบทที่ได้รับ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D9C75-021F-4DC2-88B8-2857565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12140-E836-410D-ACCC-1F2F2CA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95850"/>
            <a:ext cx="8096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explanation + grain + citation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3497-054B-406A-B074-E90EF7B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รูปแบบถูกต้องเพียงอย่างเดียวยังไม่รับประกันว่าความหมายของคำตอบถูกต้อง</a:t>
            </a:r>
          </a:p>
        </p:txBody>
      </p:sp>
    </p:spTree>
    <p:extLst>
      <p:ext uri="{BB962C8B-B14F-4D97-AF65-F5344CB8AC3E}">
        <p14:creationId xmlns:p14="http://schemas.microsoft.com/office/powerpoint/2010/main" val="1883792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652A-FFEB-45D1-8877-4A611474942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858250" y="2876550"/>
            <a:ext cx="914400" cy="1128713"/>
          </a:xfrm>
          <a:prstGeom xmlns:a="http://schemas.openxmlformats.org/drawingml/2006/main" prst="bentConnector5">
            <a:avLst>
              <a:gd name="adj1" fmla="val 0"/>
              <a:gd name="adj2" fmla="val 20253"/>
              <a:gd name="adj3" fmla="val 75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62BCB-C4E0-4E85-9587-DDDDE07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RAG: ค้นนิยามก่อนสร้าง SQL ทุกคำถาม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5447-1DE1-4E64-9F0E-56F3BB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BM25 และคำศัพท์ไทย/อังกฤษ ทำงานบน knowledge corpus ขนาดเล็ก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F11D-77F9-4240-80FD-6FC9184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A507D-23A4-4F8A-96DF-163AB62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“ลูกค้าซื้อซ้ำ”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4D531-C182-468E-913F-6BCA22F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F909-4ECA-4206-A945-9FBB604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ขยายคำค้น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metric / schema / 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63DB3-D617-4680-8F07-D786BD7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7A5F-FBF5-47D0-B384-10C93D2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จัดอันดับ BM25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เลือก top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F7B1-E628-4BB4-ADF8-2BAD2B73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5524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เพิ่ม global policies ที่จำเป็น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ประกอบ evidence พร้อม section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BC06-B22B-49AD-8FC2-72F8EFD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005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5BDA-75FE-498D-AE48-3212E98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704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ส่งหลักฐานเข้า prompt เพื่อสร้าง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A4BF-6A20-4E53-87BC-428231D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Atomic section = หนึ่งหัวข้อความรู้ที่อ้างอิงได้ มี ID เช่น metric.orders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มี 20 หัวข้อ • ค้นด้วย BM25 และคำไทย/อังกฤษ • ontology ช่วยเติมนิยามที่เกี่ยวข้อง</a:t>
            </a:r>
          </a:p>
        </p:txBody>
      </p:sp>
    </p:spTree>
    <p:extLst>
      <p:ext uri="{BB962C8B-B14F-4D97-AF65-F5344CB8AC3E}">
        <p14:creationId xmlns:p14="http://schemas.microsoft.com/office/powerpoint/2010/main" val="4282598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34BA1-E203-4D9C-B6A5-FC78BE0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RAG: ค้นนิยามก่อนให้โมเดลเขียน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02913-DA1A-4425-9F95-1D0E52A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คำถาม: เดือนตุลาคม 2011 มี invoice สำเร็จกี่ใบ?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8ABEF-57FD-427F-AC4C-280A5A9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64B3A-475A-44F7-827A-7E90F91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context, trace = retrieve_context(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    question, knowledge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# Relevant knowledge IDs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"metric.orders"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"schema.orders"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7A002-B8B3-42E0-87AE-7FFE6BEA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50ACC-1938-4E1C-8402-4FD9550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ค้นว่า invoice ต้องนับอย่างไร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และควรอ่านจากตารางไหน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แล้วส่งนิยามให้โมเดล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1FE5A-7F79-4003-80D7-45444842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B16C2-1030-4A00-9930-09FBBF9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ลดการสร้าง SQL จากการเดา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มี ID เอกสารให้ตรวจย้อนกลับ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CEF28-C438-4D87-A3B7-2A7EBBD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ผลจริง: Recall@6 = 100% ในชุดใหม่ 60 ข้อ • ยังไม่ได้แยกวัดผลเพิ่ม accuracy ของ RAG เพียงส่วนเดียว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AD019-B29C-4358-9B8A-B792506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2326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2D85D-FF87-4F4D-A06B-BC3474F2A20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691063" y="3114675"/>
            <a:ext cx="1452563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F59E0-277C-4E25-B0CE-6804CE183C2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05500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89BAC-73C7-406A-AB36-8F8D0AE1FC6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0375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1998-A462-4433-A9D3-32EC408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Ontology: แผนที่ความหมายที่คอมพิวเตอร์อ่านได้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2249-66C5-4A3C-894C-A27967F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มีกราฟ RDF/OWL สำหรับ 9 metrics และ 3 ตาราง พร้อมตัวตรวจ SHACL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E7632-2C00-46E1-A0E2-FB595CE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D9602-9A3F-4912-B9FB-64C10FE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คำธุรกิจ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“จำนวนคำสั่งซื้อ”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BB24B-1310-4E88-9CBF-AD2CE3A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Metric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invoice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6AC60-018F-4791-A062-899855E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สูตรคำนวณ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COUNT(*)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41842-2AC9-4B56-BA22-792F3FC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ตาราง orders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หนึ่งแถว = หนึ่ง 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49AE5-EDDB-4D5B-8498-1AC03842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RAG ใช้ความสัมพันธ์นี้ดึง metric.orders และ schema.orders</a:t>
            </a:r>
          </a:p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SHACL ตรวจว่าทุก metric มีตาราง สูตร และระดับข้อมูลครบ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2794F-71B9-473B-B62B-2A0C4EE8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Ontology = แผนที่คำศัพท์และความสัมพันธ์ • SHACL = กฎตรวจโครงสร้างกราฟ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ครอบคลุมโดเมนของโปรเจกต์นี้ ยังไม่ใช่ระบบจับคู่ฐานข้อมูลทุกองค์กรอัตโนมัติ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7857621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C0C5F-214C-4013-BFC3-FD09570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Ontology: คำธุรกิจเชื่อมถึงระดับแถว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9765-B41E-4FA9-986F-FAEC54D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ตัวอย่างความสัมพันธ์จริงในกราฟ โดยละ prefix declarations เพื่อให้อ่านง่าย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D65DD-4FDA-4DEF-8631-41D918C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AE88A-2342-424E-A501-B4E3737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ci:invoices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ci:sourceTable ci:orders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ci:hasGrain ci:invoice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ci:definedBy ci:invoicesEvidence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ci:formula "COUNT(*)"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1CBB3-F39D-4221-A0AE-37BF8DF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9B7D2-3CDD-448C-A146-2E47FDB6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จำนวนคำสั่งซื้อใช้ COUNT(*)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จาก orders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หนึ่งแถวคือหนึ่ง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63172-370E-4AB8-8423-5419777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BF614-0BB4-43AA-9CD3-D812C03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ความหมายอยู่ในกราฟที่ตรวจได้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RAG ใช้เติมเอกสาร metric/schema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ที่จำเป็น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D8A24-E359-477C-A9EA-9F51FA2E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มี RDF/OWL และ SHACL ทำงานจริง • ประโยชน์ที่ยืนยันคือโครงสร้างนิยามตรวจได้ ยังไม่แยกคะแนน accuracy จาก ontology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219BC-8137-4C64-A658-937FCBB5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46058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64E02-970F-4B90-9ED4-9A2A75FE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SHACL: กฎตรวจโครงสร้างกราฟนิยาม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208B7-0BC1-45E7-B240-DEC80B31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Shapes Constraint Language เป็นมาตรฐาน W3C สำหรับตรวจกราฟ 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1CC11-1709-4372-842F-67859C0A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52387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Ontology บอกความสัมพันธ์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invoice count ใช้ตาราง orders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31B47-72A1-4440-9C95-5AF2B3FF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52387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SHACL บอกเงื่อนไขที่ต้องมี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metric ต้องมีตารางต้นทาง 1 ตาราง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F8F8F-8849-4093-B44D-BEE9397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6191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6E1A3-FE74-4C8F-8C8C-737D34E9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sh:property [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  sh:path ci:sourceTable ;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  sh:class ci:Table ;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  sh:minCount 1 ;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  sh:maxCount 1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]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EB424-C919-4669-9511-63B3005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02B46"/>
                </a:solidFill>
              </a:defRPr>
            </a:defPPr>
            <a:lvl1pPr>
              <a:defRPr sz="2175" b="1">
                <a:solidFill>
                  <a:srgbClr val="102B46"/>
                </a:solidFill>
              </a:defRPr>
            </a:lvl1pPr>
            <a:lvl2pPr>
              <a:defRPr sz="2175" b="1">
                <a:solidFill>
                  <a:srgbClr val="102B46"/>
                </a:solidFill>
              </a:defRPr>
            </a:lvl2pPr>
            <a:lvl3pPr>
              <a:defRPr sz="2175" b="1">
                <a:solidFill>
                  <a:srgbClr val="102B46"/>
                </a:solidFill>
              </a:defRPr>
            </a:lvl3pPr>
            <a:lvl4pPr>
              <a:defRPr sz="2175" b="1">
                <a:solidFill>
                  <a:srgbClr val="102B46"/>
                </a:solidFill>
              </a:defRPr>
            </a:lvl4pPr>
            <a:lvl5pPr>
              <a:defRPr sz="2175" b="1">
                <a:solidFill>
                  <a:srgbClr val="102B46"/>
                </a:solidFill>
              </a:defRPr>
            </a:lvl5pPr>
            <a:lvl6pPr>
              <a:defRPr sz="2175" b="1">
                <a:solidFill>
                  <a:srgbClr val="102B46"/>
                </a:solidFill>
              </a:defRPr>
            </a:lvl6pPr>
            <a:lvl7pPr>
              <a:defRPr sz="2175" b="1">
                <a:solidFill>
                  <a:srgbClr val="102B46"/>
                </a:solidFill>
              </a:defRPr>
            </a:lvl7pPr>
            <a:lvl8pPr>
              <a:defRPr sz="2175" b="1">
                <a:solidFill>
                  <a:srgbClr val="102B46"/>
                </a:solidFill>
              </a:defRPr>
            </a:lvl8pPr>
            <a:lvl9pPr>
              <a:defRPr sz="217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B46"/>
                </a:solidFill>
              </a:defRPr>
            </a:pPr>
            <a:r>
              <a:rPr sz="2175" b="1">
                <a:solidFill>
                  <a:srgbClr val="102B46"/>
                </a:solidFill>
              </a:rPr>
              <a:t>อ่านโค้ดนี้ว่า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FA34A-3E74-4EB1-B6A9-6F687068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67100"/>
            <a:ext cx="4381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ต้องมี sourceTable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ค่าต้องเป็นสิ่งที่ชนิด Table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ต้องมีอย่างน้อย 1 ค่า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และมีได้ไม่เกิน 1 ค่า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2B7FE-735C-460D-8BBF-ECAE65AF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006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ตัวอย่าง: มี orders หนึ่งตาราง = ผ่าน • ไม่มีตารางหรือมีสองตาราง = ไม่ผ่าน</a:t>
            </a:r>
          </a:p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สูตรต้องเป็นข้อความ แต่ SHACL ไม่ได้พิสูจน์ว่าสูตรคำนวณถูก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E203A-D0CB-40C0-AD86-578B238C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150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02B46"/>
                </a:solidFill>
              </a:defRPr>
            </a:defPPr>
            <a:lvl1pPr>
              <a:defRPr sz="1575" b="0">
                <a:solidFill>
                  <a:srgbClr val="102B46"/>
                </a:solidFill>
              </a:defRPr>
            </a:lvl1pPr>
            <a:lvl2pPr>
              <a:defRPr sz="1575" b="0">
                <a:solidFill>
                  <a:srgbClr val="102B46"/>
                </a:solidFill>
              </a:defRPr>
            </a:lvl2pPr>
            <a:lvl3pPr>
              <a:defRPr sz="1575" b="0">
                <a:solidFill>
                  <a:srgbClr val="102B46"/>
                </a:solidFill>
              </a:defRPr>
            </a:lvl3pPr>
            <a:lvl4pPr>
              <a:defRPr sz="1575" b="0">
                <a:solidFill>
                  <a:srgbClr val="102B46"/>
                </a:solidFill>
              </a:defRPr>
            </a:lvl4pPr>
            <a:lvl5pPr>
              <a:defRPr sz="1575" b="0">
                <a:solidFill>
                  <a:srgbClr val="102B46"/>
                </a:solidFill>
              </a:defRPr>
            </a:lvl5pPr>
            <a:lvl6pPr>
              <a:defRPr sz="1575" b="0">
                <a:solidFill>
                  <a:srgbClr val="102B46"/>
                </a:solidFill>
              </a:defRPr>
            </a:lvl6pPr>
            <a:lvl7pPr>
              <a:defRPr sz="1575" b="0">
                <a:solidFill>
                  <a:srgbClr val="102B46"/>
                </a:solidFill>
              </a:defRPr>
            </a:lvl7pPr>
            <a:lvl8pPr>
              <a:defRPr sz="1575" b="0">
                <a:solidFill>
                  <a:srgbClr val="102B46"/>
                </a:solidFill>
              </a:defRPr>
            </a:lvl8pPr>
            <a:lvl9pPr>
              <a:defRPr sz="15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โปรเจกต์ใช้ pySHACL ตรวจกราฟ และมี Python ตรวจ grain ให้ตรงกับตารางเพิ่มอีกขั้น</a:t>
            </a:r>
          </a:p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SHACL ไม่ได้ตรวจแถว Parquet หรือรับรองความถูกต้องของคำตอบ 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E4EBC-BB44-4CF4-8D85-D96DCBAE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947257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E3C6A-4345-4629-AF28-40468C8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 engineering: เลือกสิ่งที่โมเดลเห็น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006CD-F192-4A55-A6CD-53B52B6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รักษาหลักฐานที่เลือกไว้ และลดสิ่งที่สะสมระหว่างการแก้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9FAE5-7F51-4C72-8405-FE71947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26D6-4E6C-41F1-9D11-DBBE4CE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Inputs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คำถาม + evidence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optional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BCABD-41CC-4F07-A7D0-F12D8E0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D4B91-768B-4510-AF50-6AA86E7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05000"/>
            <a:ext cx="37623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Context curator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 background ที่ระบุว่าไม่จำเป็น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รวมหลักฐานซ้ำ ตรวจ ID ขัดแย้ง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3D97D-D910-4C46-A64F-4F88A42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F935-E909-4F51-BDDB-AE0499A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05000"/>
            <a:ext cx="28098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Model input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หลักฐานเดิมครบ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สถานะซ่อมล่าสุด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639AC-4466-4443-97C4-E483010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028700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Repair memory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คำถาม/หลักฐานเดิม + SQL/citations ล่าสุด + error บรรทัดแรก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ไม่สะสมคำอธิบายเก่าหรือ Spark plan 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5F35-B804-4F2C-87C7-240D90D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Input budget ประมาณ 6,000 tokens ใน window 8,192 • เก็บ token usage จริงหลังเรียก Ollama</a:t>
            </a:r>
          </a:p>
        </p:txBody>
      </p:sp>
    </p:spTree>
    <p:extLst>
      <p:ext uri="{BB962C8B-B14F-4D97-AF65-F5344CB8AC3E}">
        <p14:creationId xmlns:p14="http://schemas.microsoft.com/office/powerpoint/2010/main" val="11956454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F5E27-8A43-4A33-BF56-99D7AC1B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Context: เก็บโจทย์เดิมและสถานะซ่อมล่าสุด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E6FE3-8804-4EAB-B005-456C36E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ย่อแนวทางของ repair_messages โดยไม่แสดงการประกอบข้อความทั้งหมด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2FE02-503F-432A-8FAC-41B29A9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C67DA-30D7-427B-AA5D-5360B5B9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Keep original instructions + task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base = original[:2]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Keep only the latest repair state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state = {"sql": latest_sql,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     "error": latest_error}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Do not append every old attempt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FFCF5-45A1-4FBA-84E4-C0F9624D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0FDFD-5D0B-472B-AB15-B860A2A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เก็บคำถามและเอกสารเดิมไว้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รอบแก้ SQL ใช้ข้อผิดพลาดล่าสุด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ไม่พ่วงคำอธิบายเก่าทั้งหมด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BD0D3-A3F7-4EEE-BBB2-1A83E38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BE4E9-88A9-4A0D-A5C0-5828670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ควบคุมการสะสมบริบทในลูป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ข้อความประกอบที่ระบุว่าไม่จำเป็น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ตัดออกได้โดยไม่ตัดนิยามหลัก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A8B28-3FD5-457F-B804-E9B73AB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หลักฐานที่วัดแยกต่างหาก: ตัดข้อความรบกวนสำเร็จ 12/12; เก็บทั้งหมด 10/12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อีกสองข้อหยุดเพราะงบ input • ไม่ใช่การพิสูจน์ว่าโมเดลคิดถูกขึ้นหรือแก้ context rot ทั่วไป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480A1-779F-4C8A-ABAE-1ABF456D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27314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BFC1B-D0BF-4E0C-9C4E-3844A0F3E46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781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D40B2-F627-46FD-8C7A-01F426D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จุดตรวจ SQL และผลลัพธ์ด้วย OPA/Rego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D49B4-BE26-4240-A01A-0B351C5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OPA ตัดสินอนุญาตหรือปฏิเสธ ส่วน Python บังคับใช้คำตัดสิน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3AAD1-4CF6-4246-9E1B-A8F5DE9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57130-C870-491D-8005-5583D1F8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ก่อนเรียก Spark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อ่านข้อมูลเท่านั้น / 3 ตาราง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ไม่เกิน 3 รอบ / จำกัด 200 แถว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D641E-690E-4D25-BAAE-41B923A5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หลังรัน SQL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รูปแบบตารางและจำนวนแถว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ค่าตัวเลข / ID / สัดส่วน / กลุ่มซ้ำ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95A7D-38F6-4192-9A91-0BCD7DF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009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ตรวจความหมายเพิ่มก่อนรัน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จำนวน invoice ต้องใช้ orders • ช่วงเวลาตรงคำถาม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วันสรุปลูกค้าและประเภท sale / return / cancellation ต้องตรง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267B3-0689-4CEA-9798-975D0A9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Rego = ภาษาที่ใช้เขียนกฎให้ OPA • OPA ติดต่อไม่ได้ให้หยุด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Post-tool checks ตรวจเงื่อนไขที่กำหนด ส่วนความถูกต้องทั้งคำตอบวัดเทียบผลอ้างอิง</a:t>
            </a:r>
          </a:p>
        </p:txBody>
      </p:sp>
    </p:spTree>
    <p:extLst>
      <p:ext uri="{BB962C8B-B14F-4D97-AF65-F5344CB8AC3E}">
        <p14:creationId xmlns:p14="http://schemas.microsoft.com/office/powerpoint/2010/main" val="14135586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FC163-12C9-4BB2-B431-49D052BC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ตัวอย่างการตรวจความหมาย: นับ invoice ให้ถูกตาราง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C1ADF-3F38-4F1B-923C-978CF89C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คำถามเดียวกัน แต่ใช้ตารางต่างกันจะนับคนละสิ่ง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4656B-2A56-40DA-822C-5CBC961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E7164-BAC2-4AAD-B729-0DABD28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-- Wrong grain: product lines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SELECT COUNT(*) FROM sales_lines;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-- Invoice grain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SELECT COUNT(*) FROM orders;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3FE39-61B9-47D6-A3E5-C4205714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D118B-3865-4B29-A865-B39C9D9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sales_lines นับรายการสินค้า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orders นับใบสั่งซื้อ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ตัวตรวจปฏิเสธการนับผิด grain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49348-61F2-4A8F-883D-0B36735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F0FD3-9D02-44C3-9453-183904F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ตรวจผิดตารางก่อนใช้ Spark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และให้ feedback เพื่อแก้ SQL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แทนการส่งตัวเลขผิดชนิด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29C15-2AB0-44A1-A6CC-CD657C2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โค้ดแสดงเฉพาะ grain เพื่ออธิบาย • คำถามรายเดือนยังต้องมี WHERE ตามช่วงเวลา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กรณี CTE ที่เคยไม่ผ่าน แก้แล้วผ่านในโจทย์เดิม 80/80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B8EDF-96D4-462F-9A37-D4D8700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603719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3EA35-0FD5-4DD4-92BE-50C42CB8FF72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9310688" y="38766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14E0-32F6-4520-A734-AC9720AA3640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5238750" y="3286125"/>
            <a:ext cx="176212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1582D-0A54-4595-A1E2-1C1E135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Agent loop: ตรวจ แก้ และตัดสินใจจบงาน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E3C1-F657-470E-AA21-DBD8D15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วงรอบมีขอบเขต สูงสุด 3 attempts ต่อคำถาม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1CD3-F273-4E3B-8C6C-4DB7BCF1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877C-A33B-4540-AA7C-A0058A5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  Retrieve + policy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9168-F84B-4B86-8AB5-8F9CC96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33550"/>
            <a:ext cx="461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ข้อมูลไม่พอ / ใช้ไม่ได้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 clarification และจบ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AE3B-6988-4D1F-9DBF-D6ACC54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DC5C-A0E2-4C47-955B-3A43003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D1B64-5662-4185-ACF1-1C5D1D0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2  Generate SQL + citations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0BFA-79C1-484F-B107-4C0B00B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43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4E554-CE07-4565-A0CC-F5701DB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  AST / contracts / OPA /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02CD-3897-41A3-9293-F5E3EE7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D1A3D-7E9B-414D-943F-F6E3ACE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4619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  Spark + result checks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ผ่าน: ส่งตารางและ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5BFA-C94E-4D2B-92C0-5941D44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619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ไม่ผ่าน: ส่ง SQL + error ล่าสุดกลับไปแก้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ครบ 3 attempts หรือเกิน budget: หยุดพร้อมสถานะ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23EA9-D04B-490D-B22B-C39BA74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กลับไปขั้น 2 เมื่อแก้ได้ • ใช้โมเดลเดิม review • ไม่มีการวางแผน sub-agent หรือเลือก tools แบบอิสระ</a:t>
            </a:r>
          </a:p>
        </p:txBody>
      </p:sp>
    </p:spTree>
    <p:extLst>
      <p:ext uri="{BB962C8B-B14F-4D97-AF65-F5344CB8AC3E}">
        <p14:creationId xmlns:p14="http://schemas.microsoft.com/office/powerpoint/2010/main" val="19284878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5EC45-C14C-46B6-A19C-DE6ED98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OPA และการตรวจผล: ปฏิเสธพร้อมเหตุผล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071C4-2129-4D60-B6D2-58F956A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Python ตรวจข้อเท็จจริงและผลลัพธ์ ส่วน Rego ตัดสินนโยบาย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1F15D-179A-4774-9AA0-45F76C7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63785-601D-473A-A9C8-8CF5E79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# Rego policy excerpt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deny contains "write_forbidden" if {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    input.read_only != true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# Post-tool example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COUNT result = -1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=&gt; count_must_be_nonnegative_integer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61EE6-924A-47AA-97DD-DF367780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5A26C-4FCF-4EC9-B8C9-901461A2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คำสั่งเขียนข้อมูลต้องไม่ผ่าน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COUNT ติดลบต้องไม่ส่งให้ผู้ใช้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เมื่อผิดกฎให้แก้หรือหยุด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C2834-1FDF-49DA-A6F9-2C87C10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4F958-81D6-4885-A618-2AA7C9E9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บังคับกฎที่ตรวจสอบได้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OPA ติดต่อไม่ได้ก็หยุด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มีเหตุผลอยู่ใน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8CE21-F247-4B81-BB90-3713C8EE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3 OPA integration tests ผ่านจริง รวมการปฏิเสธผลผิดกฎและกรณีติดต่อ OPA ไม่ได้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ส่วนตัวอย่างผล COUNT เป็นรูปแบบอธิบาย ไม่ใช่ Python ที่รันได้ทั้งก้อน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DD26F-AA96-4A27-8663-64B56D6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559991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EB6CE-504F-43E9-9FF7-8F7A26E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Web application: เห็นคำตอบพร้อมเส้นทางตรวจสอบ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FF409-0F80-4C57-9D98-A444FC6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Local web app ที่ localhost:8090 เรียก agent และ Spark 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BAFCA-0AF7-4525-99B1-4983E3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C183-11F6-43AB-BA12-E066921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1  ระบุคำถามและเวลา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เดือน ต.ค. 2011 มี invoice กี่ใบ?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A045-631B-42AB-AFFC-C340A023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365C7-ED6E-4DC9-ADED-0A3A19E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2  สถานะการทำงาน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กำลังประมวลผล / ถามกลับ / error / สำเร็จ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A942F-15B9-400B-A0C1-69E08F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4DB9-0FF1-4350-B408-4B4D08F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6286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>
                <a:solidFill>
                  <a:srgbClr val="102B46"/>
                </a:solidFill>
              </a:defRPr>
            </a:defPPr>
            <a:lvl1pPr algn="ctr">
              <a:defRPr sz="2325">
                <a:solidFill>
                  <a:srgbClr val="102B46"/>
                </a:solidFill>
              </a:defRPr>
            </a:lvl1pPr>
            <a:lvl2pPr algn="ctr">
              <a:defRPr sz="2325">
                <a:solidFill>
                  <a:srgbClr val="102B46"/>
                </a:solidFill>
              </a:defRPr>
            </a:lvl2pPr>
            <a:lvl3pPr algn="ctr">
              <a:defRPr sz="2325">
                <a:solidFill>
                  <a:srgbClr val="102B46"/>
                </a:solidFill>
              </a:defRPr>
            </a:lvl3pPr>
            <a:lvl4pPr algn="ctr">
              <a:defRPr sz="2325">
                <a:solidFill>
                  <a:srgbClr val="102B46"/>
                </a:solidFill>
              </a:defRPr>
            </a:lvl4pPr>
            <a:lvl5pPr algn="ctr">
              <a:defRPr sz="2325">
                <a:solidFill>
                  <a:srgbClr val="102B46"/>
                </a:solidFill>
              </a:defRPr>
            </a:lvl5pPr>
            <a:lvl6pPr algn="ctr">
              <a:defRPr sz="2325">
                <a:solidFill>
                  <a:srgbClr val="102B46"/>
                </a:solidFill>
              </a:defRPr>
            </a:lvl6pPr>
            <a:lvl7pPr algn="ctr">
              <a:defRPr sz="2325">
                <a:solidFill>
                  <a:srgbClr val="102B46"/>
                </a:solidFill>
              </a:defRPr>
            </a:lvl7pPr>
            <a:lvl8pPr algn="ctr">
              <a:defRPr sz="2325">
                <a:solidFill>
                  <a:srgbClr val="102B46"/>
                </a:solidFill>
              </a:defRPr>
            </a:lvl8pPr>
            <a:lvl9pPr algn="ctr">
              <a:defRPr sz="23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3  ผลทดสอบผ่าน HTTP จริง</a:t>
            </a:r>
          </a:p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invoice count = 2,040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DE657-029B-4D2C-B061-BB7601C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4381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เปิดตรวจต่อได้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SQL / evidence / trace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context plan / token 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A4FDF-5C97-4161-8178-63A26AB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หน้านี้เป็นแผนภาพการใช้งาน ไม่ใช่ภาพหน้าจอ • แต่ละคำถามแยก context และรับทีละคำถาม</a:t>
            </a:r>
          </a:p>
        </p:txBody>
      </p:sp>
    </p:spTree>
    <p:extLst>
      <p:ext uri="{BB962C8B-B14F-4D97-AF65-F5344CB8AC3E}">
        <p14:creationId xmlns:p14="http://schemas.microsoft.com/office/powerpoint/2010/main" val="13411726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56796-D35D-4E8A-9ACD-37499657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Web app: คำถามเดียว ตรวจคำตอบต่อได้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1C81-0E0C-440E-977D-796F6F62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 request/response จากการทดสอบ HTTP ปัจจุบัน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EA192-C6E9-488D-A8AA-A9B52C9A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12673-E5B4-4D50-8FAD-CD6C2427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POST /api/query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Origin: http://localhost:8090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Content-Type: application/json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{"question": "How many completed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invoices in October 2011?"}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Result: invoice_count = 2040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D3BE0-B66B-4F3E-965F-BBFC5C67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7DEFB-8C07-4131-8702-26DAC56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เว็บส่งคำถามให้ agent ตัวเดียว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ผลคืนเป็นตารางพร้อม SQL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เอกสารอ้างอิง และ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175BB-44B0-452F-A8DF-8DCCE82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2ED0D-277F-4A29-B2C2-4DF2CAF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ผู้ใช้ตรวจที่มาของตัวเลขได้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ผ่านหน้าเดียว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ยังไม่ได้วัด usability กับผู้ใช้ใหม่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F94A7-7F63-46F9-81EE-75B39BE0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ทดสอบ HTTP + Qwen + ontology + OPA + Spark/HDFS จริง ได้ 2,040 invoices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JSON ในภาพตัดบรรทัดเพื่ออ่าน ไม่ใช่ raw request สำหรับคัดลอกทั้งก้อน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7ADCC-E038-4E13-8CC7-B1D2B5F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936101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0D6F4-B7A5-44DA-8D5B-FB7B62F0B86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2062-8688-4693-9D46-21ED5EF52E1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095625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02554-AC89-405E-81C2-AF23AE7BBF3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9FF7F-6CBB-46BA-8EE2-37A13721A1C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095625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40F0-8B36-45A5-839C-7E8A4B4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การวัดผล: มีคำตอบอ้างอิงก่อนให้ Agent ทำ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1C67-9C17-46CD-932D-4DE5A7C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ผู้พัฒนาเตรียม SQL อ้างอิงและเอกสารที่ควรค้นพบ โดยไม่ส่งเฉลยให้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2EB17-FA57-44F8-9687-178F1497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275F-871D-4650-A7C9-10B2AE1E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คำถามทดสอบเดียวกัน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8E2AC-CAB4-4794-82A8-1E3706F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Agent สร้าง SQL เอง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35234-21C9-40DB-8C29-122A35B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Gold SQL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อ้างอิงที่ผู้พัฒนาเขียน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4F444-FAA6-4D87-8B58-8B2BC9B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9535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เปรียบเทียบตารางคำตอบจริงกับตารางเฉลย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คำสั่ง SQL เขียนต่างกันได้ ถ้าผลตรงกันตามเกณฑ์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086A5-2BCA-44E6-9B49-97F64DF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Expected evidence = IDs ของหัวข้อความรู้ที่โจทย์นั้นควรค้นเจอ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Guard ป้องกันคำสั่งเสี่ยงก่อนรัน • การเทียบเฉลยเป็นอีกขั้นหนึ่งที่ตรวจว่าตอบถูกหรือไม่</a:t>
            </a:r>
          </a:p>
        </p:txBody>
      </p:sp>
    </p:spTree>
    <p:extLst>
      <p:ext uri="{BB962C8B-B14F-4D97-AF65-F5344CB8AC3E}">
        <p14:creationId xmlns:p14="http://schemas.microsoft.com/office/powerpoint/2010/main" val="13091583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D46F5-FD20-494B-9C4D-F63E1A2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Evaluation: เทียบผลลัพธ์กับเฉลย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BE65B-DE58-42C2-A1CE-AF796A4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ตัวอย่างย่อสำหรับโจทย์ที่ต้องคืนตาราง ไม่รวมแขนการถามกลับ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F80B9-5015-4288-A1AA-56D58BC9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7BD70-A1EF-4D2D-879F-21CA4BED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correct = (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result["status"] == "executed"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and same_result(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    result["result"], gold,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    ordered=case["ordered"]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)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00FF9-EA9A-4C61-831D-07A5541A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90E5D-E324-4E58-83AE-77179CE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Agent เขียน SQL เอง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ผู้ประเมินรัน SQL อ้างอิงแยก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แล้วเทียบแถวคำตอบจริง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7BAAA-7AEA-4C47-B542-2371CED8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3ACE-D871-4D71-AD14-ABD4EDC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SQL เขียนต่างกันแต่ผลตรงได้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ข้อผิดพลาดและการหยุดนับว่าผิด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ตรวจของเดิมซ้ำหลังแก้ระบบ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60044-C3CD-41A8-88FD-0FFD983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ชุดใหม่ 60/60 และโจทย์เดิม 80/80 • gold ไม่ถูกส่งให้ Agent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เป็นโจทย์ผู้พัฒนาสร้างในกลุ่มงานที่รองรับ ไม่ใช่ external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52AE8-1AEE-4F36-B561-AEB553DF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197195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16883-155A-492B-A0B9-9E57B28E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ผลทดสอบระบบปัจจุบันด้วยคำถามใหม่ 60 ข้อ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3641-FBD6-486A-82E8-997201B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ล็อกโค้ด โมเดล ชุดคำถาม และเกณฑ์ก่อนรันจริง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67718-A779-49AF-974D-78534B7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D6546-BA75-4E97-8A7D-2440673335E6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333625"/>
                <a:gridCol w="46005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สิ่งที่วัด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ผลจริง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หมายความว่าอย่างไร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คำถามใหม่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60/60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52 คำตอบ SQL + 8 ถามกลับ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โจทย์เดิมหลังแก้ระบบ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80/80 ถูก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ตรวจว่าการแก้ไม่ทำของเดิมพัง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ค้นเอกสารที่ควรเจอใน 6 อันดับแรก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Recall@6 ในชุดใหม่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เวลาตอบ p95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4.87 วินาที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95% ของชุดใหม่ใช้เวลาไม่เกินค่านี้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9B91A-862D-4BC5-B221-2F2B0F1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53 unit tests และ 3 OPA integration tests ผ่านจริง • โค้ด/โมเดลก่อนและหลังวัดตรงกัน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โจทย์ผู้พัฒนาสร้างในกลุ่มงานที่รองรับ • เวลาไม่รวมเปิด Spark และรัน gold ก่อนคำตอบทดสอบ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4891208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CE918-2F76-4994-95CF-48A3477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การทดลอง Context: ข้อความที่ส่งเข้าโมเดล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E53CB-E125-4EC9-BFE1-99B75EF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Context = คำถาม เอกสารอ้างอิง และสถานะล่าสุดที่โมเดลเห็น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0CD4-3259-4B5F-8F41-97C9D2D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585B0-8DDB-4BE8-B487-F74D1E2A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เอกสารที่จำเป็น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นิยาม invoice + ตาราง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FCE5C-96B1-4E7C-A7FD-BCDD859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ข้อความประกอบที่ไม่เกี่ยวกับงาน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บันทึกอากาศและเฟอร์นิเจอร์ 3,000 ตัวอักษร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2D852-CA8D-496D-8842-D353EE2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ไม่มีข้อความรบกวน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 + เอกสารจำเป็น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846B3-13F7-495F-9C2C-C348889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ตัดข้อความรบกวน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ตัดเฉพาะข้อความประกอบ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31C46-347F-4735-8F00-6513091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เก็บข้อความทั้งหมด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+ ข้อความประกอบ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02693-1780-4C59-B3E2-75D552F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12 คำถาม × 3 เงื่อนไข = 36 รอบทดลอง • ทุกเงื่อนไขใช้ RAG และเก็บเอกสารที่จำเป็นครบ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Web app ปกติไม่ได้ส่งบันทึกประกอบเหล่านี้ การเติมข้อความทำเพื่อทดสอบ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5121885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059E-70AE-4296-8B21-0A6E0C3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ผลทดลอง Context: 12 คำถามในแต่ละเงื่อนไข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29826-A660-4671-8D53-EE76E4C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ทุกข้อเทียบตารางคำตอบกับเฉลยจริง การหยุดหรือล้มเหลวนับว่าไม่ถูก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3ACEE-BFAE-4E6D-A8D3-6E5DB8F4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70D91-5B29-462E-A613-2D31E26D3B6D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905000"/>
                <a:gridCol w="2133600"/>
                <a:gridCol w="213360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สิ่งที่ส่งเข้าโมเดล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ตอบถูก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หยุดก่อนโมเดล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หยุดระหว่างซ่อม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ไม่มีข้อความรบกวน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ตัดเฉพาะข้อความรบกวน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เก็บข้อความประกอบทั้งหมด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B8047-D65B-49B6-8FC5-EFF00D2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เอกสารจำเป็นเก็บครบ 12/12 ทุกเงื่อนไข • ไม่มีคำตอบที่ส่งแล้วผิดใน 36 รอบนี้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สองข้อที่ไม่สำเร็จหยุดเพราะงบ input ของโปรแกรม จึงยังไม่ใช่หลักฐานว่าโมเดลเกิด context rot</a:t>
            </a:r>
          </a:p>
        </p:txBody>
      </p:sp>
    </p:spTree>
    <p:extLst>
      <p:ext uri="{BB962C8B-B14F-4D97-AF65-F5344CB8AC3E}">
        <p14:creationId xmlns:p14="http://schemas.microsoft.com/office/powerpoint/2010/main" val="388111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BE90E-8481-4A7A-8DB9-8C32D98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Context: ลดข้อความส่วนเกินได้ โดยเก็บนิยามที่ต้องใช้ครบ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6A781-7A5E-4FBE-9F45-841F4C1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Tokens คือหน่วยข้อความที่โมเดลนับ ตัวเลขด้านล่างเป็น input ที่ Ollama รายงานจริง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85CBB-D614-4224-B180-BE606A2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0E7BE-6903-475C-A6BC-53BEE80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ไม่มีข้อความรบกวน / ตัดข้อความรบกวน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2,017–2,470 tokens ต่อการเรียก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ตอบถูก 12/12 ในแต่ละเงื่อนไข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E860-C0AA-4C87-9C8C-13727E70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เก็บข้อความรบกวนทั้งหมด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2,503–2,863 tokens ต่อการเรียกที่เกิดขึ้น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ตอบถูก 10/12 อีก 2 ข้อหยุดเพราะงบของโปรแกรม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B02FB-AE38-49A6-B51D-7D71C6D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B46"/>
                </a:solidFill>
              </a:defRPr>
            </a:defPPr>
            <a:lvl1pPr>
              <a:defRPr sz="2025" b="1">
                <a:solidFill>
                  <a:srgbClr val="102B46"/>
                </a:solidFill>
              </a:defRPr>
            </a:lvl1pPr>
            <a:lvl2pPr>
              <a:defRPr sz="2025" b="1">
                <a:solidFill>
                  <a:srgbClr val="102B46"/>
                </a:solidFill>
              </a:defRPr>
            </a:lvl2pPr>
            <a:lvl3pPr>
              <a:defRPr sz="2025" b="1">
                <a:solidFill>
                  <a:srgbClr val="102B46"/>
                </a:solidFill>
              </a:defRPr>
            </a:lvl3pPr>
            <a:lvl4pPr>
              <a:defRPr sz="2025" b="1">
                <a:solidFill>
                  <a:srgbClr val="102B46"/>
                </a:solidFill>
              </a:defRPr>
            </a:lvl4pPr>
            <a:lvl5pPr>
              <a:defRPr sz="2025" b="1">
                <a:solidFill>
                  <a:srgbClr val="102B46"/>
                </a:solidFill>
              </a:defRPr>
            </a:lvl5pPr>
            <a:lvl6pPr>
              <a:defRPr sz="2025" b="1">
                <a:solidFill>
                  <a:srgbClr val="102B46"/>
                </a:solidFill>
              </a:defRPr>
            </a:lvl6pPr>
            <a:lvl7pPr>
              <a:defRPr sz="2025" b="1">
                <a:solidFill>
                  <a:srgbClr val="102B46"/>
                </a:solidFill>
              </a:defRPr>
            </a:lvl7pPr>
            <a:lvl8pPr>
              <a:defRPr sz="2025" b="1">
                <a:solidFill>
                  <a:srgbClr val="102B46"/>
                </a:solidFill>
              </a:defRPr>
            </a:lvl8pPr>
            <a:lvl9pPr>
              <a:defRPr sz="202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46"/>
                </a:solidFill>
              </a:defRPr>
            </a:pPr>
            <a:r>
              <a:rPr sz="2025" b="1">
                <a:solidFill>
                  <a:srgbClr val="102B46"/>
                </a:solidFill>
              </a:rPr>
              <a:t>สรุปได้: การตัดข้อความประกอบช่วยควบคุม input ในการทดลองนี้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22389-A74A-4F54-8EB2-F518299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Context rot = คุณภาพคำตอบลดลงเมื่อบริบทยาวหรือมีสิ่งรบกวนสะสม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ยังทดสอบไม่ถึง window เต็ม 8,192 tokens หรือ noise ในเอกสารหลัก จึงยังรับรองว่าแก้ได้ทั่วไปไม่ได้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6286682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9D97-71E1-4EDF-B015-76F2E2D2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สิ่งที่พัฒนาแล้วและขอบเขตการใช้งาน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0C26-951C-4D62-811A-6BDCC82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เพิ่มส่วนที่ขาด แล้ววัดกับระบบจริงก่อนสรุปผล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3339D-3383-4D8B-AF43-5980786A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A4CC-6A58-4301-BCD1-F09A628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เพิ่มในระบบ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Domain ontology + SHACL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OPA/Rego ก่อนและหลัง Spark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Semantic checks + ชุดคำถามใหม่ 60 ข้อ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BF09D-AFFD-4A3B-BB95-34FDC4D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ขอบเขตที่ยังต้องบอกผู้ใช้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ทำงานบนเครื่องเดียว ทีละคำถาม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ยังไม่มีระบบบัญชีผู้ใช้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รองรับนิยามและรูปแบบ SQL ที่กำหนด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9A5B-049F-4D71-8568-065E121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02870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Semantic checks = ตรวจว่าคำสั่งใช้ความหมายตรงงาน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เช่น นับ invoice จากตาราง invoice และใช้ช่วงเวลาที่ผู้ใช้ขอ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C3D2A-84AC-4F27-82F6-5135BAC4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 benchmark บอกความสามารถในชุดที่วัด • การรับรองคำถามทุกแบบต้องใช้หลักฐานเพิ่ม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760084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31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2026-10-26T15:16:23.4170000Z</dcterms:created>
  <dcterms:modified xsi:type="dcterms:W3CDTF">2026-10-26T15:16:23.4170000Z</dcterms:modified>
</coreProperties>
</file>